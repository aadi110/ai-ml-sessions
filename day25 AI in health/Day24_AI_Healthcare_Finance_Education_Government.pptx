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023360" cy="402336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21295C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3108960" cy="310896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Healthcare, Finance,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 &amp; Government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 •  Hands-On Exercises  •  Solutions  •  Mini Project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937760"/>
            <a:ext cx="4114800" cy="502920"/>
          </a:xfrm>
          <a:prstGeom prst="roundRect">
            <a:avLst>
              <a:gd name="adj" fmla="val 5090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9377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Google Gemini API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61872" y="1572768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Four Domains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61872" y="1865376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Healthcare, finance, education, government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3500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50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61872" y="2322576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Themes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61872" y="2615184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Bias, transparency, privacy, oversight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09981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99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61872" y="3072384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61872" y="336499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triage assistant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84962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49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61872" y="382219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61872" y="411480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fraud flagging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16002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76872" y="1572768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76872" y="1865376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quiz generator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55080" y="23500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2350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76872" y="2322576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76872" y="2615184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citizen FAQ bot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55080" y="309981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3099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76872" y="3072384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976872" y="336499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use-case prototype + risk brief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55080" y="384962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3849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76872" y="382219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976872" y="411480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understanding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25880" y="1554480"/>
            <a:ext cx="10149840" cy="777240"/>
          </a:xfrm>
          <a:prstGeom prst="roundRect">
            <a:avLst>
              <a:gd name="adj" fmla="val 9412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155448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common AI use cases in healthcare, finance, education, and government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25880" y="2468880"/>
            <a:ext cx="10149840" cy="777240"/>
          </a:xfrm>
          <a:prstGeom prst="roundRect">
            <a:avLst>
              <a:gd name="adj" fmla="val 9412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554480" y="246888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risks (bias, privacy, accuracy, regulation) specific to each domain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325880" y="3383280"/>
            <a:ext cx="10149840" cy="777240"/>
          </a:xfrm>
          <a:prstGeom prst="roundRect">
            <a:avLst>
              <a:gd name="adj" fmla="val 9412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554480" y="338328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small guided demos: triage assistant, fraud flagging, quiz generator, FAQ bot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25880" y="4297680"/>
            <a:ext cx="10149840" cy="777240"/>
          </a:xfrm>
          <a:prstGeom prst="roundRect">
            <a:avLst>
              <a:gd name="adj" fmla="val 9412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554480" y="429768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an AI system for fairness, transparency, and appropriate human oversight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257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325880" y="5212080"/>
            <a:ext cx="10149840" cy="777240"/>
          </a:xfrm>
          <a:prstGeom prst="roundRect">
            <a:avLst>
              <a:gd name="adj" fmla="val 9412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554480" y="521208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 mini project applying AI to a domain problem with an ethics/risk write-up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Four Domains?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35640" cy="1463040"/>
          </a:xfrm>
          <a:prstGeom prst="roundRect">
            <a:avLst>
              <a:gd name="adj" fmla="val 5000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37360"/>
            <a:ext cx="10287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Healthcare, finance, education, and government are high-stakes, highly regulated domains where AI decisions affect real people's health, money, learning, and rights.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1228" y="352044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18488" y="38404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1618488" y="3840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1228" y="4663440"/>
            <a:ext cx="2514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3451860" y="352044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38404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3840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51860" y="4663440"/>
            <a:ext cx="2514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222492" y="352044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59752" y="384048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7159752" y="3840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22492" y="4663440"/>
            <a:ext cx="2514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993124" y="352044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930384" y="38404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9930384" y="3840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93124" y="4663440"/>
            <a:ext cx="2514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40080" y="5623560"/>
            <a:ext cx="10835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good lens for understanding both AI's potential and its responsibilities.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1 OF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Healthcare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5349240" cy="594360"/>
          </a:xfrm>
          <a:prstGeom prst="roundRect">
            <a:avLst>
              <a:gd name="adj" fmla="val 12308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5349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checkers / triage assistants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image analysis (radiology, pathology)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documentation &amp; summarization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discovery &amp; treatment recommendation support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FCEBEA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600200"/>
            <a:ext cx="5349240" cy="594360"/>
          </a:xfrm>
          <a:prstGeom prst="roundRect">
            <a:avLst>
              <a:gd name="adj" fmla="val 12308"/>
            </a:avLst>
          </a:prstGeom>
          <a:solidFill>
            <a:srgbClr val="B3261E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600200"/>
            <a:ext cx="5349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46888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Misdiagnosis or false reassurance from an inaccurate model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in training data (underrepresented patient groups)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privacy (HIPAA / data protection laws)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should assist, not replace, clinical judgment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2 OF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Finance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5349240" cy="594360"/>
          </a:xfrm>
          <a:prstGeom prst="roundRect">
            <a:avLst>
              <a:gd name="adj" fmla="val 12308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5349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and anomaly detection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 and loan approval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trading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chatbots, robo-advisors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FCEBEA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600200"/>
            <a:ext cx="5349240" cy="594360"/>
          </a:xfrm>
          <a:prstGeom prst="roundRect">
            <a:avLst>
              <a:gd name="adj" fmla="val 12308"/>
            </a:avLst>
          </a:prstGeom>
          <a:solidFill>
            <a:srgbClr val="B3261E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600200"/>
            <a:ext cx="5349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46888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Discriminatory lending / credit decisions (fair lending laws)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opacity — hard to explain “why was I denied?”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risk if many firms use similar models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financial data is a high-value target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3 OF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Education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5349240" cy="594360"/>
          </a:xfrm>
          <a:prstGeom prst="roundRect">
            <a:avLst>
              <a:gd name="adj" fmla="val 12308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5349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 &amp; adaptive practice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grading and feedback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Tutoring chatbots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and quiz generation for teachers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FCEBEA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600200"/>
            <a:ext cx="5349240" cy="594360"/>
          </a:xfrm>
          <a:prstGeom prst="roundRect">
            <a:avLst>
              <a:gd name="adj" fmla="val 12308"/>
            </a:avLst>
          </a:prstGeom>
          <a:solidFill>
            <a:srgbClr val="B3261E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600200"/>
            <a:ext cx="5349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46888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Over-reliance reducing critical thinking / academic integrity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in automated grading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 privacy — especially for minors (e.g. FERPA)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Equity: not all students have equal access to AI tools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4 OF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Government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5349240" cy="594360"/>
          </a:xfrm>
          <a:prstGeom prst="roundRect">
            <a:avLst>
              <a:gd name="adj" fmla="val 12308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5349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service chatbots (FAQs, benefits eligibility)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/ waste detection in public programs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resource allocation (highly controversial)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processing and translation for public services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FCEBEA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600200"/>
            <a:ext cx="5349240" cy="594360"/>
          </a:xfrm>
          <a:prstGeom prst="roundRect">
            <a:avLst>
              <a:gd name="adj" fmla="val 12308"/>
            </a:avLst>
          </a:prstGeom>
          <a:solidFill>
            <a:srgbClr val="B3261E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600200"/>
            <a:ext cx="5349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46888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and accountability to the public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affecting already-marginalized groups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process — citizens' right to understand &amp; contest decisions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misuse of surveillance capability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6 — APPLIES TO EVERY DOMAIN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Cross-Cutting Themes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35640" cy="4389120"/>
        </p:xfrm>
        <a:graphic>
          <a:graphicData uri="http://schemas.openxmlformats.org/drawingml/2006/table">
            <a:tbl>
              <a:tblPr/>
              <a:tblGrid>
                <a:gridCol w="2651760"/>
                <a:gridCol w="818388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Check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the training data representative? Who could be systematically disadvantaged?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the system explain its decision to a human affected by it?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data is collected, stored, and for how long? Who can access it?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Oversight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there a human in the loop for high-stakes decisions?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laws apply (HIPAA, fair lending, FERPA, GDPR, sector AI rules)?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— HANDS-ON GUIDED EXERCISE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A: Symptom Triage Assistant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35640" cy="822960"/>
          </a:xfrm>
          <a:prstGeom prst="roundRect">
            <a:avLst>
              <a:gd name="adj" fmla="val 888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54480"/>
            <a:ext cx="10287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simple assistant that triages urgency, and clearly disclaims it is not a diagnosis.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10332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system instruction that defines the assistant's role and limits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Gemini to classify urgency as LOW / MEDIUM / HIGH / EMERGENCY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every response includes a clear medical disclaimer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a mild symptom and a serious/urgent symptom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532120"/>
            <a:ext cx="10835640" cy="868680"/>
          </a:xfrm>
          <a:prstGeom prst="roundRect">
            <a:avLst>
              <a:gd name="adj" fmla="val 8421"/>
            </a:avLst>
          </a:prstGeom>
          <a:solidFill>
            <a:srgbClr val="FFF7E6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5532120"/>
            <a:ext cx="10287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the disclaimer non-negotiable here? What happens if the model is wrong about urgency?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TRIAGE ASSISTANT — GEMINI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A: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35640" cy="4160520"/>
          </a:xfrm>
          <a:prstGeom prst="roundRect">
            <a:avLst>
              <a:gd name="adj" fmla="val 1758"/>
            </a:avLst>
          </a:prstGeom>
          <a:solidFill>
            <a:srgbClr val="1A2B3C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691640"/>
            <a:ext cx="10323576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google import genai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google.genai import types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genai.Client(api_key="YOUR_API_KEY")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TRIAGE_PROMPT = """You are a symptom triage assistant,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a doctor. Classify urgency as LOW / MEDIUM / HIGH /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EMERGENCY, and always include a diagnosis disclaimer."""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triage(symptom_description):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 = client.models.generate_content(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model="gemini-2.5-flash",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contents=symptom_description,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config=types.GenerateContentConfig(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system_instruction=TRIAGE_PROMPT))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response.text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print(triage("Mild headache since this morning."))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5833872"/>
            <a:ext cx="10835640" cy="777240"/>
          </a:xfrm>
          <a:prstGeom prst="roundRect">
            <a:avLst>
              <a:gd name="adj" fmla="val 9412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5833872"/>
            <a:ext cx="10287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system_instruction keeps the assistant in its lane — triage only, never a diagnosis.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— HANDS-ON GUIDED EXERCISE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B: Simple Fraud Flagging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35640" cy="822960"/>
          </a:xfrm>
          <a:prstGeom prst="roundRect">
            <a:avLst>
              <a:gd name="adj" fmla="val 888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54480"/>
            <a:ext cx="10287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rule + statistical approach to flag suspicious transactions.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10332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each user's recent transaction amounts as a history list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average and standard deviation of that history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 new transaction if it's more than 2 standard deviations above average (a z-score check)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a normal transaction and an unusually large one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532120"/>
            <a:ext cx="10835640" cy="868680"/>
          </a:xfrm>
          <a:prstGeom prst="roundRect">
            <a:avLst>
              <a:gd name="adj" fmla="val 8421"/>
            </a:avLst>
          </a:prstGeom>
          <a:solidFill>
            <a:srgbClr val="FFF7E6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5532120"/>
            <a:ext cx="10287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toy version — real fraud systems combine many signals, not just amount. What's the risk of false positives (blocking a legitimate large purchase)?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FRAUD FLAGGING — STATISTICS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B: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35640" cy="4160520"/>
          </a:xfrm>
          <a:prstGeom prst="roundRect">
            <a:avLst>
              <a:gd name="adj" fmla="val 1758"/>
            </a:avLst>
          </a:prstGeom>
          <a:solidFill>
            <a:srgbClr val="1A2B3C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691640"/>
            <a:ext cx="10323576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statistics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transactions = [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{"user": "alice", "amount": 42.50, "location": "NYC"},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{"user": "alice", "amount": 38.10, "location": "NYC"},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{"user": "alice", "amount": 5200.00, "location": "Lagos"},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{"user": "bob", "amount": 15.00, "location": "LA"},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flag_transaction(tx, user_history_amounts):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user_history_amounts: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False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 = statistics.mean(user_history_amounts)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stdev = statistics.pstdev(user_history_amounts) or 1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z_score = (tx["amount"] - avg) / stdev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z_score &gt; 2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 = {"alice": [42.50, 38.10], "bob": []}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5833872"/>
            <a:ext cx="10835640" cy="777240"/>
          </a:xfrm>
          <a:prstGeom prst="roundRect">
            <a:avLst>
              <a:gd name="adj" fmla="val 9412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5833872"/>
            <a:ext cx="10287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needed here — a simple statistical rule is often the right first tool for this kind of anomaly check.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— HANDS-ON GUIDED EXERCISE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C: Quiz Generator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35640" cy="822960"/>
          </a:xfrm>
          <a:prstGeom prst="roundRect">
            <a:avLst>
              <a:gd name="adj" fmla="val 888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54480"/>
            <a:ext cx="10287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short quiz from a topic, then generate feedback for a student's answer.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10332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`generate_quiz(topic, num_questions)` function that asks Gemini for multiple-choice questions in JSON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`grade_short_answer(...)` function that gives constructive feedback, not just right/wrong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quiz on a topic of your choice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grading a partially-correct student answer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532120"/>
            <a:ext cx="10835640" cy="868680"/>
          </a:xfrm>
          <a:prstGeom prst="roundRect">
            <a:avLst>
              <a:gd name="adj" fmla="val 8421"/>
            </a:avLst>
          </a:prstGeom>
          <a:solidFill>
            <a:srgbClr val="FFF7E6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5532120"/>
            <a:ext cx="10287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prevent students from just asking the AI for the answer instead of learning?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GENERATOR — GEMINI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C: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35640" cy="4160520"/>
          </a:xfrm>
          <a:prstGeom prst="roundRect">
            <a:avLst>
              <a:gd name="adj" fmla="val 1758"/>
            </a:avLst>
          </a:prstGeom>
          <a:solidFill>
            <a:srgbClr val="1A2B3C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691640"/>
            <a:ext cx="10323576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google import genai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genai.Client(api_key="YOUR_API_KEY")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generate_quiz(topic, num_questions=3):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prompt = f"""Create {num_questions} multiple-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 questions about {topic}. Include the correct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and a one-sentence explanation for each."""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 = client.models.generate_content(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model="gemini-2.5-flash", contents=prompt)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response.text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grade_short_answer(question, student_answer, correct):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prompt = (f"Q: {question}\nCorrect: {correct}\n"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f"Student: {student_answer}\nGive constructive"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 feedback, not just correct/incorrect.")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 = client.models.generate_content(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model="gemini-2.5-flash", contents=prompt)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response.text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5833872"/>
            <a:ext cx="10835640" cy="777240"/>
          </a:xfrm>
          <a:prstGeom prst="roundRect">
            <a:avLst>
              <a:gd name="adj" fmla="val 9412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5833872"/>
            <a:ext cx="10287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tutor gives feedback and explanation; AI as cheat tool just gives the answer — the prompt design decides which one you built.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— HANDS-ON GUIDED EXERCISE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D: Citizen FAQ Bot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35640" cy="822960"/>
          </a:xfrm>
          <a:prstGeom prst="roundRect">
            <a:avLst>
              <a:gd name="adj" fmla="val 888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54480"/>
            <a:ext cx="10287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RAG pattern from Day 23 to answer citizen questions grounded only in official policy text.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10332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small list of official `policy_documents`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`citizen_bot(question)` function that answers using ONLY that policy text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 it to say “I don't know” and suggest contacting the office directly if not covered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a covered question and one that's out of scope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532120"/>
            <a:ext cx="10835640" cy="868680"/>
          </a:xfrm>
          <a:prstGeom prst="roundRect">
            <a:avLst>
              <a:gd name="adj" fmla="val 8421"/>
            </a:avLst>
          </a:prstGeom>
          <a:solidFill>
            <a:srgbClr val="FFF7E6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5532120"/>
            <a:ext cx="10287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“if it's not covered, say you don't know” especially important for a government-facing bot?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FAQ BOT — GEMINI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D: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35640" cy="4160520"/>
          </a:xfrm>
          <a:prstGeom prst="roundRect">
            <a:avLst>
              <a:gd name="adj" fmla="val 1758"/>
            </a:avLst>
          </a:prstGeom>
          <a:solidFill>
            <a:srgbClr val="1A2B3C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691640"/>
            <a:ext cx="10323576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google import genai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genai.Client(api_key="YOUR_API_KEY")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policy_documents = [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"License renewal needs valid ID + proof of address,"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 costs $45.",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"Property tax appeals: file within 30 days of notice.",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"Business permits: processed in 10-15 business days.",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citizen_bot(question):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context = "\n".join(policy_documents)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prompt = (f"Answer using ONLY this info. If not"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f" covered, say you don't know.\n\n{context}\n\n"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f"Question: {question}")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 = client.models.generate_content(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model="gemini-2.5-flash", contents=prompt)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response.text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5833872"/>
            <a:ext cx="10835640" cy="777240"/>
          </a:xfrm>
          <a:prstGeom prst="roundRect">
            <a:avLst>
              <a:gd name="adj" fmla="val 9412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5833872"/>
            <a:ext cx="10287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+ an explicit ‘I don't know’ fallback keeps a public-facing bot from inventing fees or deadlines.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USE-CASE PROTOTYPE + RISK BRIEF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35640" cy="960120"/>
          </a:xfrm>
          <a:prstGeom prst="roundRect">
            <a:avLst>
              <a:gd name="adj" fmla="val 761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08760"/>
            <a:ext cx="10287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domain, build a small working prototype with Gemini, and write a short risk/ethics brief.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PROJECT STRUCTURE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5212080" cy="3200400"/>
          </a:xfrm>
          <a:prstGeom prst="roundRect">
            <a:avLst>
              <a:gd name="adj" fmla="val 2286"/>
            </a:avLst>
          </a:prstGeom>
          <a:solidFill>
            <a:srgbClr val="1A2B3C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3154680"/>
            <a:ext cx="470001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mini_project/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C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prototype.py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(the working AI demo)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C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sample_data.py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(inputs / knowledge base)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C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risk_brief.md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(1-page ethics write-up)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C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main.py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(CLI entry point)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80760" y="297180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55080" y="3154680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Brief must cover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55080" y="356616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 if the AI is confidently wrong?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is needed, and what privacy considerations apply?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might be unfairly affected, and how would you test for bias?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a human stay in the loop?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STRETCH GOALS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Project Checklist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5623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82880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domain + a specific, named use case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395728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Gemini-powered prototype (CLI or notebook)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99008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962656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explicit safety guardrail (disclaimer, fallback, or handoff)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557016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529584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1-page Risk Brief addressing failure modes, data, bias, and human oversight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123944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096512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with at least one edge-case / tricky input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406640" y="1463040"/>
            <a:ext cx="4114800" cy="4846320"/>
          </a:xfrm>
          <a:prstGeom prst="roundRect">
            <a:avLst>
              <a:gd name="adj" fmla="val 1778"/>
            </a:avLst>
          </a:prstGeom>
          <a:solidFill>
            <a:srgbClr val="F0EAF7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680960" y="169164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680960" y="2148840"/>
            <a:ext cx="3566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confidence/urgency threshold that escalates to a human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AI decision so it can be audited later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 deliberately tricky edge case and document how it behaved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results across two different domains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A PARTNER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Wrap-Up: Check for Understanding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745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828800"/>
            <a:ext cx="4114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one AI use case per domain and one risk specific to 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8745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78040" y="1828800"/>
            <a:ext cx="4114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“I don't know” sometimes the safest possible answer for an AI system?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4069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00200" y="4023360"/>
            <a:ext cx="4114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 between assisting a human decision-maker and replacing them?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AA9B4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4069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78040" y="4023360"/>
            <a:ext cx="4114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regulation or law relevant to AI in one of today's domains.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572000"/>
            <a:ext cx="3291840" cy="3291840"/>
          </a:xfrm>
          <a:prstGeom prst="ellipse">
            <a:avLst/>
          </a:prstGeom>
          <a:solidFill>
            <a:srgbClr val="21295C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work today!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explored AI across four high-stakes domains and built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Gemini-powered prototypes with real safety guardrails.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the safest AI systems know their own limits and hand off to a human when uncertain.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2026-08-21T01:59:24Z</dcterms:created>
  <dcterms:modified xsi:type="dcterms:W3CDTF">2026-08-21T01:59:24Z</dcterms:modified>
</cp:coreProperties>
</file>