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023360" cy="40233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1295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Agents, Chatbots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RAG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•  Hands-On Exercises  •  Solutions  •  Mini Project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5727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019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chatbots &amp; RAG explained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523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chatbot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0098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273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027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chatbot with memory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51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1239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453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RAG pipeline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15727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19019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tool-using agent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24505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27523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support chatbot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30098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0" y="3273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40880" y="36027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25880" y="155448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5544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an AI agent is and how it differs from a plain chatbot / LLM call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5880" y="246888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24688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RAG pattern (retrieval + generation) and why it's used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25880" y="338328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54480" y="33832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rule-based and LLM-powered chatbot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25880" y="429768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54480" y="42976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minimal RAG pipeline: embed → store → retrieve → generate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25880" y="521208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54480" y="52120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into a small agentic RAG chatbot mini project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vs.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goes straight to the LLM → output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or single-turn reasoning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actions taken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Q&amp;A, FAQs, simple support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002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60020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an action, then observes the result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Multi-step: can plan across several turns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call tools — search, APIs, code, databases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research, workflows, task completion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Loop — ReAct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Act: the LLM alternates between thinking and taking action until the task is done.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774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44952" y="2926080"/>
            <a:ext cx="274320" cy="27432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3774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96712" y="2926080"/>
            <a:ext cx="274320" cy="27432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1" name="Shape 9"/>
          <p:cNvSpPr/>
          <p:nvPr/>
        </p:nvSpPr>
        <p:spPr>
          <a:xfrm>
            <a:off x="598932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3774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48472" y="2926080"/>
            <a:ext cx="274320" cy="27432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4" name="Shape 12"/>
          <p:cNvSpPr/>
          <p:nvPr/>
        </p:nvSpPr>
        <p:spPr>
          <a:xfrm>
            <a:off x="864108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23774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Result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0" y="3886200"/>
            <a:ext cx="9144" cy="9144"/>
          </a:xfrm>
          <a:prstGeom prst="bentUpArrow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605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until the agent decides the task is complete, then produces a final answer.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846320"/>
            <a:ext cx="108356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4846320"/>
            <a:ext cx="10287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total cost of 3 items at $12.50 each, plus 8% tax?” → Think (needs math) → Act (call calculator tool) → Observe ($40.50) → Answer.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8562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(Brain)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reasoning and decides what action to take next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745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18562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the agent can call: search, calculator, DB query, API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690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0507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(conversation) and long-term (vector store, files)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690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0507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/ Loop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7091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step-by-step strategy — e.g. ReAct, plan-and-execute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— The Problem It Solves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CEBEA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5349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only knows what it was trained 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private or recent data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hallucinating confident-sounding facts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cite or ground its answers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E7F5EE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920240"/>
            <a:ext cx="5349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46888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real, relevant data before answering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own documents / knowledge base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hallucinations, more accurate answers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 needed to “add” knowledge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9052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559052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6974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0632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docs into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pieces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2157984"/>
            <a:ext cx="219456" cy="25603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9" name="Shape 7"/>
          <p:cNvSpPr/>
          <p:nvPr/>
        </p:nvSpPr>
        <p:spPr>
          <a:xfrm>
            <a:off x="3689604" y="2011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689604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26664" y="26974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26664" y="30632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chunk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vector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19472" y="2157984"/>
            <a:ext cx="219456" cy="25603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4" name="Shape 12"/>
          <p:cNvSpPr/>
          <p:nvPr/>
        </p:nvSpPr>
        <p:spPr>
          <a:xfrm>
            <a:off x="5820156" y="201168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5820156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57216" y="26974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57216" y="30632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vectors in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50024" y="2157984"/>
            <a:ext cx="219456" cy="25603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0708" y="2011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950708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87768" y="26974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87768" y="30632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top-k relevant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for a query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80576" y="2157984"/>
            <a:ext cx="219456" cy="256032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81260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100812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18320" y="26974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18320" y="30632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using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chunks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434840"/>
            <a:ext cx="10835640" cy="1737360"/>
          </a:xfrm>
          <a:prstGeom prst="roundRect">
            <a:avLst>
              <a:gd name="adj" fmla="val 421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46177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turns a user question into a search over your own data, not the model's memory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sees the query + the retrieved chunks — it doesn't need to “know” the answer in advance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Fit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9516" y="173736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20116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979676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99516" y="29260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9516" y="33375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9372" y="2788920"/>
            <a:ext cx="274320" cy="274320"/>
          </a:xfrm>
          <a:prstGeom prst="plus">
            <a:avLst/>
          </a:prstGeom>
          <a:solidFill>
            <a:srgbClr val="5B6472"/>
          </a:solidFill>
          <a:ln/>
        </p:spPr>
      </p:sp>
      <p:sp>
        <p:nvSpPr>
          <p:cNvPr id="10" name="Shape 8"/>
          <p:cNvSpPr/>
          <p:nvPr/>
        </p:nvSpPr>
        <p:spPr>
          <a:xfrm>
            <a:off x="4448556" y="173736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28716" y="20116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728716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48556" y="29260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48556" y="33375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source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8412" y="2788920"/>
            <a:ext cx="274320" cy="274320"/>
          </a:xfrm>
          <a:prstGeom prst="plus">
            <a:avLst/>
          </a:prstGeom>
          <a:solidFill>
            <a:srgbClr val="5B647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97596" y="173736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77756" y="20116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9477756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97596" y="29260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97596" y="33375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decision-maker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80160" y="4480560"/>
            <a:ext cx="9601200" cy="1554480"/>
          </a:xfrm>
          <a:prstGeom prst="roundRect">
            <a:avLst>
              <a:gd name="adj" fmla="val 4706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54480" y="4480560"/>
            <a:ext cx="9052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assistant = a chat interface, that retrieves grounded facts with RAG, coordinated by an agent loop that decides when to retrieve, answer directly, or call another tool.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GUIDED EXERCISE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A: Rule-Based Chatbot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chatbot fundamentals before adding AI.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checks the user's message for keywords (e.g. “hello”, “hours”, “bye”)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matching canned response for each keyword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it in a loop that keeps chatting until the user types “quit”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it, then list at least 3 limitations you notice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53212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32120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happens if the user types “Hii there!” instead of “hello”.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CHATBOT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A: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35640" cy="4160520"/>
          </a:xfrm>
          <a:prstGeom prst="roundRect">
            <a:avLst>
              <a:gd name="adj" fmla="val 1758"/>
            </a:avLst>
          </a:prstGeom>
          <a:solidFill>
            <a:srgbClr val="1A2B3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91640"/>
            <a:ext cx="103235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rule_based_bot(user_input):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user_input.lower()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"hello" in text: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"Hi there! How can I help you today?"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"hours" in text: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"We're open 9 AM to 6 PM, Mon–Fri."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"bye" in text: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"Goodbye! Have a great day."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"Sorry, I didn't understand that."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input("You: 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msg.lower() == "quit":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print("Bot:", rule_based_bot(msg))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5833872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5833872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memory, brittle keyword matching, can't handle rephrasing — this is exactly what LLMs fix next.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GUIDED EXERCISE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B: LLM Chatbot with Memory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rules to an LLM, and add conversation memory.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`conversation` list to hold the chat history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`chat()` function that appends the user's message, calls the LLM, then appends the reply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question, then a follow-up that only makes sense with memory (e.g. “What's the capital of Nepal?” then “What's a good place to visit there?”)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second answer correctly uses context from the first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53212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32120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`conversation` list is re-sent every turn — the model itself has no memory between calls.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CHATBOT WITH MEMORY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B: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35640" cy="4160520"/>
          </a:xfrm>
          <a:prstGeom prst="roundRect">
            <a:avLst>
              <a:gd name="adj" fmla="val 1758"/>
            </a:avLst>
          </a:prstGeom>
          <a:solidFill>
            <a:srgbClr val="1A2B3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91640"/>
            <a:ext cx="103235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anthropic import Anthropic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Anthropic()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 = []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chat(user_input):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conversation.append(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"user", "content": user_input})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client.messages.create(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model="claude-sonnet-4-5",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max_tokens=500,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messages=conversation)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reply = response.content[0].text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conversation.append(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"assistant", "content": reply})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reply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print(chat("What's the capital of Nepal?"))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print(chat("What's a good place to visit there?"))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5833872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5833872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call relies on memory of the first turn — that's the `conversation` list doing the work.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GUIDED EXERCISE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C: Minimal RAG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facts from a small custom document set before answering.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small list of `documents` (FAQ-style sentences)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documents with a sentence-embedding model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`retrieve(query, k)` function that returns the top-k most similar chunks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`rag_answer(query)` function that feeds retrieved chunks + the question to the LLM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 answer with retrieval vs. without — note the difference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53212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32120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= dot product (or cosine similarity) between the query embedding and each document embedding.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EMBED &amp; RETRIEVE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C: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35640" cy="4572000"/>
          </a:xfrm>
          <a:prstGeom prst="roundRect">
            <a:avLst>
              <a:gd name="adj" fmla="val 1600"/>
            </a:avLst>
          </a:prstGeom>
          <a:solidFill>
            <a:srgbClr val="1A2B3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91640"/>
            <a:ext cx="1032357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sentence_transformers import SentenceTransformer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[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"Returns are accepted within 30 days with a receipt.",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"Shipping takes 3-5 business days.",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"Support is available 9 AM to 6 PM, Mon–Fri.",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"We offer a 1-year warranty on electronics.",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SentenceTransformer('all-MiniLM-L6-v2')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doc_embeddings = model.encode(documents)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retrieve(query, k=2):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q_emb = model.encode([query])[0]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= np.dot(doc_embeddings, q_emb)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top_k = np.argsort(scores)[-k:][::-1]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[documents[i] for i in top_k]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GENERATE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C: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35640" cy="4160520"/>
          </a:xfrm>
          <a:prstGeom prst="roundRect">
            <a:avLst>
              <a:gd name="adj" fmla="val 1758"/>
            </a:avLst>
          </a:prstGeom>
          <a:solidFill>
            <a:srgbClr val="1A2B3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91640"/>
            <a:ext cx="103235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rag_answer(query):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 = "\n".join(retrieve(query))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f"""Answer using ONLY this context.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isn't in the context, say you don't know.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{context}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{query}"""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client.messages.create(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model="claude-sonnet-4-5", max_tokens=300,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 "content": prompt}])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response.content[0].text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print(rag_answer("How long is the warranty?"))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"1 year, per the provided policy."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5833872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5833872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the prompt in retrieved context keeps the answer accurate instead of guessed.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GUIDED EXERCISE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D: Simple Tool-Using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agent decision loop in action with one tool.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`calculator(expression)` tool function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`simple_agent(user_input)` that checks if the message looks like a math expression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call the calculator tool; if no → fall back to the chatbot from Exercise B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 math question and a general-knowledge question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53212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32120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toy version — real agents use native function-calling APIs to choose tools, not keyword checks.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TOOL-USING 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D: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35640" cy="4160520"/>
          </a:xfrm>
          <a:prstGeom prst="roundRect">
            <a:avLst>
              <a:gd name="adj" fmla="val 1758"/>
            </a:avLst>
          </a:prstGeom>
          <a:solidFill>
            <a:srgbClr val="1A2B3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91640"/>
            <a:ext cx="103235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calculator(expression):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str(eval(expression))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"Invalid expression"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{"calculator": calculator}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simple_agent(user_input):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any(op in user_input for op in "+-*/"):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expr = "".join(c for c in user_input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c.isdigit() or c in "+-*/. 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f"[calculator] {tools['calculator'](expr)}"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chat(user_input)  # falls back to LLM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print(simple_agent("What is 45 * 12?"))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print(simple_agent("Tell me a fun fact about space."))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5833872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5833872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which path to take — tool call vs. LLM — before responding.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SUPPORT CHATBOT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08760"/>
            <a:ext cx="10287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chatbot that remembers context, retrieves answers from a knowledge base, and calls at least one tool when needed.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PROJECT STRUCTURE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1A2B3C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108960"/>
            <a:ext cx="47000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mini_project/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C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knowledge_base.py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(FAQ / document list)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C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retriever.py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(embedding + retrieval)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C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tools.py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(calculator, escalate, etc.)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C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agent.py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(retrieve → decide → generate)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C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main.py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(chat loop / CLI)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0760" y="292608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310896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should behave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352044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Greets the user and remembers the conversation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FAQ content before answering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tool (e.g. calculate a total) when needed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“I don't know” gracefully when nothing relevant is found in the knowledge base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STRETCH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 Checklist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562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288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8–10+ FAQ / document entries in the knowledge base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134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2860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retrieval function (top-k relevant chunks)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432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retrieved context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2278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004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working tool call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6850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6576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across turns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1148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“I don't know” fallback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5720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CLI or notebook demo interface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1463040"/>
            <a:ext cx="4114800" cy="4846320"/>
          </a:xfrm>
          <a:prstGeom prst="roundRect">
            <a:avLst>
              <a:gd name="adj" fmla="val 1778"/>
            </a:avLst>
          </a:prstGeom>
          <a:solidFill>
            <a:srgbClr val="F0EAF7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0" y="16916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214884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real vector DB (Chroma or FAISS)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tool (web search or mock DB query)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each agent decision for transparency / debugging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simple web UI (Streamlit or Gradio)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PARTNER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Wrap-Up: Check for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chatbot and an agent?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182880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chunk and embed documents instead of pasting the whole document into the prompt?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402336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the retriever returns irrelevant chunks? How would you fix that?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402336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real-world product that likely uses RAG.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291840" cy="3291840"/>
          </a:xfrm>
          <a:prstGeom prst="ellipse">
            <a:avLst/>
          </a:prstGeom>
          <a:solidFill>
            <a:srgbClr val="21295C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 today!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 chatbot, a RAG pipeline, and a tool-using agent —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combined them into one mini project.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Day 24: extending your agent with more tools &amp; real vector databases.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2026-08-20T03:25:51Z</dcterms:created>
  <dcterms:modified xsi:type="dcterms:W3CDTF">2026-08-20T03:25:51Z</dcterms:modified>
</cp:coreProperties>
</file>