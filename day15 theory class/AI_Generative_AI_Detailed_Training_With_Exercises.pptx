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Open the session by explaining that this week moves from AI foundations into Generative AI and practical prompt engineering. Tell students that the class is deliberately hands-on: they will not only learn terminology but will test concepts using real AI tools. Preview the three major areas: AI/ML/DL foundations, LLMs and Generative AI, and prompt engineering. Explain that the final exercises connect the concepts to practical business and student use cases.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Walk through the learning outcomes. Emphasize that students should be able to explain concepts in their own words, not simply memorize definitions. Tell students that the practical exercises will test classification, prompting, token/context concepts, and AI use-case design. Encourage them to ask questions whenever a term is unclear.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the learning sequence. The first part establishes vocabulary and mental models. The middle section explains modern Generative AI concepts. The last section turns those concepts into practical prompting and mini-project work. Tell students that each stage depends on the previous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Define AI in plain language: computer systems performing tasks that normally require some human-like cognitive capability. Explain perception, learning, reasoning and language using examples. Stress that AI does not imply human consciousness or human-style thinking. Ask students for one AI system they used today and what intelligent behavior it demonstrates.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that automation can be completely deterministic: humans define the rules and the computer executes them. AI systems may involve learning, perception, language, reasoning or other techniques. Avoid saying that every AI system learns; some AI uses symbolic or rule-based approaches. Ask students to compare a calculator, a rule-based workflow and a recommendation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Have students classify the examples. For Maps, discuss traffic, location and route data. For recommendations, discuss interaction history and item information. For spam detection, discuss email text and labels. For chatbots, discuss text context and instructions. Do not imply that the exact internal implementation of each consumer product is known from the slide; the examples are conceptual.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Tell the timeline as a story. Turing raised foundational questions about machine intelligence. The Dartmouth work helped establish AI as a named research field. Expert systems represented a rules-and-knowledge approach. Deep Blue showed how specialized computational search could beat a chess champion. AlexNet marked an important deep-learning milestone. Generative AI became widely accessible in the 2020s. Mention that this is a teaching timeline, not an exhaustive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that no single factor created the modern AI boom. Data, compute, algorithms, cloud infrastructure and accessible interfaces reinforce one another. Ask students to choose the most important factor and defend their choice. Use this to introduce the idea that AI is both a software and infrastructure 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the concept of an AI winter as a period when expectations and investment decline after promised capabilities fail to materialize. Do not over-focus on exact dates. The teaching point is that AI has repeatedly gone through cycles of enthusiasm, disappointment and renewed progress. Ask students why modern AI should still be evaluated critically.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Spend extra time here. Explain the nested relationship: AI is the broadest category, Machine Learning is a subset of AI, and Deep Learning is a subset of Machine Learning. Clarify that not every AI system is ML and not every ML system is DL. Give a spam example and an image-recognition example. Ask students to draw the nested relationship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the difference using spam filtering. In traditional programming, developers might create rules based on words, sender properties or other known patterns. In ML, labeled examples are used to learn a model. Then new email data is passed to the model for prediction. Stress that ML still requires engineering, data preparation, evaluation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Introduce neural networks at a conceptual level only. Explain that layers transform representations. In image tasks, early layers may respond to simple visual patterns and later layers can combine them into more complex representations. Avoid claiming that every neural network literally has these exact semantic stages. The key idea is layered representation learning.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Define Generative AI as AI that produces new content based on learned patterns and user instructions. Distinguish generation from classification. Use a simple prompt-to-output example. Emphasize that generated content can be useful but can also be wrong, biased or unsuitable. Human review remains important.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the LLM pipeline at a high level: training learns parameters from large datasets; inference uses those learned parameters to generate outputs from prompts and context. Introduce transformers and attention without diving into matrix math yet. Clarify that an LLM is not a search engine and should not automatically be treated as a database of verified facts.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Walk through each stage. Explain that text is tokenized, the model processes the context, and the model generates a sequence of tokens. Keep the explanation conceptual. The important teaching point is that fluent language is not proof of factual correctness. Introduce the need for verification and source checking.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that tokenization depends on the model's tokenizer, so examples should be treated as illustrative rather than fixed. Demonstrate a short English sentence, punctuation and a longer word. Then have students compare token counts for a short prompt and a long prompt. If using a tokenizer website, remind students that different models can use different tokenization schemes.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context as the information available to the model for a particular request. It can include instructions, conversation history and supplied documents. Avoid stating a specific model limit because limits change by model and product. The hands-on task can use a long document: ask a question about a detail near the beginning and another near the end, then discuss how context management matters.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embeddings as numerical representations useful for similarity and retrieval. Use the three sentence examples to show that wording can differ while meaning is related. Introduce the basic Retrieval-Augmented Generation pattern conceptually: documents are split, embedded, relevant chunks are retrieved, and the retrieved context can be passed to an LLM. Do not imply that embeddings are human-readable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Give students 15 minutes. Help them select a tokenizer if needed. The goal is not to memorize token counts but to understand that prompts and documents consume tokens. For the context activity, encourage students to add irrelevant material and see whether the answer changes. Have 2–3 pairs report their observations.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Introduce a practical prompt framework. Explain each component. Demonstrate how 'Explain AI' becomes more useful when the role, audience, context, constraints and output format are specified. Ask students to improve a vague prompt using the five-part structure.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Run this as a live demonstration. First submit the vague prompt and observe the response. Then submit the engineered prompt. Ask students what changed. Point out that the improved prompt reduces ambiguity rather than guaranteeing correctness. Discuss which constraints are useful and which might be unnecessarily restrictive.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Define zero-shot clearly: no examples are supplied in the prompt. Have students create a classification prompt for customer feedback. Ask them to specify the labels and desired output format. Then test several examples. Discuss ambiguous cases and why clear definitions matter.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that few-shot prompting supplies examples inside the current prompt. It does not retrain the model. Demonstrate how examples clarify labels and output format. Have students run the same 10 comments with zero-shot and few-shot prompts and compare consistency. Encourage them to create a small evaluation table rather than judging based on one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that role prompting is primarily about framing the task and audience. It can influence vocabulary, depth and style. It does not make the AI genuinely possess the claimed credentials. Have students rewrite one prompt for three different audiences and compare the outputs.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Explain the practical goal: improve reliability by encouraging careful work and verification. Avoid asking students to expose hidden internal chain-of-thought. Instead ask the model to provide a concise explanation, assumptions and verification checks. Use a small business calculation or logic problem. Compare an unchecked answer with one that includes explicit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Give pairs 20 minutes. Ask them to create a prompt for customer-feedback analysis. Encourage a structured output such as sentiment, issue, urgency and recommended action. Have them test five examples, record problems and revise the prompt. The important skill is iterative improvement rather than writing a perfect prompt on the first attempt.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Divide students into small groups. Let them choose one practical assistant. The assistant should have a clear scope and should not invent information outside the provided context. Each group defines the data needed, writes a system-style prompt or instruction, tests five questions and identifies failures. Have groups present one good response and one failure. Use failures to teach evaluation and responsible AI use.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Use this as the mini-project worksheet. Require students to define the problem, users, inputs, trusted knowledge, desired output and guardrails. The guardrails are important: students should state what the assistant should not invent and when it should ask for clarification or escalate to a human. Collect five test cases and a short reflection.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Run this as a fast formative assessment. Ask students to answer individually before discussing. Use incorrect answers to identify concepts that need review. The goal is conceptual understanding, not memorization. For the embedding question, ask students to connect the answer to semantic search or retrieval.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Close by asking students to explain the five mental models without looking at the slide. Ask: What is AI? How does ML fit inside AI? What does deep learning add? What are tokens and context? What makes a prompt useful? What is the role of verification? Finally, connect this week to future practical work with Python, data, Machine Learning and AI projects.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pic>
        <p:nvPicPr>
          <p:cNvPr id="2" name="Picture 1" descr="brain.png"/>
          <p:cNvPicPr>
            <a:picLocks noChangeAspect="1"/>
          </p:cNvPicPr>
          <p:nvPr/>
        </p:nvPicPr>
        <p:blipFill>
          <a:blip r:embed="rId2"/>
          <a:stretch>
            <a:fillRect/>
          </a:stretch>
        </p:blipFill>
        <p:spPr>
          <a:xfrm>
            <a:off x="8092440" y="914400"/>
            <a:ext cx="3246120" cy="1965960"/>
          </a:xfrm>
          <a:prstGeom prst="rect">
            <a:avLst/>
          </a:prstGeom>
        </p:spPr>
      </p:pic>
      <p:sp>
        <p:nvSpPr>
          <p:cNvPr id="3" name="TextBox 2"/>
          <p:cNvSpPr txBox="1"/>
          <p:nvPr/>
        </p:nvSpPr>
        <p:spPr>
          <a:xfrm>
            <a:off x="685800" y="731520"/>
            <a:ext cx="6766560" cy="365760"/>
          </a:xfrm>
          <a:prstGeom prst="rect">
            <a:avLst/>
          </a:prstGeom>
          <a:noFill/>
        </p:spPr>
        <p:txBody>
          <a:bodyPr wrap="square" anchor="t">
            <a:spAutoFit/>
          </a:bodyPr>
          <a:lstStyle/>
          <a:p>
            <a:pPr algn="l"/>
            <a:r>
              <a:rPr sz="1200" b="1">
                <a:solidFill>
                  <a:srgbClr val="64D2BE"/>
                </a:solidFill>
                <a:latin typeface="Aptos"/>
              </a:rPr>
              <a:t>WEEK 3 · AI / ML TRAINING</a:t>
            </a:r>
          </a:p>
        </p:txBody>
      </p:sp>
      <p:sp>
        <p:nvSpPr>
          <p:cNvPr id="4" name="TextBox 3"/>
          <p:cNvSpPr txBox="1"/>
          <p:nvPr/>
        </p:nvSpPr>
        <p:spPr>
          <a:xfrm>
            <a:off x="685800" y="1234440"/>
            <a:ext cx="7315200" cy="1371600"/>
          </a:xfrm>
          <a:prstGeom prst="rect">
            <a:avLst/>
          </a:prstGeom>
          <a:noFill/>
        </p:spPr>
        <p:txBody>
          <a:bodyPr wrap="square" anchor="t">
            <a:spAutoFit/>
          </a:bodyPr>
          <a:lstStyle/>
          <a:p>
            <a:pPr algn="l"/>
            <a:r>
              <a:rPr sz="3400" b="1">
                <a:solidFill>
                  <a:srgbClr val="F8FAFC"/>
                </a:solidFill>
                <a:latin typeface="Aptos"/>
              </a:rPr>
              <a:t>Artificial Intelligence</a:t>
            </a:r>
            <a:br/>
            <a:r>
              <a:rPr sz="3400" b="1">
                <a:solidFill>
                  <a:srgbClr val="F8FAFC"/>
                </a:solidFill>
                <a:latin typeface="Aptos"/>
              </a:rPr>
              <a:t>&amp; Generative AI</a:t>
            </a:r>
          </a:p>
        </p:txBody>
      </p:sp>
      <p:sp>
        <p:nvSpPr>
          <p:cNvPr id="5" name="TextBox 4"/>
          <p:cNvSpPr txBox="1"/>
          <p:nvPr/>
        </p:nvSpPr>
        <p:spPr>
          <a:xfrm>
            <a:off x="713232" y="2788920"/>
            <a:ext cx="6858000" cy="548640"/>
          </a:xfrm>
          <a:prstGeom prst="rect">
            <a:avLst/>
          </a:prstGeom>
          <a:noFill/>
        </p:spPr>
        <p:txBody>
          <a:bodyPr wrap="square" anchor="t">
            <a:spAutoFit/>
          </a:bodyPr>
          <a:lstStyle/>
          <a:p>
            <a:pPr algn="l"/>
            <a:r>
              <a:rPr sz="1700" b="0">
                <a:solidFill>
                  <a:srgbClr val="A4B5C9"/>
                </a:solidFill>
                <a:latin typeface="Aptos"/>
              </a:rPr>
              <a:t>Concepts • demonstrations • hands-on labs • mini project</a:t>
            </a:r>
          </a:p>
        </p:txBody>
      </p:sp>
      <p:sp>
        <p:nvSpPr>
          <p:cNvPr id="6" name="Rounded Rectangle 5"/>
          <p:cNvSpPr/>
          <p:nvPr/>
        </p:nvSpPr>
        <p:spPr>
          <a:xfrm>
            <a:off x="713232" y="3703320"/>
            <a:ext cx="5212080" cy="11430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977639"/>
            <a:ext cx="2011680" cy="320040"/>
          </a:xfrm>
          <a:prstGeom prst="rect">
            <a:avLst/>
          </a:prstGeom>
          <a:noFill/>
        </p:spPr>
        <p:txBody>
          <a:bodyPr wrap="square" anchor="t">
            <a:spAutoFit/>
          </a:bodyPr>
          <a:lstStyle/>
          <a:p>
            <a:pPr algn="l"/>
            <a:r>
              <a:rPr sz="1600" b="1">
                <a:solidFill>
                  <a:srgbClr val="F8FAFC"/>
                </a:solidFill>
                <a:latin typeface="Aptos"/>
              </a:rPr>
              <a:t>For BITM students</a:t>
            </a:r>
          </a:p>
        </p:txBody>
      </p:sp>
      <p:sp>
        <p:nvSpPr>
          <p:cNvPr id="8" name="TextBox 7"/>
          <p:cNvSpPr txBox="1"/>
          <p:nvPr/>
        </p:nvSpPr>
        <p:spPr>
          <a:xfrm>
            <a:off x="960120" y="4361688"/>
            <a:ext cx="4480560" cy="274320"/>
          </a:xfrm>
          <a:prstGeom prst="rect">
            <a:avLst/>
          </a:prstGeom>
          <a:noFill/>
        </p:spPr>
        <p:txBody>
          <a:bodyPr wrap="square" anchor="t">
            <a:spAutoFit/>
          </a:bodyPr>
          <a:lstStyle/>
          <a:p>
            <a:pPr algn="l"/>
            <a:r>
              <a:rPr sz="1250" b="0">
                <a:solidFill>
                  <a:srgbClr val="E1EAF4"/>
                </a:solidFill>
                <a:latin typeface="Aptos"/>
              </a:rPr>
              <a:t>AI foundations → LLMs → prompt engineering</a:t>
            </a:r>
          </a:p>
        </p:txBody>
      </p:sp>
      <p:sp>
        <p:nvSpPr>
          <p:cNvPr id="9" name="TextBox 8"/>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SESSION OUTCOMES</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What students will be able to do</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Use the outcomes as a checklist throughout the training.</a:t>
            </a:r>
          </a:p>
        </p:txBody>
      </p:sp>
      <p:sp>
        <p:nvSpPr>
          <p:cNvPr id="5" name="Rounded Rectangle 4"/>
          <p:cNvSpPr/>
          <p:nvPr/>
        </p:nvSpPr>
        <p:spPr>
          <a:xfrm>
            <a:off x="685800" y="2148840"/>
            <a:ext cx="52578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148840"/>
            <a:ext cx="64008" cy="100584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rain.png"/>
          <p:cNvPicPr>
            <a:picLocks noChangeAspect="1"/>
          </p:cNvPicPr>
          <p:nvPr/>
        </p:nvPicPr>
        <p:blipFill>
          <a:blip r:embed="rId2"/>
          <a:stretch>
            <a:fillRect/>
          </a:stretch>
        </p:blipFill>
        <p:spPr>
          <a:xfrm>
            <a:off x="868680" y="2350008"/>
            <a:ext cx="658368" cy="457200"/>
          </a:xfrm>
          <a:prstGeom prst="rect">
            <a:avLst/>
          </a:prstGeom>
        </p:spPr>
      </p:pic>
      <p:sp>
        <p:nvSpPr>
          <p:cNvPr id="8" name="TextBox 7"/>
          <p:cNvSpPr txBox="1"/>
          <p:nvPr/>
        </p:nvSpPr>
        <p:spPr>
          <a:xfrm>
            <a:off x="1645920" y="2350008"/>
            <a:ext cx="4114800" cy="365760"/>
          </a:xfrm>
          <a:prstGeom prst="rect">
            <a:avLst/>
          </a:prstGeom>
          <a:noFill/>
        </p:spPr>
        <p:txBody>
          <a:bodyPr wrap="square" anchor="t">
            <a:spAutoFit/>
          </a:bodyPr>
          <a:lstStyle/>
          <a:p>
            <a:pPr algn="l"/>
            <a:r>
              <a:rPr sz="1700" b="1">
                <a:solidFill>
                  <a:srgbClr val="F8FAFC"/>
                </a:solidFill>
                <a:latin typeface="Aptos"/>
              </a:rPr>
              <a:t>Explain AI</a:t>
            </a:r>
          </a:p>
        </p:txBody>
      </p:sp>
      <p:sp>
        <p:nvSpPr>
          <p:cNvPr id="9" name="TextBox 8"/>
          <p:cNvSpPr txBox="1"/>
          <p:nvPr/>
        </p:nvSpPr>
        <p:spPr>
          <a:xfrm>
            <a:off x="1645920" y="2807208"/>
            <a:ext cx="4069080" cy="182880"/>
          </a:xfrm>
          <a:prstGeom prst="rect">
            <a:avLst/>
          </a:prstGeom>
          <a:noFill/>
        </p:spPr>
        <p:txBody>
          <a:bodyPr wrap="square" anchor="t">
            <a:spAutoFit/>
          </a:bodyPr>
          <a:lstStyle/>
          <a:p>
            <a:pPr algn="l"/>
            <a:r>
              <a:rPr sz="1250" b="0">
                <a:solidFill>
                  <a:srgbClr val="E1EAF4"/>
                </a:solidFill>
                <a:latin typeface="Aptos"/>
              </a:rPr>
              <a:t>Define AI and distinguish it from ordinary automation.</a:t>
            </a:r>
          </a:p>
        </p:txBody>
      </p:sp>
      <p:sp>
        <p:nvSpPr>
          <p:cNvPr id="10" name="Rounded Rectangle 9"/>
          <p:cNvSpPr/>
          <p:nvPr/>
        </p:nvSpPr>
        <p:spPr>
          <a:xfrm>
            <a:off x="6263640" y="2148840"/>
            <a:ext cx="52578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64008" cy="10058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etwork.png"/>
          <p:cNvPicPr>
            <a:picLocks noChangeAspect="1"/>
          </p:cNvPicPr>
          <p:nvPr/>
        </p:nvPicPr>
        <p:blipFill>
          <a:blip r:embed="rId3"/>
          <a:stretch>
            <a:fillRect/>
          </a:stretch>
        </p:blipFill>
        <p:spPr>
          <a:xfrm>
            <a:off x="6446520" y="2350008"/>
            <a:ext cx="658368" cy="457200"/>
          </a:xfrm>
          <a:prstGeom prst="rect">
            <a:avLst/>
          </a:prstGeom>
        </p:spPr>
      </p:pic>
      <p:sp>
        <p:nvSpPr>
          <p:cNvPr id="13" name="TextBox 12"/>
          <p:cNvSpPr txBox="1"/>
          <p:nvPr/>
        </p:nvSpPr>
        <p:spPr>
          <a:xfrm>
            <a:off x="7223759" y="2350008"/>
            <a:ext cx="4114800" cy="365760"/>
          </a:xfrm>
          <a:prstGeom prst="rect">
            <a:avLst/>
          </a:prstGeom>
          <a:noFill/>
        </p:spPr>
        <p:txBody>
          <a:bodyPr wrap="square" anchor="t">
            <a:spAutoFit/>
          </a:bodyPr>
          <a:lstStyle/>
          <a:p>
            <a:pPr algn="l"/>
            <a:r>
              <a:rPr sz="1700" b="1">
                <a:solidFill>
                  <a:srgbClr val="F8FAFC"/>
                </a:solidFill>
                <a:latin typeface="Aptos"/>
              </a:rPr>
              <a:t>Connect AI → ML → DL</a:t>
            </a:r>
          </a:p>
        </p:txBody>
      </p:sp>
      <p:sp>
        <p:nvSpPr>
          <p:cNvPr id="14" name="TextBox 13"/>
          <p:cNvSpPr txBox="1"/>
          <p:nvPr/>
        </p:nvSpPr>
        <p:spPr>
          <a:xfrm>
            <a:off x="7223759" y="2807208"/>
            <a:ext cx="4069080" cy="182880"/>
          </a:xfrm>
          <a:prstGeom prst="rect">
            <a:avLst/>
          </a:prstGeom>
          <a:noFill/>
        </p:spPr>
        <p:txBody>
          <a:bodyPr wrap="square" anchor="t">
            <a:spAutoFit/>
          </a:bodyPr>
          <a:lstStyle/>
          <a:p>
            <a:pPr algn="l"/>
            <a:r>
              <a:rPr sz="1250" b="0">
                <a:solidFill>
                  <a:srgbClr val="E1EAF4"/>
                </a:solidFill>
                <a:latin typeface="Aptos"/>
              </a:rPr>
              <a:t>Describe the hierarchy and identify examples.</a:t>
            </a:r>
          </a:p>
        </p:txBody>
      </p:sp>
      <p:sp>
        <p:nvSpPr>
          <p:cNvPr id="15" name="Rounded Rectangle 14"/>
          <p:cNvSpPr/>
          <p:nvPr/>
        </p:nvSpPr>
        <p:spPr>
          <a:xfrm>
            <a:off x="685800" y="3383280"/>
            <a:ext cx="52578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383280"/>
            <a:ext cx="64008" cy="100584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lm.png"/>
          <p:cNvPicPr>
            <a:picLocks noChangeAspect="1"/>
          </p:cNvPicPr>
          <p:nvPr/>
        </p:nvPicPr>
        <p:blipFill>
          <a:blip r:embed="rId4"/>
          <a:stretch>
            <a:fillRect/>
          </a:stretch>
        </p:blipFill>
        <p:spPr>
          <a:xfrm>
            <a:off x="868680" y="3584448"/>
            <a:ext cx="658368" cy="457200"/>
          </a:xfrm>
          <a:prstGeom prst="rect">
            <a:avLst/>
          </a:prstGeom>
        </p:spPr>
      </p:pic>
      <p:sp>
        <p:nvSpPr>
          <p:cNvPr id="18" name="TextBox 17"/>
          <p:cNvSpPr txBox="1"/>
          <p:nvPr/>
        </p:nvSpPr>
        <p:spPr>
          <a:xfrm>
            <a:off x="1645920" y="3584448"/>
            <a:ext cx="4114800" cy="365760"/>
          </a:xfrm>
          <a:prstGeom prst="rect">
            <a:avLst/>
          </a:prstGeom>
          <a:noFill/>
        </p:spPr>
        <p:txBody>
          <a:bodyPr wrap="square" anchor="t">
            <a:spAutoFit/>
          </a:bodyPr>
          <a:lstStyle/>
          <a:p>
            <a:pPr algn="l"/>
            <a:r>
              <a:rPr sz="1700" b="1">
                <a:solidFill>
                  <a:srgbClr val="F8FAFC"/>
                </a:solidFill>
                <a:latin typeface="Aptos"/>
              </a:rPr>
              <a:t>Understand LLMs</a:t>
            </a:r>
          </a:p>
        </p:txBody>
      </p:sp>
      <p:sp>
        <p:nvSpPr>
          <p:cNvPr id="19" name="TextBox 18"/>
          <p:cNvSpPr txBox="1"/>
          <p:nvPr/>
        </p:nvSpPr>
        <p:spPr>
          <a:xfrm>
            <a:off x="1645920" y="4041648"/>
            <a:ext cx="4069080" cy="182880"/>
          </a:xfrm>
          <a:prstGeom prst="rect">
            <a:avLst/>
          </a:prstGeom>
          <a:noFill/>
        </p:spPr>
        <p:txBody>
          <a:bodyPr wrap="square" anchor="t">
            <a:spAutoFit/>
          </a:bodyPr>
          <a:lstStyle/>
          <a:p>
            <a:pPr algn="l"/>
            <a:r>
              <a:rPr sz="1250" b="0">
                <a:solidFill>
                  <a:srgbClr val="E1EAF4"/>
                </a:solidFill>
                <a:latin typeface="Aptos"/>
              </a:rPr>
              <a:t>Explain tokens, context windows and embeddings at a high level.</a:t>
            </a:r>
          </a:p>
        </p:txBody>
      </p:sp>
      <p:sp>
        <p:nvSpPr>
          <p:cNvPr id="20" name="Rounded Rectangle 19"/>
          <p:cNvSpPr/>
          <p:nvPr/>
        </p:nvSpPr>
        <p:spPr>
          <a:xfrm>
            <a:off x="6263640" y="3383280"/>
            <a:ext cx="52578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383280"/>
            <a:ext cx="64008" cy="100584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prompt.png"/>
          <p:cNvPicPr>
            <a:picLocks noChangeAspect="1"/>
          </p:cNvPicPr>
          <p:nvPr/>
        </p:nvPicPr>
        <p:blipFill>
          <a:blip r:embed="rId5"/>
          <a:stretch>
            <a:fillRect/>
          </a:stretch>
        </p:blipFill>
        <p:spPr>
          <a:xfrm>
            <a:off x="6446520" y="3584448"/>
            <a:ext cx="658368" cy="457200"/>
          </a:xfrm>
          <a:prstGeom prst="rect">
            <a:avLst/>
          </a:prstGeom>
        </p:spPr>
      </p:pic>
      <p:sp>
        <p:nvSpPr>
          <p:cNvPr id="23" name="TextBox 22"/>
          <p:cNvSpPr txBox="1"/>
          <p:nvPr/>
        </p:nvSpPr>
        <p:spPr>
          <a:xfrm>
            <a:off x="7223759" y="3584448"/>
            <a:ext cx="4114800" cy="365760"/>
          </a:xfrm>
          <a:prstGeom prst="rect">
            <a:avLst/>
          </a:prstGeom>
          <a:noFill/>
        </p:spPr>
        <p:txBody>
          <a:bodyPr wrap="square" anchor="t">
            <a:spAutoFit/>
          </a:bodyPr>
          <a:lstStyle/>
          <a:p>
            <a:pPr algn="l"/>
            <a:r>
              <a:rPr sz="1700" b="1">
                <a:solidFill>
                  <a:srgbClr val="F8FAFC"/>
                </a:solidFill>
                <a:latin typeface="Aptos"/>
              </a:rPr>
              <a:t>Engineer prompts</a:t>
            </a:r>
          </a:p>
        </p:txBody>
      </p:sp>
      <p:sp>
        <p:nvSpPr>
          <p:cNvPr id="24" name="TextBox 23"/>
          <p:cNvSpPr txBox="1"/>
          <p:nvPr/>
        </p:nvSpPr>
        <p:spPr>
          <a:xfrm>
            <a:off x="7223759" y="4041648"/>
            <a:ext cx="4069080" cy="182880"/>
          </a:xfrm>
          <a:prstGeom prst="rect">
            <a:avLst/>
          </a:prstGeom>
          <a:noFill/>
        </p:spPr>
        <p:txBody>
          <a:bodyPr wrap="square" anchor="t">
            <a:spAutoFit/>
          </a:bodyPr>
          <a:lstStyle/>
          <a:p>
            <a:pPr algn="l"/>
            <a:r>
              <a:rPr sz="1250" b="0">
                <a:solidFill>
                  <a:srgbClr val="E1EAF4"/>
                </a:solidFill>
                <a:latin typeface="Aptos"/>
              </a:rPr>
              <a:t>Create clear zero-shot, few-shot and role-based prompts.</a:t>
            </a:r>
          </a:p>
        </p:txBody>
      </p:sp>
      <p:sp>
        <p:nvSpPr>
          <p:cNvPr id="25" name="Rounded Rectangle 24"/>
          <p:cNvSpPr/>
          <p:nvPr/>
        </p:nvSpPr>
        <p:spPr>
          <a:xfrm>
            <a:off x="685800" y="4617720"/>
            <a:ext cx="52578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4617720"/>
            <a:ext cx="64008" cy="100584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data.png"/>
          <p:cNvPicPr>
            <a:picLocks noChangeAspect="1"/>
          </p:cNvPicPr>
          <p:nvPr/>
        </p:nvPicPr>
        <p:blipFill>
          <a:blip r:embed="rId6"/>
          <a:stretch>
            <a:fillRect/>
          </a:stretch>
        </p:blipFill>
        <p:spPr>
          <a:xfrm>
            <a:off x="868680" y="4818888"/>
            <a:ext cx="658368" cy="457200"/>
          </a:xfrm>
          <a:prstGeom prst="rect">
            <a:avLst/>
          </a:prstGeom>
        </p:spPr>
      </p:pic>
      <p:sp>
        <p:nvSpPr>
          <p:cNvPr id="28" name="TextBox 27"/>
          <p:cNvSpPr txBox="1"/>
          <p:nvPr/>
        </p:nvSpPr>
        <p:spPr>
          <a:xfrm>
            <a:off x="1645920" y="4818888"/>
            <a:ext cx="4114800" cy="365760"/>
          </a:xfrm>
          <a:prstGeom prst="rect">
            <a:avLst/>
          </a:prstGeom>
          <a:noFill/>
        </p:spPr>
        <p:txBody>
          <a:bodyPr wrap="square" anchor="t">
            <a:spAutoFit/>
          </a:bodyPr>
          <a:lstStyle/>
          <a:p>
            <a:pPr algn="l"/>
            <a:r>
              <a:rPr sz="1700" b="1">
                <a:solidFill>
                  <a:srgbClr val="F8FAFC"/>
                </a:solidFill>
                <a:latin typeface="Aptos"/>
              </a:rPr>
              <a:t>Practice</a:t>
            </a:r>
          </a:p>
        </p:txBody>
      </p:sp>
      <p:sp>
        <p:nvSpPr>
          <p:cNvPr id="29" name="TextBox 28"/>
          <p:cNvSpPr txBox="1"/>
          <p:nvPr/>
        </p:nvSpPr>
        <p:spPr>
          <a:xfrm>
            <a:off x="1645920" y="5276088"/>
            <a:ext cx="4069080" cy="182880"/>
          </a:xfrm>
          <a:prstGeom prst="rect">
            <a:avLst/>
          </a:prstGeom>
          <a:noFill/>
        </p:spPr>
        <p:txBody>
          <a:bodyPr wrap="square" anchor="t">
            <a:spAutoFit/>
          </a:bodyPr>
          <a:lstStyle/>
          <a:p>
            <a:pPr algn="l"/>
            <a:r>
              <a:rPr sz="1250" b="0">
                <a:solidFill>
                  <a:srgbClr val="E1EAF4"/>
                </a:solidFill>
                <a:latin typeface="Aptos"/>
              </a:rPr>
              <a:t>Evaluate outputs, verify answers and complete a mini project.</a:t>
            </a:r>
          </a:p>
        </p:txBody>
      </p:sp>
      <p:sp>
        <p:nvSpPr>
          <p:cNvPr id="30" name="TextBox 29"/>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ROADMAP</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From AI foundations to practical Generative AI</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A progressive path: understand → compare → experiment → build.</a:t>
            </a:r>
          </a:p>
        </p:txBody>
      </p:sp>
      <p:sp>
        <p:nvSpPr>
          <p:cNvPr id="5" name="Rounded Rectangle 4"/>
          <p:cNvSpPr/>
          <p:nvPr/>
        </p:nvSpPr>
        <p:spPr>
          <a:xfrm>
            <a:off x="685800" y="214884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313432"/>
            <a:ext cx="411480" cy="320040"/>
          </a:xfrm>
          <a:prstGeom prst="rect">
            <a:avLst/>
          </a:prstGeom>
          <a:noFill/>
        </p:spPr>
        <p:txBody>
          <a:bodyPr wrap="square" anchor="t">
            <a:spAutoFit/>
          </a:bodyPr>
          <a:lstStyle/>
          <a:p>
            <a:pPr algn="l"/>
            <a:r>
              <a:rPr sz="1200" b="1">
                <a:solidFill>
                  <a:srgbClr val="64D2BE"/>
                </a:solidFill>
                <a:latin typeface="Aptos"/>
              </a:rPr>
              <a:t>01</a:t>
            </a:r>
          </a:p>
        </p:txBody>
      </p:sp>
      <p:sp>
        <p:nvSpPr>
          <p:cNvPr id="7" name="TextBox 6"/>
          <p:cNvSpPr txBox="1"/>
          <p:nvPr/>
        </p:nvSpPr>
        <p:spPr>
          <a:xfrm>
            <a:off x="1344168" y="2313432"/>
            <a:ext cx="1554480" cy="640080"/>
          </a:xfrm>
          <a:prstGeom prst="rect">
            <a:avLst/>
          </a:prstGeom>
          <a:noFill/>
        </p:spPr>
        <p:txBody>
          <a:bodyPr wrap="square" anchor="t">
            <a:spAutoFit/>
          </a:bodyPr>
          <a:lstStyle/>
          <a:p>
            <a:pPr algn="l"/>
            <a:r>
              <a:rPr sz="1600" b="1">
                <a:solidFill>
                  <a:srgbClr val="F8FAFC"/>
                </a:solidFill>
                <a:latin typeface="Aptos"/>
              </a:rPr>
              <a:t>AI foundations</a:t>
            </a:r>
          </a:p>
        </p:txBody>
      </p:sp>
      <p:sp>
        <p:nvSpPr>
          <p:cNvPr id="8" name="Rounded Rectangle 7"/>
          <p:cNvSpPr/>
          <p:nvPr/>
        </p:nvSpPr>
        <p:spPr>
          <a:xfrm>
            <a:off x="3474720" y="214884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2313432"/>
            <a:ext cx="411480" cy="320040"/>
          </a:xfrm>
          <a:prstGeom prst="rect">
            <a:avLst/>
          </a:prstGeom>
          <a:noFill/>
        </p:spPr>
        <p:txBody>
          <a:bodyPr wrap="square" anchor="t">
            <a:spAutoFit/>
          </a:bodyPr>
          <a:lstStyle/>
          <a:p>
            <a:pPr algn="l"/>
            <a:r>
              <a:rPr sz="1200" b="1">
                <a:solidFill>
                  <a:srgbClr val="64D2BE"/>
                </a:solidFill>
                <a:latin typeface="Aptos"/>
              </a:rPr>
              <a:t>02</a:t>
            </a:r>
          </a:p>
        </p:txBody>
      </p:sp>
      <p:sp>
        <p:nvSpPr>
          <p:cNvPr id="10" name="TextBox 9"/>
          <p:cNvSpPr txBox="1"/>
          <p:nvPr/>
        </p:nvSpPr>
        <p:spPr>
          <a:xfrm>
            <a:off x="4133087" y="2313432"/>
            <a:ext cx="1554480" cy="640080"/>
          </a:xfrm>
          <a:prstGeom prst="rect">
            <a:avLst/>
          </a:prstGeom>
          <a:noFill/>
        </p:spPr>
        <p:txBody>
          <a:bodyPr wrap="square" anchor="t">
            <a:spAutoFit/>
          </a:bodyPr>
          <a:lstStyle/>
          <a:p>
            <a:pPr algn="l"/>
            <a:r>
              <a:rPr sz="1600" b="1">
                <a:solidFill>
                  <a:srgbClr val="F8FAFC"/>
                </a:solidFill>
                <a:latin typeface="Aptos"/>
              </a:rPr>
              <a:t>History &amp; evolution</a:t>
            </a:r>
          </a:p>
        </p:txBody>
      </p:sp>
      <p:sp>
        <p:nvSpPr>
          <p:cNvPr id="11" name="Rounded Rectangle 10"/>
          <p:cNvSpPr/>
          <p:nvPr/>
        </p:nvSpPr>
        <p:spPr>
          <a:xfrm>
            <a:off x="6263640" y="214884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1" y="2313432"/>
            <a:ext cx="411480" cy="320040"/>
          </a:xfrm>
          <a:prstGeom prst="rect">
            <a:avLst/>
          </a:prstGeom>
          <a:noFill/>
        </p:spPr>
        <p:txBody>
          <a:bodyPr wrap="square" anchor="t">
            <a:spAutoFit/>
          </a:bodyPr>
          <a:lstStyle/>
          <a:p>
            <a:pPr algn="l"/>
            <a:r>
              <a:rPr sz="1200" b="1">
                <a:solidFill>
                  <a:srgbClr val="64D2BE"/>
                </a:solidFill>
                <a:latin typeface="Aptos"/>
              </a:rPr>
              <a:t>03</a:t>
            </a:r>
          </a:p>
        </p:txBody>
      </p:sp>
      <p:sp>
        <p:nvSpPr>
          <p:cNvPr id="13" name="TextBox 12"/>
          <p:cNvSpPr txBox="1"/>
          <p:nvPr/>
        </p:nvSpPr>
        <p:spPr>
          <a:xfrm>
            <a:off x="6922007" y="2313432"/>
            <a:ext cx="1554480" cy="640080"/>
          </a:xfrm>
          <a:prstGeom prst="rect">
            <a:avLst/>
          </a:prstGeom>
          <a:noFill/>
        </p:spPr>
        <p:txBody>
          <a:bodyPr wrap="square" anchor="t">
            <a:spAutoFit/>
          </a:bodyPr>
          <a:lstStyle/>
          <a:p>
            <a:pPr algn="l"/>
            <a:r>
              <a:rPr sz="1600" b="1">
                <a:solidFill>
                  <a:srgbClr val="F8FAFC"/>
                </a:solidFill>
                <a:latin typeface="Aptos"/>
              </a:rPr>
              <a:t>AI vs ML vs DL</a:t>
            </a:r>
          </a:p>
        </p:txBody>
      </p:sp>
      <p:sp>
        <p:nvSpPr>
          <p:cNvPr id="14" name="Rounded Rectangle 13"/>
          <p:cNvSpPr/>
          <p:nvPr/>
        </p:nvSpPr>
        <p:spPr>
          <a:xfrm>
            <a:off x="9052559" y="214884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17151" y="2313432"/>
            <a:ext cx="411480" cy="320040"/>
          </a:xfrm>
          <a:prstGeom prst="rect">
            <a:avLst/>
          </a:prstGeom>
          <a:noFill/>
        </p:spPr>
        <p:txBody>
          <a:bodyPr wrap="square" anchor="t">
            <a:spAutoFit/>
          </a:bodyPr>
          <a:lstStyle/>
          <a:p>
            <a:pPr algn="l"/>
            <a:r>
              <a:rPr sz="1200" b="1">
                <a:solidFill>
                  <a:srgbClr val="64D2BE"/>
                </a:solidFill>
                <a:latin typeface="Aptos"/>
              </a:rPr>
              <a:t>04</a:t>
            </a:r>
          </a:p>
        </p:txBody>
      </p:sp>
      <p:sp>
        <p:nvSpPr>
          <p:cNvPr id="16" name="TextBox 15"/>
          <p:cNvSpPr txBox="1"/>
          <p:nvPr/>
        </p:nvSpPr>
        <p:spPr>
          <a:xfrm>
            <a:off x="9710928" y="2313432"/>
            <a:ext cx="1554480" cy="640080"/>
          </a:xfrm>
          <a:prstGeom prst="rect">
            <a:avLst/>
          </a:prstGeom>
          <a:noFill/>
        </p:spPr>
        <p:txBody>
          <a:bodyPr wrap="square" anchor="t">
            <a:spAutoFit/>
          </a:bodyPr>
          <a:lstStyle/>
          <a:p>
            <a:pPr algn="l"/>
            <a:r>
              <a:rPr sz="1600" b="1">
                <a:solidFill>
                  <a:srgbClr val="F8FAFC"/>
                </a:solidFill>
                <a:latin typeface="Aptos"/>
              </a:rPr>
              <a:t>LLMs &amp; GenAI</a:t>
            </a:r>
          </a:p>
        </p:txBody>
      </p:sp>
      <p:sp>
        <p:nvSpPr>
          <p:cNvPr id="17" name="Rounded Rectangle 16"/>
          <p:cNvSpPr/>
          <p:nvPr/>
        </p:nvSpPr>
        <p:spPr>
          <a:xfrm>
            <a:off x="685800" y="356616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30752"/>
            <a:ext cx="411480" cy="320040"/>
          </a:xfrm>
          <a:prstGeom prst="rect">
            <a:avLst/>
          </a:prstGeom>
          <a:noFill/>
        </p:spPr>
        <p:txBody>
          <a:bodyPr wrap="square" anchor="t">
            <a:spAutoFit/>
          </a:bodyPr>
          <a:lstStyle/>
          <a:p>
            <a:pPr algn="l"/>
            <a:r>
              <a:rPr sz="1200" b="1">
                <a:solidFill>
                  <a:srgbClr val="64D2BE"/>
                </a:solidFill>
                <a:latin typeface="Aptos"/>
              </a:rPr>
              <a:t>05</a:t>
            </a:r>
          </a:p>
        </p:txBody>
      </p:sp>
      <p:sp>
        <p:nvSpPr>
          <p:cNvPr id="19" name="TextBox 18"/>
          <p:cNvSpPr txBox="1"/>
          <p:nvPr/>
        </p:nvSpPr>
        <p:spPr>
          <a:xfrm>
            <a:off x="1344168" y="3730752"/>
            <a:ext cx="1554480" cy="640080"/>
          </a:xfrm>
          <a:prstGeom prst="rect">
            <a:avLst/>
          </a:prstGeom>
          <a:noFill/>
        </p:spPr>
        <p:txBody>
          <a:bodyPr wrap="square" anchor="t">
            <a:spAutoFit/>
          </a:bodyPr>
          <a:lstStyle/>
          <a:p>
            <a:pPr algn="l"/>
            <a:r>
              <a:rPr sz="1600" b="1">
                <a:solidFill>
                  <a:srgbClr val="F8FAFC"/>
                </a:solidFill>
                <a:latin typeface="Aptos"/>
              </a:rPr>
              <a:t>Tokens &amp; embeddings</a:t>
            </a:r>
          </a:p>
        </p:txBody>
      </p:sp>
      <p:sp>
        <p:nvSpPr>
          <p:cNvPr id="20" name="Rounded Rectangle 19"/>
          <p:cNvSpPr/>
          <p:nvPr/>
        </p:nvSpPr>
        <p:spPr>
          <a:xfrm>
            <a:off x="3474720" y="356616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9312" y="3730752"/>
            <a:ext cx="411480" cy="320040"/>
          </a:xfrm>
          <a:prstGeom prst="rect">
            <a:avLst/>
          </a:prstGeom>
          <a:noFill/>
        </p:spPr>
        <p:txBody>
          <a:bodyPr wrap="square" anchor="t">
            <a:spAutoFit/>
          </a:bodyPr>
          <a:lstStyle/>
          <a:p>
            <a:pPr algn="l"/>
            <a:r>
              <a:rPr sz="1200" b="1">
                <a:solidFill>
                  <a:srgbClr val="64D2BE"/>
                </a:solidFill>
                <a:latin typeface="Aptos"/>
              </a:rPr>
              <a:t>06</a:t>
            </a:r>
          </a:p>
        </p:txBody>
      </p:sp>
      <p:sp>
        <p:nvSpPr>
          <p:cNvPr id="22" name="TextBox 21"/>
          <p:cNvSpPr txBox="1"/>
          <p:nvPr/>
        </p:nvSpPr>
        <p:spPr>
          <a:xfrm>
            <a:off x="4133087" y="3730752"/>
            <a:ext cx="1554480" cy="640080"/>
          </a:xfrm>
          <a:prstGeom prst="rect">
            <a:avLst/>
          </a:prstGeom>
          <a:noFill/>
        </p:spPr>
        <p:txBody>
          <a:bodyPr wrap="square" anchor="t">
            <a:spAutoFit/>
          </a:bodyPr>
          <a:lstStyle/>
          <a:p>
            <a:pPr algn="l"/>
            <a:r>
              <a:rPr sz="1600" b="1">
                <a:solidFill>
                  <a:srgbClr val="F8FAFC"/>
                </a:solidFill>
                <a:latin typeface="Aptos"/>
              </a:rPr>
              <a:t>Prompt engineering</a:t>
            </a:r>
          </a:p>
        </p:txBody>
      </p:sp>
      <p:sp>
        <p:nvSpPr>
          <p:cNvPr id="23" name="Rounded Rectangle 22"/>
          <p:cNvSpPr/>
          <p:nvPr/>
        </p:nvSpPr>
        <p:spPr>
          <a:xfrm>
            <a:off x="6263640" y="356616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1" y="3730752"/>
            <a:ext cx="411480" cy="320040"/>
          </a:xfrm>
          <a:prstGeom prst="rect">
            <a:avLst/>
          </a:prstGeom>
          <a:noFill/>
        </p:spPr>
        <p:txBody>
          <a:bodyPr wrap="square" anchor="t">
            <a:spAutoFit/>
          </a:bodyPr>
          <a:lstStyle/>
          <a:p>
            <a:pPr algn="l"/>
            <a:r>
              <a:rPr sz="1200" b="1">
                <a:solidFill>
                  <a:srgbClr val="64D2BE"/>
                </a:solidFill>
                <a:latin typeface="Aptos"/>
              </a:rPr>
              <a:t>07</a:t>
            </a:r>
          </a:p>
        </p:txBody>
      </p:sp>
      <p:sp>
        <p:nvSpPr>
          <p:cNvPr id="25" name="TextBox 24"/>
          <p:cNvSpPr txBox="1"/>
          <p:nvPr/>
        </p:nvSpPr>
        <p:spPr>
          <a:xfrm>
            <a:off x="6922007" y="3730752"/>
            <a:ext cx="1554480" cy="640080"/>
          </a:xfrm>
          <a:prstGeom prst="rect">
            <a:avLst/>
          </a:prstGeom>
          <a:noFill/>
        </p:spPr>
        <p:txBody>
          <a:bodyPr wrap="square" anchor="t">
            <a:spAutoFit/>
          </a:bodyPr>
          <a:lstStyle/>
          <a:p>
            <a:pPr algn="l"/>
            <a:r>
              <a:rPr sz="1600" b="1">
                <a:solidFill>
                  <a:srgbClr val="F8FAFC"/>
                </a:solidFill>
                <a:latin typeface="Aptos"/>
              </a:rPr>
              <a:t>Hands-on labs</a:t>
            </a:r>
          </a:p>
        </p:txBody>
      </p:sp>
      <p:sp>
        <p:nvSpPr>
          <p:cNvPr id="26" name="Rounded Rectangle 25"/>
          <p:cNvSpPr/>
          <p:nvPr/>
        </p:nvSpPr>
        <p:spPr>
          <a:xfrm>
            <a:off x="9052559" y="3566160"/>
            <a:ext cx="2423160" cy="10515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1" y="3730752"/>
            <a:ext cx="411480" cy="320040"/>
          </a:xfrm>
          <a:prstGeom prst="rect">
            <a:avLst/>
          </a:prstGeom>
          <a:noFill/>
        </p:spPr>
        <p:txBody>
          <a:bodyPr wrap="square" anchor="t">
            <a:spAutoFit/>
          </a:bodyPr>
          <a:lstStyle/>
          <a:p>
            <a:pPr algn="l"/>
            <a:r>
              <a:rPr sz="1200" b="1">
                <a:solidFill>
                  <a:srgbClr val="64D2BE"/>
                </a:solidFill>
                <a:latin typeface="Aptos"/>
              </a:rPr>
              <a:t>08</a:t>
            </a:r>
          </a:p>
        </p:txBody>
      </p:sp>
      <p:sp>
        <p:nvSpPr>
          <p:cNvPr id="28" name="TextBox 27"/>
          <p:cNvSpPr txBox="1"/>
          <p:nvPr/>
        </p:nvSpPr>
        <p:spPr>
          <a:xfrm>
            <a:off x="9710928" y="3730752"/>
            <a:ext cx="1554480" cy="640080"/>
          </a:xfrm>
          <a:prstGeom prst="rect">
            <a:avLst/>
          </a:prstGeom>
          <a:noFill/>
        </p:spPr>
        <p:txBody>
          <a:bodyPr wrap="square" anchor="t">
            <a:spAutoFit/>
          </a:bodyPr>
          <a:lstStyle/>
          <a:p>
            <a:pPr algn="l"/>
            <a:r>
              <a:rPr sz="1600" b="1">
                <a:solidFill>
                  <a:srgbClr val="F8FAFC"/>
                </a:solidFill>
                <a:latin typeface="Aptos"/>
              </a:rPr>
              <a:t>Mini project</a:t>
            </a:r>
          </a:p>
        </p:txBody>
      </p:sp>
      <p:sp>
        <p:nvSpPr>
          <p:cNvPr id="29" name="TextBox 28"/>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01 · AI FOUNDATIONS</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What is Artificial Intelligence?</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AI is a broad field focused on systems that perform tasks associated with intelligent behavior.</a:t>
            </a:r>
          </a:p>
        </p:txBody>
      </p:sp>
      <p:pic>
        <p:nvPicPr>
          <p:cNvPr id="5" name="Picture 4" descr="brain.png"/>
          <p:cNvPicPr>
            <a:picLocks noChangeAspect="1"/>
          </p:cNvPicPr>
          <p:nvPr/>
        </p:nvPicPr>
        <p:blipFill>
          <a:blip r:embed="rId2"/>
          <a:stretch>
            <a:fillRect/>
          </a:stretch>
        </p:blipFill>
        <p:spPr>
          <a:xfrm>
            <a:off x="8961120" y="1920240"/>
            <a:ext cx="2377440" cy="1417320"/>
          </a:xfrm>
          <a:prstGeom prst="rect">
            <a:avLst/>
          </a:prstGeom>
        </p:spPr>
      </p:pic>
      <p:sp>
        <p:nvSpPr>
          <p:cNvPr id="6" name="Rounded Rectangle 5"/>
          <p:cNvSpPr/>
          <p:nvPr/>
        </p:nvSpPr>
        <p:spPr>
          <a:xfrm>
            <a:off x="685800" y="2057400"/>
            <a:ext cx="3840480" cy="11887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57400"/>
            <a:ext cx="64008" cy="118872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58568"/>
            <a:ext cx="3429000" cy="365760"/>
          </a:xfrm>
          <a:prstGeom prst="rect">
            <a:avLst/>
          </a:prstGeom>
          <a:noFill/>
        </p:spPr>
        <p:txBody>
          <a:bodyPr wrap="square" anchor="t">
            <a:spAutoFit/>
          </a:bodyPr>
          <a:lstStyle/>
          <a:p>
            <a:pPr algn="l"/>
            <a:r>
              <a:rPr sz="1700" b="1">
                <a:solidFill>
                  <a:srgbClr val="F8FAFC"/>
                </a:solidFill>
                <a:latin typeface="Aptos"/>
              </a:rPr>
              <a:t>Perception</a:t>
            </a:r>
          </a:p>
        </p:txBody>
      </p:sp>
      <p:sp>
        <p:nvSpPr>
          <p:cNvPr id="9" name="TextBox 8"/>
          <p:cNvSpPr txBox="1"/>
          <p:nvPr/>
        </p:nvSpPr>
        <p:spPr>
          <a:xfrm>
            <a:off x="914400" y="2715768"/>
            <a:ext cx="3383280" cy="365760"/>
          </a:xfrm>
          <a:prstGeom prst="rect">
            <a:avLst/>
          </a:prstGeom>
          <a:noFill/>
        </p:spPr>
        <p:txBody>
          <a:bodyPr wrap="square" anchor="t">
            <a:spAutoFit/>
          </a:bodyPr>
          <a:lstStyle/>
          <a:p>
            <a:pPr algn="l"/>
            <a:r>
              <a:rPr sz="1250" b="0">
                <a:solidFill>
                  <a:srgbClr val="E1EAF4"/>
                </a:solidFill>
                <a:latin typeface="Aptos"/>
              </a:rPr>
              <a:t>Interpret images, speech, text and other inputs.</a:t>
            </a:r>
          </a:p>
        </p:txBody>
      </p:sp>
      <p:sp>
        <p:nvSpPr>
          <p:cNvPr id="10" name="Rounded Rectangle 9"/>
          <p:cNvSpPr/>
          <p:nvPr/>
        </p:nvSpPr>
        <p:spPr>
          <a:xfrm>
            <a:off x="4846320" y="2057400"/>
            <a:ext cx="3840480" cy="11887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46320" y="2057400"/>
            <a:ext cx="64008" cy="118872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4920" y="2258568"/>
            <a:ext cx="3429000" cy="365760"/>
          </a:xfrm>
          <a:prstGeom prst="rect">
            <a:avLst/>
          </a:prstGeom>
          <a:noFill/>
        </p:spPr>
        <p:txBody>
          <a:bodyPr wrap="square" anchor="t">
            <a:spAutoFit/>
          </a:bodyPr>
          <a:lstStyle/>
          <a:p>
            <a:pPr algn="l"/>
            <a:r>
              <a:rPr sz="1700" b="1">
                <a:solidFill>
                  <a:srgbClr val="F8FAFC"/>
                </a:solidFill>
                <a:latin typeface="Aptos"/>
              </a:rPr>
              <a:t>Learning</a:t>
            </a:r>
          </a:p>
        </p:txBody>
      </p:sp>
      <p:sp>
        <p:nvSpPr>
          <p:cNvPr id="13" name="TextBox 12"/>
          <p:cNvSpPr txBox="1"/>
          <p:nvPr/>
        </p:nvSpPr>
        <p:spPr>
          <a:xfrm>
            <a:off x="5074920" y="2715768"/>
            <a:ext cx="3383280" cy="365760"/>
          </a:xfrm>
          <a:prstGeom prst="rect">
            <a:avLst/>
          </a:prstGeom>
          <a:noFill/>
        </p:spPr>
        <p:txBody>
          <a:bodyPr wrap="square" anchor="t">
            <a:spAutoFit/>
          </a:bodyPr>
          <a:lstStyle/>
          <a:p>
            <a:pPr algn="l"/>
            <a:r>
              <a:rPr sz="1250" b="0">
                <a:solidFill>
                  <a:srgbClr val="E1EAF4"/>
                </a:solidFill>
                <a:latin typeface="Aptos"/>
              </a:rPr>
              <a:t>Find patterns from examples and feedback.</a:t>
            </a:r>
          </a:p>
        </p:txBody>
      </p:sp>
      <p:sp>
        <p:nvSpPr>
          <p:cNvPr id="14" name="Rounded Rectangle 13"/>
          <p:cNvSpPr/>
          <p:nvPr/>
        </p:nvSpPr>
        <p:spPr>
          <a:xfrm>
            <a:off x="685800" y="3566160"/>
            <a:ext cx="3840480" cy="11887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66160"/>
            <a:ext cx="64008" cy="118872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67328"/>
            <a:ext cx="3429000" cy="365760"/>
          </a:xfrm>
          <a:prstGeom prst="rect">
            <a:avLst/>
          </a:prstGeom>
          <a:noFill/>
        </p:spPr>
        <p:txBody>
          <a:bodyPr wrap="square" anchor="t">
            <a:spAutoFit/>
          </a:bodyPr>
          <a:lstStyle/>
          <a:p>
            <a:pPr algn="l"/>
            <a:r>
              <a:rPr sz="1700" b="1">
                <a:solidFill>
                  <a:srgbClr val="F8FAFC"/>
                </a:solidFill>
                <a:latin typeface="Aptos"/>
              </a:rPr>
              <a:t>Reasoning</a:t>
            </a:r>
          </a:p>
        </p:txBody>
      </p:sp>
      <p:sp>
        <p:nvSpPr>
          <p:cNvPr id="17" name="TextBox 16"/>
          <p:cNvSpPr txBox="1"/>
          <p:nvPr/>
        </p:nvSpPr>
        <p:spPr>
          <a:xfrm>
            <a:off x="914400" y="4224528"/>
            <a:ext cx="3383280" cy="365760"/>
          </a:xfrm>
          <a:prstGeom prst="rect">
            <a:avLst/>
          </a:prstGeom>
          <a:noFill/>
        </p:spPr>
        <p:txBody>
          <a:bodyPr wrap="square" anchor="t">
            <a:spAutoFit/>
          </a:bodyPr>
          <a:lstStyle/>
          <a:p>
            <a:pPr algn="l"/>
            <a:r>
              <a:rPr sz="1250" b="0">
                <a:solidFill>
                  <a:srgbClr val="E1EAF4"/>
                </a:solidFill>
                <a:latin typeface="Aptos"/>
              </a:rPr>
              <a:t>Use information to support decisions or predictions.</a:t>
            </a:r>
          </a:p>
        </p:txBody>
      </p:sp>
      <p:sp>
        <p:nvSpPr>
          <p:cNvPr id="18" name="Rounded Rectangle 17"/>
          <p:cNvSpPr/>
          <p:nvPr/>
        </p:nvSpPr>
        <p:spPr>
          <a:xfrm>
            <a:off x="4846320" y="3566160"/>
            <a:ext cx="3840480" cy="11887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46320" y="3566160"/>
            <a:ext cx="64008" cy="118872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74920" y="3767328"/>
            <a:ext cx="3429000" cy="365760"/>
          </a:xfrm>
          <a:prstGeom prst="rect">
            <a:avLst/>
          </a:prstGeom>
          <a:noFill/>
        </p:spPr>
        <p:txBody>
          <a:bodyPr wrap="square" anchor="t">
            <a:spAutoFit/>
          </a:bodyPr>
          <a:lstStyle/>
          <a:p>
            <a:pPr algn="l"/>
            <a:r>
              <a:rPr sz="1700" b="1">
                <a:solidFill>
                  <a:srgbClr val="F8FAFC"/>
                </a:solidFill>
                <a:latin typeface="Aptos"/>
              </a:rPr>
              <a:t>Language</a:t>
            </a:r>
          </a:p>
        </p:txBody>
      </p:sp>
      <p:sp>
        <p:nvSpPr>
          <p:cNvPr id="21" name="TextBox 20"/>
          <p:cNvSpPr txBox="1"/>
          <p:nvPr/>
        </p:nvSpPr>
        <p:spPr>
          <a:xfrm>
            <a:off x="5074920" y="4224528"/>
            <a:ext cx="3383280" cy="365760"/>
          </a:xfrm>
          <a:prstGeom prst="rect">
            <a:avLst/>
          </a:prstGeom>
          <a:noFill/>
        </p:spPr>
        <p:txBody>
          <a:bodyPr wrap="square" anchor="t">
            <a:spAutoFit/>
          </a:bodyPr>
          <a:lstStyle/>
          <a:p>
            <a:pPr algn="l"/>
            <a:r>
              <a:rPr sz="1250" b="0">
                <a:solidFill>
                  <a:srgbClr val="E1EAF4"/>
                </a:solidFill>
                <a:latin typeface="Aptos"/>
              </a:rPr>
              <a:t>Understand or generate human language.</a:t>
            </a:r>
          </a:p>
        </p:txBody>
      </p:sp>
      <p:sp>
        <p:nvSpPr>
          <p:cNvPr id="22" name="TextBox 21"/>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01 · AI FOUNDATIONS</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AI is not the same as automation</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Use this comparison to prevent a common beginner misconception.</a:t>
            </a:r>
          </a:p>
        </p:txBody>
      </p:sp>
      <p:sp>
        <p:nvSpPr>
          <p:cNvPr id="5" name="Rounded Rectangle 4"/>
          <p:cNvSpPr/>
          <p:nvPr/>
        </p:nvSpPr>
        <p:spPr>
          <a:xfrm>
            <a:off x="685800" y="2057400"/>
            <a:ext cx="5212080" cy="26517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57400"/>
            <a:ext cx="64008" cy="265176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4800600" cy="365760"/>
          </a:xfrm>
          <a:prstGeom prst="rect">
            <a:avLst/>
          </a:prstGeom>
          <a:noFill/>
        </p:spPr>
        <p:txBody>
          <a:bodyPr wrap="square" anchor="t">
            <a:spAutoFit/>
          </a:bodyPr>
          <a:lstStyle/>
          <a:p>
            <a:pPr algn="l"/>
            <a:r>
              <a:rPr sz="1700" b="1">
                <a:solidFill>
                  <a:srgbClr val="F8FAFC"/>
                </a:solidFill>
                <a:latin typeface="Aptos"/>
              </a:rPr>
              <a:t>Traditional automation</a:t>
            </a:r>
          </a:p>
        </p:txBody>
      </p:sp>
      <p:sp>
        <p:nvSpPr>
          <p:cNvPr id="8" name="TextBox 7"/>
          <p:cNvSpPr txBox="1"/>
          <p:nvPr/>
        </p:nvSpPr>
        <p:spPr>
          <a:xfrm>
            <a:off x="914400" y="2715768"/>
            <a:ext cx="4754880" cy="1828800"/>
          </a:xfrm>
          <a:prstGeom prst="rect">
            <a:avLst/>
          </a:prstGeom>
          <a:noFill/>
        </p:spPr>
        <p:txBody>
          <a:bodyPr wrap="square" anchor="t">
            <a:spAutoFit/>
          </a:bodyPr>
          <a:lstStyle/>
          <a:p>
            <a:pPr algn="l"/>
            <a:r>
              <a:rPr sz="1250" b="0">
                <a:solidFill>
                  <a:srgbClr val="E1EAF4"/>
                </a:solidFill>
                <a:latin typeface="Aptos"/>
              </a:rPr>
              <a:t>Human writes explicit rules.</a:t>
            </a:r>
            <a:br/>
            <a:br/>
            <a:r>
              <a:rPr sz="1250" b="0">
                <a:solidFill>
                  <a:srgbClr val="E1EAF4"/>
                </a:solidFill>
                <a:latin typeface="Aptos"/>
              </a:rPr>
              <a:t>Input → fixed rules → output</a:t>
            </a:r>
            <a:br/>
            <a:br/>
            <a:r>
              <a:rPr sz="1250" b="0">
                <a:solidFill>
                  <a:srgbClr val="E1EAF4"/>
                </a:solidFill>
                <a:latin typeface="Aptos"/>
              </a:rPr>
              <a:t>Example: IF invoice total &gt; threshold, send for approval.</a:t>
            </a:r>
          </a:p>
        </p:txBody>
      </p:sp>
      <p:sp>
        <p:nvSpPr>
          <p:cNvPr id="9" name="Rounded Rectangle 8"/>
          <p:cNvSpPr/>
          <p:nvPr/>
        </p:nvSpPr>
        <p:spPr>
          <a:xfrm>
            <a:off x="6263640" y="2057400"/>
            <a:ext cx="5212080" cy="26517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057400"/>
            <a:ext cx="64008" cy="265176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258568"/>
            <a:ext cx="4800600" cy="365760"/>
          </a:xfrm>
          <a:prstGeom prst="rect">
            <a:avLst/>
          </a:prstGeom>
          <a:noFill/>
        </p:spPr>
        <p:txBody>
          <a:bodyPr wrap="square" anchor="t">
            <a:spAutoFit/>
          </a:bodyPr>
          <a:lstStyle/>
          <a:p>
            <a:pPr algn="l"/>
            <a:r>
              <a:rPr sz="1700" b="1">
                <a:solidFill>
                  <a:srgbClr val="F8FAFC"/>
                </a:solidFill>
                <a:latin typeface="Aptos"/>
              </a:rPr>
              <a:t>AI / ML system</a:t>
            </a:r>
          </a:p>
        </p:txBody>
      </p:sp>
      <p:sp>
        <p:nvSpPr>
          <p:cNvPr id="12" name="TextBox 11"/>
          <p:cNvSpPr txBox="1"/>
          <p:nvPr/>
        </p:nvSpPr>
        <p:spPr>
          <a:xfrm>
            <a:off x="6492240" y="2715768"/>
            <a:ext cx="4754880" cy="1828800"/>
          </a:xfrm>
          <a:prstGeom prst="rect">
            <a:avLst/>
          </a:prstGeom>
          <a:noFill/>
        </p:spPr>
        <p:txBody>
          <a:bodyPr wrap="square" anchor="t">
            <a:spAutoFit/>
          </a:bodyPr>
          <a:lstStyle/>
          <a:p>
            <a:pPr algn="l"/>
            <a:r>
              <a:rPr sz="1250" b="0">
                <a:solidFill>
                  <a:srgbClr val="E1EAF4"/>
                </a:solidFill>
                <a:latin typeface="Aptos"/>
              </a:rPr>
              <a:t>System can learn patterns or use intelligent methods.</a:t>
            </a:r>
            <a:br/>
            <a:br/>
            <a:r>
              <a:rPr sz="1250" b="0">
                <a:solidFill>
                  <a:srgbClr val="E1EAF4"/>
                </a:solidFill>
                <a:latin typeface="Aptos"/>
              </a:rPr>
              <a:t>Data + model → prediction / generation</a:t>
            </a:r>
            <a:br/>
            <a:br/>
            <a:r>
              <a:rPr sz="1250" b="0">
                <a:solidFill>
                  <a:srgbClr val="E1EAF4"/>
                </a:solidFill>
                <a:latin typeface="Aptos"/>
              </a:rPr>
              <a:t>Example: classify suspicious transactions from historical patterns.</a:t>
            </a:r>
          </a:p>
        </p:txBody>
      </p:sp>
      <p:sp>
        <p:nvSpPr>
          <p:cNvPr id="13" name="TextBox 12"/>
          <p:cNvSpPr txBox="1"/>
          <p:nvPr/>
        </p:nvSpPr>
        <p:spPr>
          <a:xfrm>
            <a:off x="914400" y="5166360"/>
            <a:ext cx="10058400" cy="502920"/>
          </a:xfrm>
          <a:prstGeom prst="rect">
            <a:avLst/>
          </a:prstGeom>
          <a:noFill/>
        </p:spPr>
        <p:txBody>
          <a:bodyPr wrap="square" anchor="t">
            <a:spAutoFit/>
          </a:bodyPr>
          <a:lstStyle/>
          <a:p>
            <a:pPr algn="ctr"/>
            <a:r>
              <a:rPr sz="1600" b="1">
                <a:solidFill>
                  <a:srgbClr val="F4A94A"/>
                </a:solidFill>
                <a:latin typeface="Aptos"/>
              </a:rPr>
              <a:t>Discussion: Is a calculator AI? Is a rule-based tax form automation AI? Why or why not?</a:t>
            </a:r>
          </a:p>
        </p:txBody>
      </p:sp>
      <p:sp>
        <p:nvSpPr>
          <p:cNvPr id="14" name="TextBox 13"/>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01 · AI FOUNDATIONS</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AI around us</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Ask students to identify the intelligent capability behind each example.</a:t>
            </a:r>
          </a:p>
        </p:txBody>
      </p:sp>
      <p:sp>
        <p:nvSpPr>
          <p:cNvPr id="5" name="Rounded Rectangle 4"/>
          <p:cNvSpPr/>
          <p:nvPr/>
        </p:nvSpPr>
        <p:spPr>
          <a:xfrm>
            <a:off x="685800" y="205740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57400"/>
            <a:ext cx="64008" cy="10972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3017520" cy="365760"/>
          </a:xfrm>
          <a:prstGeom prst="rect">
            <a:avLst/>
          </a:prstGeom>
          <a:noFill/>
        </p:spPr>
        <p:txBody>
          <a:bodyPr wrap="square" anchor="t">
            <a:spAutoFit/>
          </a:bodyPr>
          <a:lstStyle/>
          <a:p>
            <a:pPr algn="l"/>
            <a:r>
              <a:rPr sz="1700" b="1">
                <a:solidFill>
                  <a:srgbClr val="F8FAFC"/>
                </a:solidFill>
                <a:latin typeface="Aptos"/>
              </a:rPr>
              <a:t>Face unlock</a:t>
            </a:r>
          </a:p>
        </p:txBody>
      </p:sp>
      <p:sp>
        <p:nvSpPr>
          <p:cNvPr id="8" name="TextBox 7"/>
          <p:cNvSpPr txBox="1"/>
          <p:nvPr/>
        </p:nvSpPr>
        <p:spPr>
          <a:xfrm>
            <a:off x="914400" y="2715768"/>
            <a:ext cx="2971800" cy="274319"/>
          </a:xfrm>
          <a:prstGeom prst="rect">
            <a:avLst/>
          </a:prstGeom>
          <a:noFill/>
        </p:spPr>
        <p:txBody>
          <a:bodyPr wrap="square" anchor="t">
            <a:spAutoFit/>
          </a:bodyPr>
          <a:lstStyle/>
          <a:p>
            <a:pPr algn="l"/>
            <a:r>
              <a:rPr sz="1250" b="0">
                <a:solidFill>
                  <a:srgbClr val="E1EAF4"/>
                </a:solidFill>
                <a:latin typeface="Aptos"/>
              </a:rPr>
              <a:t>Vision / recognition</a:t>
            </a:r>
          </a:p>
        </p:txBody>
      </p:sp>
      <p:sp>
        <p:nvSpPr>
          <p:cNvPr id="9" name="Rounded Rectangle 8"/>
          <p:cNvSpPr/>
          <p:nvPr/>
        </p:nvSpPr>
        <p:spPr>
          <a:xfrm>
            <a:off x="4434840" y="205740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2057400"/>
            <a:ext cx="64008" cy="10972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258568"/>
            <a:ext cx="3017520" cy="365760"/>
          </a:xfrm>
          <a:prstGeom prst="rect">
            <a:avLst/>
          </a:prstGeom>
          <a:noFill/>
        </p:spPr>
        <p:txBody>
          <a:bodyPr wrap="square" anchor="t">
            <a:spAutoFit/>
          </a:bodyPr>
          <a:lstStyle/>
          <a:p>
            <a:pPr algn="l"/>
            <a:r>
              <a:rPr sz="1700" b="1">
                <a:solidFill>
                  <a:srgbClr val="F8FAFC"/>
                </a:solidFill>
                <a:latin typeface="Aptos"/>
              </a:rPr>
              <a:t>Maps</a:t>
            </a:r>
          </a:p>
        </p:txBody>
      </p:sp>
      <p:sp>
        <p:nvSpPr>
          <p:cNvPr id="12" name="TextBox 11"/>
          <p:cNvSpPr txBox="1"/>
          <p:nvPr/>
        </p:nvSpPr>
        <p:spPr>
          <a:xfrm>
            <a:off x="4663440" y="2715768"/>
            <a:ext cx="2971800" cy="274319"/>
          </a:xfrm>
          <a:prstGeom prst="rect">
            <a:avLst/>
          </a:prstGeom>
          <a:noFill/>
        </p:spPr>
        <p:txBody>
          <a:bodyPr wrap="square" anchor="t">
            <a:spAutoFit/>
          </a:bodyPr>
          <a:lstStyle/>
          <a:p>
            <a:pPr algn="l"/>
            <a:r>
              <a:rPr sz="1250" b="0">
                <a:solidFill>
                  <a:srgbClr val="E1EAF4"/>
                </a:solidFill>
                <a:latin typeface="Aptos"/>
              </a:rPr>
              <a:t>Prediction / optimization</a:t>
            </a:r>
          </a:p>
        </p:txBody>
      </p:sp>
      <p:sp>
        <p:nvSpPr>
          <p:cNvPr id="13" name="Rounded Rectangle 12"/>
          <p:cNvSpPr/>
          <p:nvPr/>
        </p:nvSpPr>
        <p:spPr>
          <a:xfrm>
            <a:off x="8183879" y="205740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79" y="2057400"/>
            <a:ext cx="64008" cy="109728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258568"/>
            <a:ext cx="3017520" cy="365760"/>
          </a:xfrm>
          <a:prstGeom prst="rect">
            <a:avLst/>
          </a:prstGeom>
          <a:noFill/>
        </p:spPr>
        <p:txBody>
          <a:bodyPr wrap="square" anchor="t">
            <a:spAutoFit/>
          </a:bodyPr>
          <a:lstStyle/>
          <a:p>
            <a:pPr algn="l"/>
            <a:r>
              <a:rPr sz="1700" b="1">
                <a:solidFill>
                  <a:srgbClr val="F8FAFC"/>
                </a:solidFill>
                <a:latin typeface="Aptos"/>
              </a:rPr>
              <a:t>YouTube</a:t>
            </a:r>
          </a:p>
        </p:txBody>
      </p:sp>
      <p:sp>
        <p:nvSpPr>
          <p:cNvPr id="16" name="TextBox 15"/>
          <p:cNvSpPr txBox="1"/>
          <p:nvPr/>
        </p:nvSpPr>
        <p:spPr>
          <a:xfrm>
            <a:off x="8412480" y="2715768"/>
            <a:ext cx="2971800" cy="274319"/>
          </a:xfrm>
          <a:prstGeom prst="rect">
            <a:avLst/>
          </a:prstGeom>
          <a:noFill/>
        </p:spPr>
        <p:txBody>
          <a:bodyPr wrap="square" anchor="t">
            <a:spAutoFit/>
          </a:bodyPr>
          <a:lstStyle/>
          <a:p>
            <a:pPr algn="l"/>
            <a:r>
              <a:rPr sz="1250" b="0">
                <a:solidFill>
                  <a:srgbClr val="E1EAF4"/>
                </a:solidFill>
                <a:latin typeface="Aptos"/>
              </a:rPr>
              <a:t>Recommendation</a:t>
            </a:r>
          </a:p>
        </p:txBody>
      </p:sp>
      <p:sp>
        <p:nvSpPr>
          <p:cNvPr id="17" name="Rounded Rectangle 16"/>
          <p:cNvSpPr/>
          <p:nvPr/>
        </p:nvSpPr>
        <p:spPr>
          <a:xfrm>
            <a:off x="685800" y="347472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474720"/>
            <a:ext cx="64008" cy="109728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75887"/>
            <a:ext cx="3017520" cy="365760"/>
          </a:xfrm>
          <a:prstGeom prst="rect">
            <a:avLst/>
          </a:prstGeom>
          <a:noFill/>
        </p:spPr>
        <p:txBody>
          <a:bodyPr wrap="square" anchor="t">
            <a:spAutoFit/>
          </a:bodyPr>
          <a:lstStyle/>
          <a:p>
            <a:pPr algn="l"/>
            <a:r>
              <a:rPr sz="1700" b="1">
                <a:solidFill>
                  <a:srgbClr val="F8FAFC"/>
                </a:solidFill>
                <a:latin typeface="Aptos"/>
              </a:rPr>
              <a:t>Spam filter</a:t>
            </a:r>
          </a:p>
        </p:txBody>
      </p:sp>
      <p:sp>
        <p:nvSpPr>
          <p:cNvPr id="20" name="TextBox 19"/>
          <p:cNvSpPr txBox="1"/>
          <p:nvPr/>
        </p:nvSpPr>
        <p:spPr>
          <a:xfrm>
            <a:off x="914400" y="4133087"/>
            <a:ext cx="2971800" cy="274319"/>
          </a:xfrm>
          <a:prstGeom prst="rect">
            <a:avLst/>
          </a:prstGeom>
          <a:noFill/>
        </p:spPr>
        <p:txBody>
          <a:bodyPr wrap="square" anchor="t">
            <a:spAutoFit/>
          </a:bodyPr>
          <a:lstStyle/>
          <a:p>
            <a:pPr algn="l"/>
            <a:r>
              <a:rPr sz="1250" b="0">
                <a:solidFill>
                  <a:srgbClr val="E1EAF4"/>
                </a:solidFill>
                <a:latin typeface="Aptos"/>
              </a:rPr>
              <a:t>Classification</a:t>
            </a:r>
          </a:p>
        </p:txBody>
      </p:sp>
      <p:sp>
        <p:nvSpPr>
          <p:cNvPr id="21" name="Rounded Rectangle 20"/>
          <p:cNvSpPr/>
          <p:nvPr/>
        </p:nvSpPr>
        <p:spPr>
          <a:xfrm>
            <a:off x="4434840" y="347472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474720"/>
            <a:ext cx="64008" cy="10972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3675887"/>
            <a:ext cx="3017520" cy="365760"/>
          </a:xfrm>
          <a:prstGeom prst="rect">
            <a:avLst/>
          </a:prstGeom>
          <a:noFill/>
        </p:spPr>
        <p:txBody>
          <a:bodyPr wrap="square" anchor="t">
            <a:spAutoFit/>
          </a:bodyPr>
          <a:lstStyle/>
          <a:p>
            <a:pPr algn="l"/>
            <a:r>
              <a:rPr sz="1700" b="1">
                <a:solidFill>
                  <a:srgbClr val="F8FAFC"/>
                </a:solidFill>
                <a:latin typeface="Aptos"/>
              </a:rPr>
              <a:t>Chatbot</a:t>
            </a:r>
          </a:p>
        </p:txBody>
      </p:sp>
      <p:sp>
        <p:nvSpPr>
          <p:cNvPr id="24" name="TextBox 23"/>
          <p:cNvSpPr txBox="1"/>
          <p:nvPr/>
        </p:nvSpPr>
        <p:spPr>
          <a:xfrm>
            <a:off x="4663440" y="4133087"/>
            <a:ext cx="2971800" cy="274319"/>
          </a:xfrm>
          <a:prstGeom prst="rect">
            <a:avLst/>
          </a:prstGeom>
          <a:noFill/>
        </p:spPr>
        <p:txBody>
          <a:bodyPr wrap="square" anchor="t">
            <a:spAutoFit/>
          </a:bodyPr>
          <a:lstStyle/>
          <a:p>
            <a:pPr algn="l"/>
            <a:r>
              <a:rPr sz="1250" b="0">
                <a:solidFill>
                  <a:srgbClr val="E1EAF4"/>
                </a:solidFill>
                <a:latin typeface="Aptos"/>
              </a:rPr>
              <a:t>Language generation</a:t>
            </a:r>
          </a:p>
        </p:txBody>
      </p:sp>
      <p:sp>
        <p:nvSpPr>
          <p:cNvPr id="25" name="Rounded Rectangle 24"/>
          <p:cNvSpPr/>
          <p:nvPr/>
        </p:nvSpPr>
        <p:spPr>
          <a:xfrm>
            <a:off x="8183879" y="347472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79" y="3474720"/>
            <a:ext cx="64008" cy="10972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3675887"/>
            <a:ext cx="3017520" cy="365760"/>
          </a:xfrm>
          <a:prstGeom prst="rect">
            <a:avLst/>
          </a:prstGeom>
          <a:noFill/>
        </p:spPr>
        <p:txBody>
          <a:bodyPr wrap="square" anchor="t">
            <a:spAutoFit/>
          </a:bodyPr>
          <a:lstStyle/>
          <a:p>
            <a:pPr algn="l"/>
            <a:r>
              <a:rPr sz="1700" b="1">
                <a:solidFill>
                  <a:srgbClr val="F8FAFC"/>
                </a:solidFill>
                <a:latin typeface="Aptos"/>
              </a:rPr>
              <a:t>Fraud detection</a:t>
            </a:r>
          </a:p>
        </p:txBody>
      </p:sp>
      <p:sp>
        <p:nvSpPr>
          <p:cNvPr id="28" name="TextBox 27"/>
          <p:cNvSpPr txBox="1"/>
          <p:nvPr/>
        </p:nvSpPr>
        <p:spPr>
          <a:xfrm>
            <a:off x="8412480" y="4133087"/>
            <a:ext cx="2971800" cy="274319"/>
          </a:xfrm>
          <a:prstGeom prst="rect">
            <a:avLst/>
          </a:prstGeom>
          <a:noFill/>
        </p:spPr>
        <p:txBody>
          <a:bodyPr wrap="square" anchor="t">
            <a:spAutoFit/>
          </a:bodyPr>
          <a:lstStyle/>
          <a:p>
            <a:pPr algn="l"/>
            <a:r>
              <a:rPr sz="1250" b="0">
                <a:solidFill>
                  <a:srgbClr val="E1EAF4"/>
                </a:solidFill>
                <a:latin typeface="Aptos"/>
              </a:rPr>
              <a:t>Pattern detection</a:t>
            </a:r>
          </a:p>
        </p:txBody>
      </p:sp>
      <p:sp>
        <p:nvSpPr>
          <p:cNvPr id="29" name="TextBox 28"/>
          <p:cNvSpPr txBox="1"/>
          <p:nvPr/>
        </p:nvSpPr>
        <p:spPr>
          <a:xfrm>
            <a:off x="914400" y="5074920"/>
            <a:ext cx="10058400" cy="548640"/>
          </a:xfrm>
          <a:prstGeom prst="rect">
            <a:avLst/>
          </a:prstGeom>
          <a:noFill/>
        </p:spPr>
        <p:txBody>
          <a:bodyPr wrap="square" anchor="t">
            <a:spAutoFit/>
          </a:bodyPr>
          <a:lstStyle/>
          <a:p>
            <a:pPr algn="ctr"/>
            <a:r>
              <a:rPr sz="1600" b="1">
                <a:solidFill>
                  <a:srgbClr val="F8FAFC"/>
                </a:solidFill>
                <a:latin typeface="Aptos"/>
              </a:rPr>
              <a:t>Quick activity: choose two examples and explain what data the system might need.</a:t>
            </a:r>
          </a:p>
        </p:txBody>
      </p:sp>
      <p:sp>
        <p:nvSpPr>
          <p:cNvPr id="30" name="TextBox 29"/>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02 · HISTORY</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AI timeline: from question to capability</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Focus on the ideas that changed what computers could do.</a:t>
            </a:r>
          </a:p>
        </p:txBody>
      </p:sp>
      <p:sp>
        <p:nvSpPr>
          <p:cNvPr id="5" name="Rectangle 4"/>
          <p:cNvSpPr/>
          <p:nvPr/>
        </p:nvSpPr>
        <p:spPr>
          <a:xfrm>
            <a:off x="685800" y="2743200"/>
            <a:ext cx="1965960" cy="914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63040" y="2578608"/>
            <a:ext cx="201168" cy="411480"/>
          </a:xfrm>
          <a:prstGeom prst="round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1920240" cy="320040"/>
          </a:xfrm>
          <a:prstGeom prst="rect">
            <a:avLst/>
          </a:prstGeom>
          <a:noFill/>
        </p:spPr>
        <p:txBody>
          <a:bodyPr wrap="square" anchor="t">
            <a:spAutoFit/>
          </a:bodyPr>
          <a:lstStyle/>
          <a:p>
            <a:pPr algn="ctr"/>
            <a:r>
              <a:rPr sz="1300" b="1">
                <a:solidFill>
                  <a:srgbClr val="64D2BE"/>
                </a:solidFill>
                <a:latin typeface="Aptos"/>
              </a:rPr>
              <a:t>1950s</a:t>
            </a:r>
          </a:p>
        </p:txBody>
      </p:sp>
      <p:sp>
        <p:nvSpPr>
          <p:cNvPr id="8" name="TextBox 7"/>
          <p:cNvSpPr txBox="1"/>
          <p:nvPr/>
        </p:nvSpPr>
        <p:spPr>
          <a:xfrm>
            <a:off x="685800" y="3063240"/>
            <a:ext cx="1920240" cy="502920"/>
          </a:xfrm>
          <a:prstGeom prst="rect">
            <a:avLst/>
          </a:prstGeom>
          <a:noFill/>
        </p:spPr>
        <p:txBody>
          <a:bodyPr wrap="square" anchor="t">
            <a:spAutoFit/>
          </a:bodyPr>
          <a:lstStyle/>
          <a:p>
            <a:pPr algn="ctr"/>
            <a:r>
              <a:rPr sz="1400" b="1">
                <a:solidFill>
                  <a:srgbClr val="F8FAFC"/>
                </a:solidFill>
                <a:latin typeface="Aptos"/>
              </a:rPr>
              <a:t>Turing &amp; Dartmouth</a:t>
            </a:r>
          </a:p>
        </p:txBody>
      </p:sp>
      <p:sp>
        <p:nvSpPr>
          <p:cNvPr id="9" name="TextBox 8"/>
          <p:cNvSpPr txBox="1"/>
          <p:nvPr/>
        </p:nvSpPr>
        <p:spPr>
          <a:xfrm>
            <a:off x="685800" y="3611880"/>
            <a:ext cx="1920240" cy="1143000"/>
          </a:xfrm>
          <a:prstGeom prst="rect">
            <a:avLst/>
          </a:prstGeom>
          <a:noFill/>
        </p:spPr>
        <p:txBody>
          <a:bodyPr wrap="square" anchor="t">
            <a:spAutoFit/>
          </a:bodyPr>
          <a:lstStyle/>
          <a:p>
            <a:pPr algn="ctr"/>
            <a:r>
              <a:rPr sz="1050" b="0">
                <a:solidFill>
                  <a:srgbClr val="A4B5C9"/>
                </a:solidFill>
                <a:latin typeface="Aptos"/>
              </a:rPr>
              <a:t>Can machines exhibit intelligent behavior?</a:t>
            </a:r>
          </a:p>
        </p:txBody>
      </p:sp>
      <p:sp>
        <p:nvSpPr>
          <p:cNvPr id="10" name="Rectangle 9"/>
          <p:cNvSpPr/>
          <p:nvPr/>
        </p:nvSpPr>
        <p:spPr>
          <a:xfrm>
            <a:off x="2926080" y="2743200"/>
            <a:ext cx="1965960" cy="914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03320" y="2578608"/>
            <a:ext cx="201168" cy="411480"/>
          </a:xfrm>
          <a:prstGeom prst="round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2057400"/>
            <a:ext cx="1920240" cy="320040"/>
          </a:xfrm>
          <a:prstGeom prst="rect">
            <a:avLst/>
          </a:prstGeom>
          <a:noFill/>
        </p:spPr>
        <p:txBody>
          <a:bodyPr wrap="square" anchor="t">
            <a:spAutoFit/>
          </a:bodyPr>
          <a:lstStyle/>
          <a:p>
            <a:pPr algn="ctr"/>
            <a:r>
              <a:rPr sz="1300" b="1">
                <a:solidFill>
                  <a:srgbClr val="64D2BE"/>
                </a:solidFill>
                <a:latin typeface="Aptos"/>
              </a:rPr>
              <a:t>1980s</a:t>
            </a:r>
          </a:p>
        </p:txBody>
      </p:sp>
      <p:sp>
        <p:nvSpPr>
          <p:cNvPr id="13" name="TextBox 12"/>
          <p:cNvSpPr txBox="1"/>
          <p:nvPr/>
        </p:nvSpPr>
        <p:spPr>
          <a:xfrm>
            <a:off x="2926080" y="3063240"/>
            <a:ext cx="1920240" cy="502920"/>
          </a:xfrm>
          <a:prstGeom prst="rect">
            <a:avLst/>
          </a:prstGeom>
          <a:noFill/>
        </p:spPr>
        <p:txBody>
          <a:bodyPr wrap="square" anchor="t">
            <a:spAutoFit/>
          </a:bodyPr>
          <a:lstStyle/>
          <a:p>
            <a:pPr algn="ctr"/>
            <a:r>
              <a:rPr sz="1400" b="1">
                <a:solidFill>
                  <a:srgbClr val="F8FAFC"/>
                </a:solidFill>
                <a:latin typeface="Aptos"/>
              </a:rPr>
              <a:t>Expert systems</a:t>
            </a:r>
          </a:p>
        </p:txBody>
      </p:sp>
      <p:sp>
        <p:nvSpPr>
          <p:cNvPr id="14" name="TextBox 13"/>
          <p:cNvSpPr txBox="1"/>
          <p:nvPr/>
        </p:nvSpPr>
        <p:spPr>
          <a:xfrm>
            <a:off x="2926080" y="3611880"/>
            <a:ext cx="1920240" cy="1143000"/>
          </a:xfrm>
          <a:prstGeom prst="rect">
            <a:avLst/>
          </a:prstGeom>
          <a:noFill/>
        </p:spPr>
        <p:txBody>
          <a:bodyPr wrap="square" anchor="t">
            <a:spAutoFit/>
          </a:bodyPr>
          <a:lstStyle/>
          <a:p>
            <a:pPr algn="ctr"/>
            <a:r>
              <a:rPr sz="1050" b="0">
                <a:solidFill>
                  <a:srgbClr val="A4B5C9"/>
                </a:solidFill>
                <a:latin typeface="Aptos"/>
              </a:rPr>
              <a:t>Knowledge + rules for specialized decisions</a:t>
            </a:r>
          </a:p>
        </p:txBody>
      </p:sp>
      <p:sp>
        <p:nvSpPr>
          <p:cNvPr id="15" name="Rectangle 14"/>
          <p:cNvSpPr/>
          <p:nvPr/>
        </p:nvSpPr>
        <p:spPr>
          <a:xfrm>
            <a:off x="5166360" y="2743200"/>
            <a:ext cx="1965960" cy="914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43600" y="2578608"/>
            <a:ext cx="201168" cy="411480"/>
          </a:xfrm>
          <a:prstGeom prst="round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057400"/>
            <a:ext cx="1920240" cy="320040"/>
          </a:xfrm>
          <a:prstGeom prst="rect">
            <a:avLst/>
          </a:prstGeom>
          <a:noFill/>
        </p:spPr>
        <p:txBody>
          <a:bodyPr wrap="square" anchor="t">
            <a:spAutoFit/>
          </a:bodyPr>
          <a:lstStyle/>
          <a:p>
            <a:pPr algn="ctr"/>
            <a:r>
              <a:rPr sz="1300" b="1">
                <a:solidFill>
                  <a:srgbClr val="64D2BE"/>
                </a:solidFill>
                <a:latin typeface="Aptos"/>
              </a:rPr>
              <a:t>1997</a:t>
            </a:r>
          </a:p>
        </p:txBody>
      </p:sp>
      <p:sp>
        <p:nvSpPr>
          <p:cNvPr id="18" name="TextBox 17"/>
          <p:cNvSpPr txBox="1"/>
          <p:nvPr/>
        </p:nvSpPr>
        <p:spPr>
          <a:xfrm>
            <a:off x="5166360" y="3063240"/>
            <a:ext cx="1920240" cy="502920"/>
          </a:xfrm>
          <a:prstGeom prst="rect">
            <a:avLst/>
          </a:prstGeom>
          <a:noFill/>
        </p:spPr>
        <p:txBody>
          <a:bodyPr wrap="square" anchor="t">
            <a:spAutoFit/>
          </a:bodyPr>
          <a:lstStyle/>
          <a:p>
            <a:pPr algn="ctr"/>
            <a:r>
              <a:rPr sz="1400" b="1">
                <a:solidFill>
                  <a:srgbClr val="F8FAFC"/>
                </a:solidFill>
                <a:latin typeface="Aptos"/>
              </a:rPr>
              <a:t>Deep Blue</a:t>
            </a:r>
          </a:p>
        </p:txBody>
      </p:sp>
      <p:sp>
        <p:nvSpPr>
          <p:cNvPr id="19" name="TextBox 18"/>
          <p:cNvSpPr txBox="1"/>
          <p:nvPr/>
        </p:nvSpPr>
        <p:spPr>
          <a:xfrm>
            <a:off x="5166360" y="3611880"/>
            <a:ext cx="1920240" cy="1143000"/>
          </a:xfrm>
          <a:prstGeom prst="rect">
            <a:avLst/>
          </a:prstGeom>
          <a:noFill/>
        </p:spPr>
        <p:txBody>
          <a:bodyPr wrap="square" anchor="t">
            <a:spAutoFit/>
          </a:bodyPr>
          <a:lstStyle/>
          <a:p>
            <a:pPr algn="ctr"/>
            <a:r>
              <a:rPr sz="1050" b="0">
                <a:solidFill>
                  <a:srgbClr val="A4B5C9"/>
                </a:solidFill>
                <a:latin typeface="Aptos"/>
              </a:rPr>
              <a:t>Computers demonstrate powerful search in chess</a:t>
            </a:r>
          </a:p>
        </p:txBody>
      </p:sp>
      <p:sp>
        <p:nvSpPr>
          <p:cNvPr id="20" name="Rectangle 19"/>
          <p:cNvSpPr/>
          <p:nvPr/>
        </p:nvSpPr>
        <p:spPr>
          <a:xfrm>
            <a:off x="7406640" y="2743200"/>
            <a:ext cx="1965960" cy="914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83880" y="2578608"/>
            <a:ext cx="201168" cy="411480"/>
          </a:xfrm>
          <a:prstGeom prst="round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2057400"/>
            <a:ext cx="1920240" cy="320040"/>
          </a:xfrm>
          <a:prstGeom prst="rect">
            <a:avLst/>
          </a:prstGeom>
          <a:noFill/>
        </p:spPr>
        <p:txBody>
          <a:bodyPr wrap="square" anchor="t">
            <a:spAutoFit/>
          </a:bodyPr>
          <a:lstStyle/>
          <a:p>
            <a:pPr algn="ctr"/>
            <a:r>
              <a:rPr sz="1300" b="1">
                <a:solidFill>
                  <a:srgbClr val="64D2BE"/>
                </a:solidFill>
                <a:latin typeface="Aptos"/>
              </a:rPr>
              <a:t>2012</a:t>
            </a:r>
          </a:p>
        </p:txBody>
      </p:sp>
      <p:sp>
        <p:nvSpPr>
          <p:cNvPr id="23" name="TextBox 22"/>
          <p:cNvSpPr txBox="1"/>
          <p:nvPr/>
        </p:nvSpPr>
        <p:spPr>
          <a:xfrm>
            <a:off x="7406640" y="3063240"/>
            <a:ext cx="1920240" cy="502920"/>
          </a:xfrm>
          <a:prstGeom prst="rect">
            <a:avLst/>
          </a:prstGeom>
          <a:noFill/>
        </p:spPr>
        <p:txBody>
          <a:bodyPr wrap="square" anchor="t">
            <a:spAutoFit/>
          </a:bodyPr>
          <a:lstStyle/>
          <a:p>
            <a:pPr algn="ctr"/>
            <a:r>
              <a:rPr sz="1400" b="1">
                <a:solidFill>
                  <a:srgbClr val="F8FAFC"/>
                </a:solidFill>
                <a:latin typeface="Aptos"/>
              </a:rPr>
              <a:t>AlexNet</a:t>
            </a:r>
          </a:p>
        </p:txBody>
      </p:sp>
      <p:sp>
        <p:nvSpPr>
          <p:cNvPr id="24" name="TextBox 23"/>
          <p:cNvSpPr txBox="1"/>
          <p:nvPr/>
        </p:nvSpPr>
        <p:spPr>
          <a:xfrm>
            <a:off x="7406640" y="3611880"/>
            <a:ext cx="1920240" cy="1143000"/>
          </a:xfrm>
          <a:prstGeom prst="rect">
            <a:avLst/>
          </a:prstGeom>
          <a:noFill/>
        </p:spPr>
        <p:txBody>
          <a:bodyPr wrap="square" anchor="t">
            <a:spAutoFit/>
          </a:bodyPr>
          <a:lstStyle/>
          <a:p>
            <a:pPr algn="ctr"/>
            <a:r>
              <a:rPr sz="1050" b="0">
                <a:solidFill>
                  <a:srgbClr val="A4B5C9"/>
                </a:solidFill>
                <a:latin typeface="Aptos"/>
              </a:rPr>
              <a:t>Deep neural networks achieve major image-recognition gains</a:t>
            </a:r>
          </a:p>
        </p:txBody>
      </p:sp>
      <p:sp>
        <p:nvSpPr>
          <p:cNvPr id="25" name="Rectangle 24"/>
          <p:cNvSpPr/>
          <p:nvPr/>
        </p:nvSpPr>
        <p:spPr>
          <a:xfrm>
            <a:off x="9646920" y="2743200"/>
            <a:ext cx="1965960" cy="914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424160" y="2578608"/>
            <a:ext cx="201168" cy="411480"/>
          </a:xfrm>
          <a:prstGeom prst="round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46920" y="2057400"/>
            <a:ext cx="1920240" cy="320040"/>
          </a:xfrm>
          <a:prstGeom prst="rect">
            <a:avLst/>
          </a:prstGeom>
          <a:noFill/>
        </p:spPr>
        <p:txBody>
          <a:bodyPr wrap="square" anchor="t">
            <a:spAutoFit/>
          </a:bodyPr>
          <a:lstStyle/>
          <a:p>
            <a:pPr algn="ctr"/>
            <a:r>
              <a:rPr sz="1300" b="1">
                <a:solidFill>
                  <a:srgbClr val="64D2BE"/>
                </a:solidFill>
                <a:latin typeface="Aptos"/>
              </a:rPr>
              <a:t>2022+</a:t>
            </a:r>
          </a:p>
        </p:txBody>
      </p:sp>
      <p:sp>
        <p:nvSpPr>
          <p:cNvPr id="28" name="TextBox 27"/>
          <p:cNvSpPr txBox="1"/>
          <p:nvPr/>
        </p:nvSpPr>
        <p:spPr>
          <a:xfrm>
            <a:off x="9646920" y="3063240"/>
            <a:ext cx="1920240" cy="502920"/>
          </a:xfrm>
          <a:prstGeom prst="rect">
            <a:avLst/>
          </a:prstGeom>
          <a:noFill/>
        </p:spPr>
        <p:txBody>
          <a:bodyPr wrap="square" anchor="t">
            <a:spAutoFit/>
          </a:bodyPr>
          <a:lstStyle/>
          <a:p>
            <a:pPr algn="ctr"/>
            <a:r>
              <a:rPr sz="1400" b="1">
                <a:solidFill>
                  <a:srgbClr val="F8FAFC"/>
                </a:solidFill>
                <a:latin typeface="Aptos"/>
              </a:rPr>
              <a:t>Generative AI</a:t>
            </a:r>
          </a:p>
        </p:txBody>
      </p:sp>
      <p:sp>
        <p:nvSpPr>
          <p:cNvPr id="29" name="TextBox 28"/>
          <p:cNvSpPr txBox="1"/>
          <p:nvPr/>
        </p:nvSpPr>
        <p:spPr>
          <a:xfrm>
            <a:off x="9646920" y="3611880"/>
            <a:ext cx="1920240" cy="1143000"/>
          </a:xfrm>
          <a:prstGeom prst="rect">
            <a:avLst/>
          </a:prstGeom>
          <a:noFill/>
        </p:spPr>
        <p:txBody>
          <a:bodyPr wrap="square" anchor="t">
            <a:spAutoFit/>
          </a:bodyPr>
          <a:lstStyle/>
          <a:p>
            <a:pPr algn="ctr"/>
            <a:r>
              <a:rPr sz="1050" b="0">
                <a:solidFill>
                  <a:srgbClr val="A4B5C9"/>
                </a:solidFill>
                <a:latin typeface="Aptos"/>
              </a:rPr>
              <a:t>Conversational and content-generation systems reach mass adoption</a:t>
            </a:r>
          </a:p>
        </p:txBody>
      </p:sp>
      <p:pic>
        <p:nvPicPr>
          <p:cNvPr id="30" name="Picture 29" descr="history.png"/>
          <p:cNvPicPr>
            <a:picLocks noChangeAspect="1"/>
          </p:cNvPicPr>
          <p:nvPr/>
        </p:nvPicPr>
        <p:blipFill>
          <a:blip r:embed="rId2"/>
          <a:stretch>
            <a:fillRect/>
          </a:stretch>
        </p:blipFill>
        <p:spPr>
          <a:xfrm>
            <a:off x="9098280" y="4892040"/>
            <a:ext cx="2194560" cy="1097280"/>
          </a:xfrm>
          <a:prstGeom prst="rect">
            <a:avLst/>
          </a:prstGeom>
        </p:spPr>
      </p:pic>
      <p:sp>
        <p:nvSpPr>
          <p:cNvPr id="31" name="TextBox 30"/>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02 · HISTORY</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Why did AI accelerate?</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Five forces reinforced one another.</a:t>
            </a:r>
          </a:p>
        </p:txBody>
      </p:sp>
      <p:sp>
        <p:nvSpPr>
          <p:cNvPr id="5" name="Rounded Rectangle 4"/>
          <p:cNvSpPr/>
          <p:nvPr/>
        </p:nvSpPr>
        <p:spPr>
          <a:xfrm>
            <a:off x="685800" y="201168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11680"/>
            <a:ext cx="64008" cy="10972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12848"/>
            <a:ext cx="3017520" cy="365760"/>
          </a:xfrm>
          <a:prstGeom prst="rect">
            <a:avLst/>
          </a:prstGeom>
          <a:noFill/>
        </p:spPr>
        <p:txBody>
          <a:bodyPr wrap="square" anchor="t">
            <a:spAutoFit/>
          </a:bodyPr>
          <a:lstStyle/>
          <a:p>
            <a:pPr algn="l"/>
            <a:r>
              <a:rPr sz="1700" b="1">
                <a:solidFill>
                  <a:srgbClr val="F8FAFC"/>
                </a:solidFill>
                <a:latin typeface="Aptos"/>
              </a:rPr>
              <a:t>More data</a:t>
            </a:r>
          </a:p>
        </p:txBody>
      </p:sp>
      <p:sp>
        <p:nvSpPr>
          <p:cNvPr id="8" name="TextBox 7"/>
          <p:cNvSpPr txBox="1"/>
          <p:nvPr/>
        </p:nvSpPr>
        <p:spPr>
          <a:xfrm>
            <a:off x="914400" y="2670048"/>
            <a:ext cx="2971800" cy="274319"/>
          </a:xfrm>
          <a:prstGeom prst="rect">
            <a:avLst/>
          </a:prstGeom>
          <a:noFill/>
        </p:spPr>
        <p:txBody>
          <a:bodyPr wrap="square" anchor="t">
            <a:spAutoFit/>
          </a:bodyPr>
          <a:lstStyle/>
          <a:p>
            <a:pPr algn="l"/>
            <a:r>
              <a:rPr sz="1250" b="0">
                <a:solidFill>
                  <a:srgbClr val="E1EAF4"/>
                </a:solidFill>
                <a:latin typeface="Aptos"/>
              </a:rPr>
              <a:t>Digital activity created enormous datasets.</a:t>
            </a:r>
          </a:p>
        </p:txBody>
      </p:sp>
      <p:sp>
        <p:nvSpPr>
          <p:cNvPr id="9" name="Rounded Rectangle 8"/>
          <p:cNvSpPr/>
          <p:nvPr/>
        </p:nvSpPr>
        <p:spPr>
          <a:xfrm>
            <a:off x="4434840" y="201168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2011680"/>
            <a:ext cx="64008" cy="10972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212848"/>
            <a:ext cx="3017520" cy="365760"/>
          </a:xfrm>
          <a:prstGeom prst="rect">
            <a:avLst/>
          </a:prstGeom>
          <a:noFill/>
        </p:spPr>
        <p:txBody>
          <a:bodyPr wrap="square" anchor="t">
            <a:spAutoFit/>
          </a:bodyPr>
          <a:lstStyle/>
          <a:p>
            <a:pPr algn="l"/>
            <a:r>
              <a:rPr sz="1700" b="1">
                <a:solidFill>
                  <a:srgbClr val="F8FAFC"/>
                </a:solidFill>
                <a:latin typeface="Aptos"/>
              </a:rPr>
              <a:t>More compute</a:t>
            </a:r>
          </a:p>
        </p:txBody>
      </p:sp>
      <p:sp>
        <p:nvSpPr>
          <p:cNvPr id="12" name="TextBox 11"/>
          <p:cNvSpPr txBox="1"/>
          <p:nvPr/>
        </p:nvSpPr>
        <p:spPr>
          <a:xfrm>
            <a:off x="4663440" y="2670048"/>
            <a:ext cx="2971800" cy="274319"/>
          </a:xfrm>
          <a:prstGeom prst="rect">
            <a:avLst/>
          </a:prstGeom>
          <a:noFill/>
        </p:spPr>
        <p:txBody>
          <a:bodyPr wrap="square" anchor="t">
            <a:spAutoFit/>
          </a:bodyPr>
          <a:lstStyle/>
          <a:p>
            <a:pPr algn="l"/>
            <a:r>
              <a:rPr sz="1250" b="0">
                <a:solidFill>
                  <a:srgbClr val="E1EAF4"/>
                </a:solidFill>
                <a:latin typeface="Aptos"/>
              </a:rPr>
              <a:t>GPUs and specialized hardware made training practical.</a:t>
            </a:r>
          </a:p>
        </p:txBody>
      </p:sp>
      <p:sp>
        <p:nvSpPr>
          <p:cNvPr id="13" name="Rounded Rectangle 12"/>
          <p:cNvSpPr/>
          <p:nvPr/>
        </p:nvSpPr>
        <p:spPr>
          <a:xfrm>
            <a:off x="8183879" y="201168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79" y="2011680"/>
            <a:ext cx="64008" cy="109728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212848"/>
            <a:ext cx="3017520" cy="365760"/>
          </a:xfrm>
          <a:prstGeom prst="rect">
            <a:avLst/>
          </a:prstGeom>
          <a:noFill/>
        </p:spPr>
        <p:txBody>
          <a:bodyPr wrap="square" anchor="t">
            <a:spAutoFit/>
          </a:bodyPr>
          <a:lstStyle/>
          <a:p>
            <a:pPr algn="l"/>
            <a:r>
              <a:rPr sz="1700" b="1">
                <a:solidFill>
                  <a:srgbClr val="F8FAFC"/>
                </a:solidFill>
                <a:latin typeface="Aptos"/>
              </a:rPr>
              <a:t>Better algorithms</a:t>
            </a:r>
          </a:p>
        </p:txBody>
      </p:sp>
      <p:sp>
        <p:nvSpPr>
          <p:cNvPr id="16" name="TextBox 15"/>
          <p:cNvSpPr txBox="1"/>
          <p:nvPr/>
        </p:nvSpPr>
        <p:spPr>
          <a:xfrm>
            <a:off x="8412480" y="2670048"/>
            <a:ext cx="2971800" cy="274319"/>
          </a:xfrm>
          <a:prstGeom prst="rect">
            <a:avLst/>
          </a:prstGeom>
          <a:noFill/>
        </p:spPr>
        <p:txBody>
          <a:bodyPr wrap="square" anchor="t">
            <a:spAutoFit/>
          </a:bodyPr>
          <a:lstStyle/>
          <a:p>
            <a:pPr algn="l"/>
            <a:r>
              <a:rPr sz="1250" b="0">
                <a:solidFill>
                  <a:srgbClr val="E1EAF4"/>
                </a:solidFill>
                <a:latin typeface="Aptos"/>
              </a:rPr>
              <a:t>Neural-network methods and training techniques improved.</a:t>
            </a:r>
          </a:p>
        </p:txBody>
      </p:sp>
      <p:sp>
        <p:nvSpPr>
          <p:cNvPr id="17" name="Rounded Rectangle 16"/>
          <p:cNvSpPr/>
          <p:nvPr/>
        </p:nvSpPr>
        <p:spPr>
          <a:xfrm>
            <a:off x="685800" y="342900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429000"/>
            <a:ext cx="64008" cy="109728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630168"/>
            <a:ext cx="3017520" cy="365760"/>
          </a:xfrm>
          <a:prstGeom prst="rect">
            <a:avLst/>
          </a:prstGeom>
          <a:noFill/>
        </p:spPr>
        <p:txBody>
          <a:bodyPr wrap="square" anchor="t">
            <a:spAutoFit/>
          </a:bodyPr>
          <a:lstStyle/>
          <a:p>
            <a:pPr algn="l"/>
            <a:r>
              <a:rPr sz="1700" b="1">
                <a:solidFill>
                  <a:srgbClr val="F8FAFC"/>
                </a:solidFill>
                <a:latin typeface="Aptos"/>
              </a:rPr>
              <a:t>Cloud platforms</a:t>
            </a:r>
          </a:p>
        </p:txBody>
      </p:sp>
      <p:sp>
        <p:nvSpPr>
          <p:cNvPr id="20" name="TextBox 19"/>
          <p:cNvSpPr txBox="1"/>
          <p:nvPr/>
        </p:nvSpPr>
        <p:spPr>
          <a:xfrm>
            <a:off x="914400" y="4087368"/>
            <a:ext cx="2971800" cy="274319"/>
          </a:xfrm>
          <a:prstGeom prst="rect">
            <a:avLst/>
          </a:prstGeom>
          <a:noFill/>
        </p:spPr>
        <p:txBody>
          <a:bodyPr wrap="square" anchor="t">
            <a:spAutoFit/>
          </a:bodyPr>
          <a:lstStyle/>
          <a:p>
            <a:pPr algn="l"/>
            <a:r>
              <a:rPr sz="1250" b="0">
                <a:solidFill>
                  <a:srgbClr val="E1EAF4"/>
                </a:solidFill>
                <a:latin typeface="Aptos"/>
              </a:rPr>
              <a:t>Large-scale infrastructure became accessible.</a:t>
            </a:r>
          </a:p>
        </p:txBody>
      </p:sp>
      <p:sp>
        <p:nvSpPr>
          <p:cNvPr id="21" name="Rounded Rectangle 20"/>
          <p:cNvSpPr/>
          <p:nvPr/>
        </p:nvSpPr>
        <p:spPr>
          <a:xfrm>
            <a:off x="4434840" y="3429000"/>
            <a:ext cx="342900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429000"/>
            <a:ext cx="64008" cy="10972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3630168"/>
            <a:ext cx="3017520" cy="365760"/>
          </a:xfrm>
          <a:prstGeom prst="rect">
            <a:avLst/>
          </a:prstGeom>
          <a:noFill/>
        </p:spPr>
        <p:txBody>
          <a:bodyPr wrap="square" anchor="t">
            <a:spAutoFit/>
          </a:bodyPr>
          <a:lstStyle/>
          <a:p>
            <a:pPr algn="l"/>
            <a:r>
              <a:rPr sz="1700" b="1">
                <a:solidFill>
                  <a:srgbClr val="F8FAFC"/>
                </a:solidFill>
                <a:latin typeface="Aptos"/>
              </a:rPr>
              <a:t>Better interfaces</a:t>
            </a:r>
          </a:p>
        </p:txBody>
      </p:sp>
      <p:sp>
        <p:nvSpPr>
          <p:cNvPr id="24" name="TextBox 23"/>
          <p:cNvSpPr txBox="1"/>
          <p:nvPr/>
        </p:nvSpPr>
        <p:spPr>
          <a:xfrm>
            <a:off x="4663440" y="4087368"/>
            <a:ext cx="2971800" cy="274319"/>
          </a:xfrm>
          <a:prstGeom prst="rect">
            <a:avLst/>
          </a:prstGeom>
          <a:noFill/>
        </p:spPr>
        <p:txBody>
          <a:bodyPr wrap="square" anchor="t">
            <a:spAutoFit/>
          </a:bodyPr>
          <a:lstStyle/>
          <a:p>
            <a:pPr algn="l"/>
            <a:r>
              <a:rPr sz="1250" b="0">
                <a:solidFill>
                  <a:srgbClr val="E1EAF4"/>
                </a:solidFill>
                <a:latin typeface="Aptos"/>
              </a:rPr>
              <a:t>Chat-style interfaces made AI easy to use.</a:t>
            </a:r>
          </a:p>
        </p:txBody>
      </p:sp>
      <p:sp>
        <p:nvSpPr>
          <p:cNvPr id="25" name="TextBox 24"/>
          <p:cNvSpPr txBox="1"/>
          <p:nvPr/>
        </p:nvSpPr>
        <p:spPr>
          <a:xfrm>
            <a:off x="914400" y="5074920"/>
            <a:ext cx="10058400" cy="502920"/>
          </a:xfrm>
          <a:prstGeom prst="rect">
            <a:avLst/>
          </a:prstGeom>
          <a:noFill/>
        </p:spPr>
        <p:txBody>
          <a:bodyPr wrap="square" anchor="t">
            <a:spAutoFit/>
          </a:bodyPr>
          <a:lstStyle/>
          <a:p>
            <a:pPr algn="ctr"/>
            <a:r>
              <a:rPr sz="1600" b="1">
                <a:solidFill>
                  <a:srgbClr val="64D2BE"/>
                </a:solidFill>
                <a:latin typeface="Aptos"/>
              </a:rPr>
              <a:t>Think–pair–share: Which factor matters most for modern AI, and why?</a:t>
            </a:r>
          </a:p>
        </p:txBody>
      </p:sp>
      <p:sp>
        <p:nvSpPr>
          <p:cNvPr id="26" name="TextBox 25"/>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02 · HISTORY</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AI winters: why hype can cool down</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AI progress has not been a straight line.</a:t>
            </a:r>
          </a:p>
        </p:txBody>
      </p:sp>
      <p:sp>
        <p:nvSpPr>
          <p:cNvPr id="5" name="Rounded Rectangle 4"/>
          <p:cNvSpPr/>
          <p:nvPr/>
        </p:nvSpPr>
        <p:spPr>
          <a:xfrm>
            <a:off x="731520" y="2057400"/>
            <a:ext cx="3291840" cy="22860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57400"/>
            <a:ext cx="64008" cy="228600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58568"/>
            <a:ext cx="2880360" cy="365760"/>
          </a:xfrm>
          <a:prstGeom prst="rect">
            <a:avLst/>
          </a:prstGeom>
          <a:noFill/>
        </p:spPr>
        <p:txBody>
          <a:bodyPr wrap="square" anchor="t">
            <a:spAutoFit/>
          </a:bodyPr>
          <a:lstStyle/>
          <a:p>
            <a:pPr algn="l"/>
            <a:r>
              <a:rPr sz="1700" b="1">
                <a:solidFill>
                  <a:srgbClr val="F8FAFC"/>
                </a:solidFill>
                <a:latin typeface="Aptos"/>
              </a:rPr>
              <a:t>Hype</a:t>
            </a:r>
          </a:p>
        </p:txBody>
      </p:sp>
      <p:sp>
        <p:nvSpPr>
          <p:cNvPr id="8" name="TextBox 7"/>
          <p:cNvSpPr txBox="1"/>
          <p:nvPr/>
        </p:nvSpPr>
        <p:spPr>
          <a:xfrm>
            <a:off x="960120" y="2715768"/>
            <a:ext cx="2834640" cy="1463040"/>
          </a:xfrm>
          <a:prstGeom prst="rect">
            <a:avLst/>
          </a:prstGeom>
          <a:noFill/>
        </p:spPr>
        <p:txBody>
          <a:bodyPr wrap="square" anchor="t">
            <a:spAutoFit/>
          </a:bodyPr>
          <a:lstStyle/>
          <a:p>
            <a:pPr algn="l"/>
            <a:r>
              <a:rPr sz="1250" b="0">
                <a:solidFill>
                  <a:srgbClr val="E1EAF4"/>
                </a:solidFill>
                <a:latin typeface="Aptos"/>
              </a:rPr>
              <a:t>Expectations rise faster than practical capability.</a:t>
            </a:r>
          </a:p>
        </p:txBody>
      </p:sp>
      <p:sp>
        <p:nvSpPr>
          <p:cNvPr id="9" name="Rounded Rectangle 8"/>
          <p:cNvSpPr/>
          <p:nvPr/>
        </p:nvSpPr>
        <p:spPr>
          <a:xfrm>
            <a:off x="4434840" y="2057400"/>
            <a:ext cx="3291840" cy="22860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2057400"/>
            <a:ext cx="64008" cy="2286000"/>
          </a:xfrm>
          <a:prstGeom prst="rect">
            <a:avLst/>
          </a:prstGeom>
          <a:solidFill>
            <a:srgbClr val="E15F5F"/>
          </a:solidFill>
          <a:ln>
            <a:solidFill>
              <a:srgbClr val="E15F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258568"/>
            <a:ext cx="2880360" cy="365760"/>
          </a:xfrm>
          <a:prstGeom prst="rect">
            <a:avLst/>
          </a:prstGeom>
          <a:noFill/>
        </p:spPr>
        <p:txBody>
          <a:bodyPr wrap="square" anchor="t">
            <a:spAutoFit/>
          </a:bodyPr>
          <a:lstStyle/>
          <a:p>
            <a:pPr algn="l"/>
            <a:r>
              <a:rPr sz="1700" b="1">
                <a:solidFill>
                  <a:srgbClr val="F8FAFC"/>
                </a:solidFill>
                <a:latin typeface="Aptos"/>
              </a:rPr>
              <a:t>Reality gap</a:t>
            </a:r>
          </a:p>
        </p:txBody>
      </p:sp>
      <p:sp>
        <p:nvSpPr>
          <p:cNvPr id="12" name="TextBox 11"/>
          <p:cNvSpPr txBox="1"/>
          <p:nvPr/>
        </p:nvSpPr>
        <p:spPr>
          <a:xfrm>
            <a:off x="4663440" y="2715768"/>
            <a:ext cx="2834640" cy="1463040"/>
          </a:xfrm>
          <a:prstGeom prst="rect">
            <a:avLst/>
          </a:prstGeom>
          <a:noFill/>
        </p:spPr>
        <p:txBody>
          <a:bodyPr wrap="square" anchor="t">
            <a:spAutoFit/>
          </a:bodyPr>
          <a:lstStyle/>
          <a:p>
            <a:pPr algn="l"/>
            <a:r>
              <a:rPr sz="1250" b="0">
                <a:solidFill>
                  <a:srgbClr val="E1EAF4"/>
                </a:solidFill>
                <a:latin typeface="Aptos"/>
              </a:rPr>
              <a:t>Hardware, data, algorithms or funding may not support the promises.</a:t>
            </a:r>
          </a:p>
        </p:txBody>
      </p:sp>
      <p:sp>
        <p:nvSpPr>
          <p:cNvPr id="13" name="Rounded Rectangle 12"/>
          <p:cNvSpPr/>
          <p:nvPr/>
        </p:nvSpPr>
        <p:spPr>
          <a:xfrm>
            <a:off x="8138160" y="2057400"/>
            <a:ext cx="3291840" cy="22860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2057400"/>
            <a:ext cx="64008" cy="228600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2258568"/>
            <a:ext cx="2880360" cy="365760"/>
          </a:xfrm>
          <a:prstGeom prst="rect">
            <a:avLst/>
          </a:prstGeom>
          <a:noFill/>
        </p:spPr>
        <p:txBody>
          <a:bodyPr wrap="square" anchor="t">
            <a:spAutoFit/>
          </a:bodyPr>
          <a:lstStyle/>
          <a:p>
            <a:pPr algn="l"/>
            <a:r>
              <a:rPr sz="1700" b="1">
                <a:solidFill>
                  <a:srgbClr val="F8FAFC"/>
                </a:solidFill>
                <a:latin typeface="Aptos"/>
              </a:rPr>
              <a:t>AI winter</a:t>
            </a:r>
          </a:p>
        </p:txBody>
      </p:sp>
      <p:sp>
        <p:nvSpPr>
          <p:cNvPr id="16" name="TextBox 15"/>
          <p:cNvSpPr txBox="1"/>
          <p:nvPr/>
        </p:nvSpPr>
        <p:spPr>
          <a:xfrm>
            <a:off x="8366760" y="2715768"/>
            <a:ext cx="2834640" cy="1463040"/>
          </a:xfrm>
          <a:prstGeom prst="rect">
            <a:avLst/>
          </a:prstGeom>
          <a:noFill/>
        </p:spPr>
        <p:txBody>
          <a:bodyPr wrap="square" anchor="t">
            <a:spAutoFit/>
          </a:bodyPr>
          <a:lstStyle/>
          <a:p>
            <a:pPr algn="l"/>
            <a:r>
              <a:rPr sz="1250" b="0">
                <a:solidFill>
                  <a:srgbClr val="E1EAF4"/>
                </a:solidFill>
                <a:latin typeface="Aptos"/>
              </a:rPr>
              <a:t>Interest and investment can fall until new approaches emerge.</a:t>
            </a:r>
          </a:p>
        </p:txBody>
      </p:sp>
      <p:sp>
        <p:nvSpPr>
          <p:cNvPr id="17" name="TextBox 16"/>
          <p:cNvSpPr txBox="1"/>
          <p:nvPr/>
        </p:nvSpPr>
        <p:spPr>
          <a:xfrm>
            <a:off x="914400" y="4892040"/>
            <a:ext cx="10241280" cy="640080"/>
          </a:xfrm>
          <a:prstGeom prst="rect">
            <a:avLst/>
          </a:prstGeom>
          <a:noFill/>
        </p:spPr>
        <p:txBody>
          <a:bodyPr wrap="square" anchor="t">
            <a:spAutoFit/>
          </a:bodyPr>
          <a:lstStyle/>
          <a:p>
            <a:pPr algn="ctr"/>
            <a:r>
              <a:rPr sz="1700" b="1">
                <a:solidFill>
                  <a:srgbClr val="F8FAFC"/>
                </a:solidFill>
                <a:latin typeface="Aptos"/>
              </a:rPr>
              <a:t>Lesson for students: separate a technology's potential from today's proven capabilities.</a:t>
            </a:r>
          </a:p>
        </p:txBody>
      </p:sp>
      <p:sp>
        <p:nvSpPr>
          <p:cNvPr id="18" name="TextBox 17"/>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03 · AI VS ML VS DL</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The relationship</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Think of AI as the umbrella, ML as one approach, and DL as a specialized family within ML.</a:t>
            </a:r>
          </a:p>
        </p:txBody>
      </p:sp>
      <p:sp>
        <p:nvSpPr>
          <p:cNvPr id="5" name="Oval 4"/>
          <p:cNvSpPr/>
          <p:nvPr/>
        </p:nvSpPr>
        <p:spPr>
          <a:xfrm>
            <a:off x="822960" y="1920240"/>
            <a:ext cx="6400800" cy="3657600"/>
          </a:xfrm>
          <a:prstGeom prst="ellipse">
            <a:avLst/>
          </a:prstGeom>
          <a:solidFill>
            <a:srgbClr val="0B1526"/>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20240" y="2514600"/>
            <a:ext cx="4206240" cy="2468880"/>
          </a:xfrm>
          <a:prstGeom prst="ellipse">
            <a:avLst/>
          </a:prstGeom>
          <a:solidFill>
            <a:srgbClr val="1A304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017520" y="3154680"/>
            <a:ext cx="2011680" cy="1280160"/>
          </a:xfrm>
          <a:prstGeom prst="ellipse">
            <a:avLst/>
          </a:prstGeom>
          <a:solidFill>
            <a:srgbClr val="264356"/>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240280"/>
            <a:ext cx="914400" cy="365760"/>
          </a:xfrm>
          <a:prstGeom prst="rect">
            <a:avLst/>
          </a:prstGeom>
          <a:noFill/>
        </p:spPr>
        <p:txBody>
          <a:bodyPr wrap="square" anchor="t">
            <a:spAutoFit/>
          </a:bodyPr>
          <a:lstStyle/>
          <a:p>
            <a:pPr algn="l"/>
            <a:r>
              <a:rPr sz="2200" b="1">
                <a:solidFill>
                  <a:srgbClr val="64D2BE"/>
                </a:solidFill>
                <a:latin typeface="Aptos"/>
              </a:rPr>
              <a:t>AI</a:t>
            </a:r>
          </a:p>
        </p:txBody>
      </p:sp>
      <p:sp>
        <p:nvSpPr>
          <p:cNvPr id="9" name="TextBox 8"/>
          <p:cNvSpPr txBox="1"/>
          <p:nvPr/>
        </p:nvSpPr>
        <p:spPr>
          <a:xfrm>
            <a:off x="2468880" y="2743200"/>
            <a:ext cx="2286000" cy="365760"/>
          </a:xfrm>
          <a:prstGeom prst="rect">
            <a:avLst/>
          </a:prstGeom>
          <a:noFill/>
        </p:spPr>
        <p:txBody>
          <a:bodyPr wrap="square" anchor="t">
            <a:spAutoFit/>
          </a:bodyPr>
          <a:lstStyle/>
          <a:p>
            <a:pPr algn="ctr"/>
            <a:r>
              <a:rPr sz="1800" b="1">
                <a:solidFill>
                  <a:srgbClr val="488CDC"/>
                </a:solidFill>
                <a:latin typeface="Aptos"/>
              </a:rPr>
              <a:t>Machine Learning</a:t>
            </a:r>
          </a:p>
        </p:txBody>
      </p:sp>
      <p:sp>
        <p:nvSpPr>
          <p:cNvPr id="10" name="TextBox 9"/>
          <p:cNvSpPr txBox="1"/>
          <p:nvPr/>
        </p:nvSpPr>
        <p:spPr>
          <a:xfrm>
            <a:off x="3337560" y="3337560"/>
            <a:ext cx="1371600" cy="640080"/>
          </a:xfrm>
          <a:prstGeom prst="rect">
            <a:avLst/>
          </a:prstGeom>
          <a:noFill/>
        </p:spPr>
        <p:txBody>
          <a:bodyPr wrap="square" anchor="t">
            <a:spAutoFit/>
          </a:bodyPr>
          <a:lstStyle/>
          <a:p>
            <a:pPr algn="ctr"/>
            <a:r>
              <a:rPr sz="1600" b="1">
                <a:solidFill>
                  <a:srgbClr val="84D282"/>
                </a:solidFill>
                <a:latin typeface="Aptos"/>
              </a:rPr>
              <a:t>Deep</a:t>
            </a:r>
            <a:br/>
            <a:r>
              <a:rPr sz="1600" b="1">
                <a:solidFill>
                  <a:srgbClr val="84D282"/>
                </a:solidFill>
                <a:latin typeface="Aptos"/>
              </a:rPr>
              <a:t>Learning</a:t>
            </a:r>
          </a:p>
        </p:txBody>
      </p:sp>
      <p:sp>
        <p:nvSpPr>
          <p:cNvPr id="11" name="Rounded Rectangle 10"/>
          <p:cNvSpPr/>
          <p:nvPr/>
        </p:nvSpPr>
        <p:spPr>
          <a:xfrm>
            <a:off x="7680960" y="2057400"/>
            <a:ext cx="36576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057400"/>
            <a:ext cx="64008" cy="100584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258568"/>
            <a:ext cx="3246120" cy="365760"/>
          </a:xfrm>
          <a:prstGeom prst="rect">
            <a:avLst/>
          </a:prstGeom>
          <a:noFill/>
        </p:spPr>
        <p:txBody>
          <a:bodyPr wrap="square" anchor="t">
            <a:spAutoFit/>
          </a:bodyPr>
          <a:lstStyle/>
          <a:p>
            <a:pPr algn="l"/>
            <a:r>
              <a:rPr sz="1700" b="1">
                <a:solidFill>
                  <a:srgbClr val="F8FAFC"/>
                </a:solidFill>
                <a:latin typeface="Aptos"/>
              </a:rPr>
              <a:t>AI</a:t>
            </a:r>
          </a:p>
        </p:txBody>
      </p:sp>
      <p:sp>
        <p:nvSpPr>
          <p:cNvPr id="14" name="TextBox 13"/>
          <p:cNvSpPr txBox="1"/>
          <p:nvPr/>
        </p:nvSpPr>
        <p:spPr>
          <a:xfrm>
            <a:off x="7909560" y="2715768"/>
            <a:ext cx="3200400" cy="182880"/>
          </a:xfrm>
          <a:prstGeom prst="rect">
            <a:avLst/>
          </a:prstGeom>
          <a:noFill/>
        </p:spPr>
        <p:txBody>
          <a:bodyPr wrap="square" anchor="t">
            <a:spAutoFit/>
          </a:bodyPr>
          <a:lstStyle/>
          <a:p>
            <a:pPr algn="l"/>
            <a:r>
              <a:rPr sz="1250" b="0">
                <a:solidFill>
                  <a:srgbClr val="E1EAF4"/>
                </a:solidFill>
                <a:latin typeface="Aptos"/>
              </a:rPr>
              <a:t>Broad field of intelligent systems.</a:t>
            </a:r>
          </a:p>
        </p:txBody>
      </p:sp>
      <p:sp>
        <p:nvSpPr>
          <p:cNvPr id="15" name="Rounded Rectangle 14"/>
          <p:cNvSpPr/>
          <p:nvPr/>
        </p:nvSpPr>
        <p:spPr>
          <a:xfrm>
            <a:off x="7680960" y="3337560"/>
            <a:ext cx="36576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0" y="3337560"/>
            <a:ext cx="64008" cy="10058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3538728"/>
            <a:ext cx="3246120" cy="365760"/>
          </a:xfrm>
          <a:prstGeom prst="rect">
            <a:avLst/>
          </a:prstGeom>
          <a:noFill/>
        </p:spPr>
        <p:txBody>
          <a:bodyPr wrap="square" anchor="t">
            <a:spAutoFit/>
          </a:bodyPr>
          <a:lstStyle/>
          <a:p>
            <a:pPr algn="l"/>
            <a:r>
              <a:rPr sz="1700" b="1">
                <a:solidFill>
                  <a:srgbClr val="F8FAFC"/>
                </a:solidFill>
                <a:latin typeface="Aptos"/>
              </a:rPr>
              <a:t>ML</a:t>
            </a:r>
          </a:p>
        </p:txBody>
      </p:sp>
      <p:sp>
        <p:nvSpPr>
          <p:cNvPr id="18" name="TextBox 17"/>
          <p:cNvSpPr txBox="1"/>
          <p:nvPr/>
        </p:nvSpPr>
        <p:spPr>
          <a:xfrm>
            <a:off x="7909560" y="3995928"/>
            <a:ext cx="3200400" cy="182880"/>
          </a:xfrm>
          <a:prstGeom prst="rect">
            <a:avLst/>
          </a:prstGeom>
          <a:noFill/>
        </p:spPr>
        <p:txBody>
          <a:bodyPr wrap="square" anchor="t">
            <a:spAutoFit/>
          </a:bodyPr>
          <a:lstStyle/>
          <a:p>
            <a:pPr algn="l"/>
            <a:r>
              <a:rPr sz="1250" b="0">
                <a:solidFill>
                  <a:srgbClr val="E1EAF4"/>
                </a:solidFill>
                <a:latin typeface="Aptos"/>
              </a:rPr>
              <a:t>Learns patterns from data.</a:t>
            </a:r>
          </a:p>
        </p:txBody>
      </p:sp>
      <p:sp>
        <p:nvSpPr>
          <p:cNvPr id="19" name="Rounded Rectangle 18"/>
          <p:cNvSpPr/>
          <p:nvPr/>
        </p:nvSpPr>
        <p:spPr>
          <a:xfrm>
            <a:off x="7680960" y="4617720"/>
            <a:ext cx="3657600" cy="10058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4617720"/>
            <a:ext cx="64008" cy="100584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4818888"/>
            <a:ext cx="3246120" cy="365760"/>
          </a:xfrm>
          <a:prstGeom prst="rect">
            <a:avLst/>
          </a:prstGeom>
          <a:noFill/>
        </p:spPr>
        <p:txBody>
          <a:bodyPr wrap="square" anchor="t">
            <a:spAutoFit/>
          </a:bodyPr>
          <a:lstStyle/>
          <a:p>
            <a:pPr algn="l"/>
            <a:r>
              <a:rPr sz="1700" b="1">
                <a:solidFill>
                  <a:srgbClr val="F8FAFC"/>
                </a:solidFill>
                <a:latin typeface="Aptos"/>
              </a:rPr>
              <a:t>DL</a:t>
            </a:r>
          </a:p>
        </p:txBody>
      </p:sp>
      <p:sp>
        <p:nvSpPr>
          <p:cNvPr id="22" name="TextBox 21"/>
          <p:cNvSpPr txBox="1"/>
          <p:nvPr/>
        </p:nvSpPr>
        <p:spPr>
          <a:xfrm>
            <a:off x="7909560" y="5276088"/>
            <a:ext cx="3200400" cy="182880"/>
          </a:xfrm>
          <a:prstGeom prst="rect">
            <a:avLst/>
          </a:prstGeom>
          <a:noFill/>
        </p:spPr>
        <p:txBody>
          <a:bodyPr wrap="square" anchor="t">
            <a:spAutoFit/>
          </a:bodyPr>
          <a:lstStyle/>
          <a:p>
            <a:pPr algn="l"/>
            <a:r>
              <a:rPr sz="1250" b="0">
                <a:solidFill>
                  <a:srgbClr val="E1EAF4"/>
                </a:solidFill>
                <a:latin typeface="Aptos"/>
              </a:rPr>
              <a:t>Uses layered neural networks.</a:t>
            </a:r>
          </a:p>
        </p:txBody>
      </p:sp>
      <p:sp>
        <p:nvSpPr>
          <p:cNvPr id="23" name="TextBox 22"/>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03 · AI VS ML VS DL</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Traditional programming vs Machine Learning</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This is the mental model students should remember.</a:t>
            </a:r>
          </a:p>
        </p:txBody>
      </p:sp>
      <p:sp>
        <p:nvSpPr>
          <p:cNvPr id="5" name="Rounded Rectangle 4"/>
          <p:cNvSpPr/>
          <p:nvPr/>
        </p:nvSpPr>
        <p:spPr>
          <a:xfrm>
            <a:off x="685800" y="2057400"/>
            <a:ext cx="5166360" cy="20116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57400"/>
            <a:ext cx="64008" cy="20116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4754880" cy="365760"/>
          </a:xfrm>
          <a:prstGeom prst="rect">
            <a:avLst/>
          </a:prstGeom>
          <a:noFill/>
        </p:spPr>
        <p:txBody>
          <a:bodyPr wrap="square" anchor="t">
            <a:spAutoFit/>
          </a:bodyPr>
          <a:lstStyle/>
          <a:p>
            <a:pPr algn="l"/>
            <a:r>
              <a:rPr sz="1700" b="1">
                <a:solidFill>
                  <a:srgbClr val="F8FAFC"/>
                </a:solidFill>
                <a:latin typeface="Aptos"/>
              </a:rPr>
              <a:t>Traditional programming</a:t>
            </a:r>
          </a:p>
        </p:txBody>
      </p:sp>
      <p:sp>
        <p:nvSpPr>
          <p:cNvPr id="8" name="TextBox 7"/>
          <p:cNvSpPr txBox="1"/>
          <p:nvPr/>
        </p:nvSpPr>
        <p:spPr>
          <a:xfrm>
            <a:off x="914400" y="2715768"/>
            <a:ext cx="4709160" cy="1188720"/>
          </a:xfrm>
          <a:prstGeom prst="rect">
            <a:avLst/>
          </a:prstGeom>
          <a:noFill/>
        </p:spPr>
        <p:txBody>
          <a:bodyPr wrap="square" anchor="t">
            <a:spAutoFit/>
          </a:bodyPr>
          <a:lstStyle/>
          <a:p>
            <a:pPr algn="l"/>
            <a:r>
              <a:rPr sz="1250" b="0">
                <a:solidFill>
                  <a:srgbClr val="E1EAF4"/>
                </a:solidFill>
                <a:latin typeface="Aptos"/>
              </a:rPr>
              <a:t>Rules + data → output</a:t>
            </a:r>
            <a:br/>
            <a:br/>
            <a:r>
              <a:rPr sz="1250" b="0">
                <a:solidFill>
                  <a:srgbClr val="E1EAF4"/>
                </a:solidFill>
                <a:latin typeface="Aptos"/>
              </a:rPr>
              <a:t>The developer explicitly defines the logic.</a:t>
            </a:r>
          </a:p>
        </p:txBody>
      </p:sp>
      <p:sp>
        <p:nvSpPr>
          <p:cNvPr id="9" name="TextBox 8"/>
          <p:cNvSpPr txBox="1"/>
          <p:nvPr/>
        </p:nvSpPr>
        <p:spPr>
          <a:xfrm>
            <a:off x="5623560" y="2788920"/>
            <a:ext cx="914400" cy="548640"/>
          </a:xfrm>
          <a:prstGeom prst="rect">
            <a:avLst/>
          </a:prstGeom>
          <a:noFill/>
        </p:spPr>
        <p:txBody>
          <a:bodyPr wrap="square" anchor="t">
            <a:spAutoFit/>
          </a:bodyPr>
          <a:lstStyle/>
          <a:p>
            <a:pPr algn="ctr"/>
            <a:r>
              <a:rPr sz="2000" b="1">
                <a:solidFill>
                  <a:srgbClr val="F4A94A"/>
                </a:solidFill>
                <a:latin typeface="Aptos"/>
              </a:rPr>
              <a:t>VS</a:t>
            </a:r>
          </a:p>
        </p:txBody>
      </p:sp>
      <p:sp>
        <p:nvSpPr>
          <p:cNvPr id="10" name="Rounded Rectangle 9"/>
          <p:cNvSpPr/>
          <p:nvPr/>
        </p:nvSpPr>
        <p:spPr>
          <a:xfrm>
            <a:off x="6355080" y="2057400"/>
            <a:ext cx="5166360" cy="20116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2057400"/>
            <a:ext cx="64008" cy="20116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258568"/>
            <a:ext cx="4754880" cy="365760"/>
          </a:xfrm>
          <a:prstGeom prst="rect">
            <a:avLst/>
          </a:prstGeom>
          <a:noFill/>
        </p:spPr>
        <p:txBody>
          <a:bodyPr wrap="square" anchor="t">
            <a:spAutoFit/>
          </a:bodyPr>
          <a:lstStyle/>
          <a:p>
            <a:pPr algn="l"/>
            <a:r>
              <a:rPr sz="1700" b="1">
                <a:solidFill>
                  <a:srgbClr val="F8FAFC"/>
                </a:solidFill>
                <a:latin typeface="Aptos"/>
              </a:rPr>
              <a:t>Machine Learning</a:t>
            </a:r>
          </a:p>
        </p:txBody>
      </p:sp>
      <p:sp>
        <p:nvSpPr>
          <p:cNvPr id="13" name="TextBox 12"/>
          <p:cNvSpPr txBox="1"/>
          <p:nvPr/>
        </p:nvSpPr>
        <p:spPr>
          <a:xfrm>
            <a:off x="6583680" y="2715768"/>
            <a:ext cx="4709160" cy="1188720"/>
          </a:xfrm>
          <a:prstGeom prst="rect">
            <a:avLst/>
          </a:prstGeom>
          <a:noFill/>
        </p:spPr>
        <p:txBody>
          <a:bodyPr wrap="square" anchor="t">
            <a:spAutoFit/>
          </a:bodyPr>
          <a:lstStyle/>
          <a:p>
            <a:pPr algn="l"/>
            <a:r>
              <a:rPr sz="1250" b="0">
                <a:solidFill>
                  <a:srgbClr val="E1EAF4"/>
                </a:solidFill>
                <a:latin typeface="Aptos"/>
              </a:rPr>
              <a:t>Examples + learning algorithm → model</a:t>
            </a:r>
            <a:br/>
            <a:br/>
            <a:r>
              <a:rPr sz="1250" b="0">
                <a:solidFill>
                  <a:srgbClr val="E1EAF4"/>
                </a:solidFill>
                <a:latin typeface="Aptos"/>
              </a:rPr>
              <a:t>Model + new data → prediction</a:t>
            </a:r>
          </a:p>
        </p:txBody>
      </p:sp>
      <p:sp>
        <p:nvSpPr>
          <p:cNvPr id="14" name="TextBox 13"/>
          <p:cNvSpPr txBox="1"/>
          <p:nvPr/>
        </p:nvSpPr>
        <p:spPr>
          <a:xfrm>
            <a:off x="914400" y="4892040"/>
            <a:ext cx="10149840" cy="548640"/>
          </a:xfrm>
          <a:prstGeom prst="rect">
            <a:avLst/>
          </a:prstGeom>
          <a:noFill/>
        </p:spPr>
        <p:txBody>
          <a:bodyPr wrap="square" anchor="t">
            <a:spAutoFit/>
          </a:bodyPr>
          <a:lstStyle/>
          <a:p>
            <a:pPr algn="ctr"/>
            <a:r>
              <a:rPr sz="1700" b="1">
                <a:solidFill>
                  <a:srgbClr val="F8FAFC"/>
                </a:solidFill>
                <a:latin typeface="Aptos"/>
              </a:rPr>
              <a:t>Exercise: Design a spam filter using both approaches. What changes?</a:t>
            </a:r>
          </a:p>
        </p:txBody>
      </p:sp>
      <p:sp>
        <p:nvSpPr>
          <p:cNvPr id="15" name="TextBox 14"/>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03 · AI VS ML VS DL</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Deep Learning: learning complex representations</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Neural networks stack layers so the model can learn increasingly useful representations.</a:t>
            </a:r>
          </a:p>
        </p:txBody>
      </p:sp>
      <p:pic>
        <p:nvPicPr>
          <p:cNvPr id="5" name="Picture 4" descr="network.png"/>
          <p:cNvPicPr>
            <a:picLocks noChangeAspect="1"/>
          </p:cNvPicPr>
          <p:nvPr/>
        </p:nvPicPr>
        <p:blipFill>
          <a:blip r:embed="rId2"/>
          <a:stretch>
            <a:fillRect/>
          </a:stretch>
        </p:blipFill>
        <p:spPr>
          <a:xfrm>
            <a:off x="8778240" y="1874519"/>
            <a:ext cx="2560320" cy="1554480"/>
          </a:xfrm>
          <a:prstGeom prst="rect">
            <a:avLst/>
          </a:prstGeom>
        </p:spPr>
      </p:pic>
      <p:sp>
        <p:nvSpPr>
          <p:cNvPr id="6" name="Rounded Rectangle 5"/>
          <p:cNvSpPr/>
          <p:nvPr/>
        </p:nvSpPr>
        <p:spPr>
          <a:xfrm>
            <a:off x="685800" y="3063240"/>
            <a:ext cx="1691640" cy="1234440"/>
          </a:xfrm>
          <a:prstGeom prst="roundRect">
            <a:avLst/>
          </a:prstGeom>
          <a:solidFill>
            <a:srgbClr val="0B1526"/>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3273552"/>
            <a:ext cx="1463040" cy="274320"/>
          </a:xfrm>
          <a:prstGeom prst="rect">
            <a:avLst/>
          </a:prstGeom>
          <a:noFill/>
        </p:spPr>
        <p:txBody>
          <a:bodyPr wrap="square" anchor="t">
            <a:spAutoFit/>
          </a:bodyPr>
          <a:lstStyle/>
          <a:p>
            <a:pPr algn="ctr"/>
            <a:r>
              <a:rPr sz="1400" b="1">
                <a:solidFill>
                  <a:srgbClr val="488CDC"/>
                </a:solidFill>
                <a:latin typeface="Aptos"/>
              </a:rPr>
              <a:t>Input</a:t>
            </a:r>
          </a:p>
        </p:txBody>
      </p:sp>
      <p:sp>
        <p:nvSpPr>
          <p:cNvPr id="8" name="TextBox 7"/>
          <p:cNvSpPr txBox="1"/>
          <p:nvPr/>
        </p:nvSpPr>
        <p:spPr>
          <a:xfrm>
            <a:off x="795528" y="3657600"/>
            <a:ext cx="1463040" cy="457200"/>
          </a:xfrm>
          <a:prstGeom prst="rect">
            <a:avLst/>
          </a:prstGeom>
          <a:noFill/>
        </p:spPr>
        <p:txBody>
          <a:bodyPr wrap="square" anchor="t">
            <a:spAutoFit/>
          </a:bodyPr>
          <a:lstStyle/>
          <a:p>
            <a:pPr algn="ctr"/>
            <a:r>
              <a:rPr sz="1100" b="0">
                <a:solidFill>
                  <a:srgbClr val="A4B5C9"/>
                </a:solidFill>
                <a:latin typeface="Aptos"/>
              </a:rPr>
              <a:t>pixels / tokens</a:t>
            </a:r>
          </a:p>
        </p:txBody>
      </p:sp>
      <p:sp>
        <p:nvSpPr>
          <p:cNvPr id="9" name="TextBox 8"/>
          <p:cNvSpPr txBox="1"/>
          <p:nvPr/>
        </p:nvSpPr>
        <p:spPr>
          <a:xfrm>
            <a:off x="2423160" y="3429000"/>
            <a:ext cx="411480" cy="320040"/>
          </a:xfrm>
          <a:prstGeom prst="rect">
            <a:avLst/>
          </a:prstGeom>
          <a:noFill/>
        </p:spPr>
        <p:txBody>
          <a:bodyPr wrap="square" anchor="t">
            <a:spAutoFit/>
          </a:bodyPr>
          <a:lstStyle/>
          <a:p>
            <a:pPr algn="ctr"/>
            <a:r>
              <a:rPr sz="1800" b="1">
                <a:solidFill>
                  <a:srgbClr val="F8FAFC"/>
                </a:solidFill>
                <a:latin typeface="Aptos"/>
              </a:rPr>
              <a:t>→</a:t>
            </a:r>
          </a:p>
        </p:txBody>
      </p:sp>
      <p:sp>
        <p:nvSpPr>
          <p:cNvPr id="10" name="Rounded Rectangle 9"/>
          <p:cNvSpPr/>
          <p:nvPr/>
        </p:nvSpPr>
        <p:spPr>
          <a:xfrm>
            <a:off x="2926080" y="3063240"/>
            <a:ext cx="1691640" cy="1234440"/>
          </a:xfrm>
          <a:prstGeom prst="roundRect">
            <a:avLst/>
          </a:prstGeom>
          <a:solidFill>
            <a:srgbClr val="0B1526"/>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35808" y="3273552"/>
            <a:ext cx="1463040" cy="274320"/>
          </a:xfrm>
          <a:prstGeom prst="rect">
            <a:avLst/>
          </a:prstGeom>
          <a:noFill/>
        </p:spPr>
        <p:txBody>
          <a:bodyPr wrap="square" anchor="t">
            <a:spAutoFit/>
          </a:bodyPr>
          <a:lstStyle/>
          <a:p>
            <a:pPr algn="ctr"/>
            <a:r>
              <a:rPr sz="1400" b="1">
                <a:solidFill>
                  <a:srgbClr val="64D2BE"/>
                </a:solidFill>
                <a:latin typeface="Aptos"/>
              </a:rPr>
              <a:t>Layer 1</a:t>
            </a:r>
          </a:p>
        </p:txBody>
      </p:sp>
      <p:sp>
        <p:nvSpPr>
          <p:cNvPr id="12" name="TextBox 11"/>
          <p:cNvSpPr txBox="1"/>
          <p:nvPr/>
        </p:nvSpPr>
        <p:spPr>
          <a:xfrm>
            <a:off x="3035808" y="3657600"/>
            <a:ext cx="1463040" cy="457200"/>
          </a:xfrm>
          <a:prstGeom prst="rect">
            <a:avLst/>
          </a:prstGeom>
          <a:noFill/>
        </p:spPr>
        <p:txBody>
          <a:bodyPr wrap="square" anchor="t">
            <a:spAutoFit/>
          </a:bodyPr>
          <a:lstStyle/>
          <a:p>
            <a:pPr algn="ctr"/>
            <a:r>
              <a:rPr sz="1100" b="0">
                <a:solidFill>
                  <a:srgbClr val="A4B5C9"/>
                </a:solidFill>
                <a:latin typeface="Aptos"/>
              </a:rPr>
              <a:t>simple patterns</a:t>
            </a:r>
          </a:p>
        </p:txBody>
      </p:sp>
      <p:sp>
        <p:nvSpPr>
          <p:cNvPr id="13" name="TextBox 12"/>
          <p:cNvSpPr txBox="1"/>
          <p:nvPr/>
        </p:nvSpPr>
        <p:spPr>
          <a:xfrm>
            <a:off x="4663440" y="3429000"/>
            <a:ext cx="411480" cy="320040"/>
          </a:xfrm>
          <a:prstGeom prst="rect">
            <a:avLst/>
          </a:prstGeom>
          <a:noFill/>
        </p:spPr>
        <p:txBody>
          <a:bodyPr wrap="square" anchor="t">
            <a:spAutoFit/>
          </a:bodyPr>
          <a:lstStyle/>
          <a:p>
            <a:pPr algn="ctr"/>
            <a:r>
              <a:rPr sz="1800" b="1">
                <a:solidFill>
                  <a:srgbClr val="F8FAFC"/>
                </a:solidFill>
                <a:latin typeface="Aptos"/>
              </a:rPr>
              <a:t>→</a:t>
            </a:r>
          </a:p>
        </p:txBody>
      </p:sp>
      <p:sp>
        <p:nvSpPr>
          <p:cNvPr id="14" name="Rounded Rectangle 13"/>
          <p:cNvSpPr/>
          <p:nvPr/>
        </p:nvSpPr>
        <p:spPr>
          <a:xfrm>
            <a:off x="5166360" y="3063240"/>
            <a:ext cx="1691640" cy="1234440"/>
          </a:xfrm>
          <a:prstGeom prst="roundRect">
            <a:avLst/>
          </a:prstGeom>
          <a:solidFill>
            <a:srgbClr val="0B1526"/>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76088" y="3273552"/>
            <a:ext cx="1463040" cy="274320"/>
          </a:xfrm>
          <a:prstGeom prst="rect">
            <a:avLst/>
          </a:prstGeom>
          <a:noFill/>
        </p:spPr>
        <p:txBody>
          <a:bodyPr wrap="square" anchor="t">
            <a:spAutoFit/>
          </a:bodyPr>
          <a:lstStyle/>
          <a:p>
            <a:pPr algn="ctr"/>
            <a:r>
              <a:rPr sz="1400" b="1">
                <a:solidFill>
                  <a:srgbClr val="84D282"/>
                </a:solidFill>
                <a:latin typeface="Aptos"/>
              </a:rPr>
              <a:t>Layer 2</a:t>
            </a:r>
          </a:p>
        </p:txBody>
      </p:sp>
      <p:sp>
        <p:nvSpPr>
          <p:cNvPr id="16" name="TextBox 15"/>
          <p:cNvSpPr txBox="1"/>
          <p:nvPr/>
        </p:nvSpPr>
        <p:spPr>
          <a:xfrm>
            <a:off x="5276088" y="3657600"/>
            <a:ext cx="1463040" cy="457200"/>
          </a:xfrm>
          <a:prstGeom prst="rect">
            <a:avLst/>
          </a:prstGeom>
          <a:noFill/>
        </p:spPr>
        <p:txBody>
          <a:bodyPr wrap="square" anchor="t">
            <a:spAutoFit/>
          </a:bodyPr>
          <a:lstStyle/>
          <a:p>
            <a:pPr algn="ctr"/>
            <a:r>
              <a:rPr sz="1100" b="0">
                <a:solidFill>
                  <a:srgbClr val="A4B5C9"/>
                </a:solidFill>
                <a:latin typeface="Aptos"/>
              </a:rPr>
              <a:t>combinations</a:t>
            </a:r>
          </a:p>
        </p:txBody>
      </p:sp>
      <p:sp>
        <p:nvSpPr>
          <p:cNvPr id="17" name="TextBox 16"/>
          <p:cNvSpPr txBox="1"/>
          <p:nvPr/>
        </p:nvSpPr>
        <p:spPr>
          <a:xfrm>
            <a:off x="6903720" y="3429000"/>
            <a:ext cx="411480" cy="320040"/>
          </a:xfrm>
          <a:prstGeom prst="rect">
            <a:avLst/>
          </a:prstGeom>
          <a:noFill/>
        </p:spPr>
        <p:txBody>
          <a:bodyPr wrap="square" anchor="t">
            <a:spAutoFit/>
          </a:bodyPr>
          <a:lstStyle/>
          <a:p>
            <a:pPr algn="ctr"/>
            <a:r>
              <a:rPr sz="1800" b="1">
                <a:solidFill>
                  <a:srgbClr val="F8FAFC"/>
                </a:solidFill>
                <a:latin typeface="Aptos"/>
              </a:rPr>
              <a:t>→</a:t>
            </a:r>
          </a:p>
        </p:txBody>
      </p:sp>
      <p:sp>
        <p:nvSpPr>
          <p:cNvPr id="18" name="Rounded Rectangle 17"/>
          <p:cNvSpPr/>
          <p:nvPr/>
        </p:nvSpPr>
        <p:spPr>
          <a:xfrm>
            <a:off x="7406640" y="3063240"/>
            <a:ext cx="1691640" cy="1234440"/>
          </a:xfrm>
          <a:prstGeom prst="roundRect">
            <a:avLst/>
          </a:prstGeom>
          <a:solidFill>
            <a:srgbClr val="0B1526"/>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8" y="3273552"/>
            <a:ext cx="1463040" cy="274320"/>
          </a:xfrm>
          <a:prstGeom prst="rect">
            <a:avLst/>
          </a:prstGeom>
          <a:noFill/>
        </p:spPr>
        <p:txBody>
          <a:bodyPr wrap="square" anchor="t">
            <a:spAutoFit/>
          </a:bodyPr>
          <a:lstStyle/>
          <a:p>
            <a:pPr algn="ctr"/>
            <a:r>
              <a:rPr sz="1400" b="1">
                <a:solidFill>
                  <a:srgbClr val="F4A94A"/>
                </a:solidFill>
                <a:latin typeface="Aptos"/>
              </a:rPr>
              <a:t>Layer 3</a:t>
            </a:r>
          </a:p>
        </p:txBody>
      </p:sp>
      <p:sp>
        <p:nvSpPr>
          <p:cNvPr id="20" name="TextBox 19"/>
          <p:cNvSpPr txBox="1"/>
          <p:nvPr/>
        </p:nvSpPr>
        <p:spPr>
          <a:xfrm>
            <a:off x="7516368" y="3657600"/>
            <a:ext cx="1463040" cy="457200"/>
          </a:xfrm>
          <a:prstGeom prst="rect">
            <a:avLst/>
          </a:prstGeom>
          <a:noFill/>
        </p:spPr>
        <p:txBody>
          <a:bodyPr wrap="square" anchor="t">
            <a:spAutoFit/>
          </a:bodyPr>
          <a:lstStyle/>
          <a:p>
            <a:pPr algn="ctr"/>
            <a:r>
              <a:rPr sz="1100" b="0">
                <a:solidFill>
                  <a:srgbClr val="A4B5C9"/>
                </a:solidFill>
                <a:latin typeface="Aptos"/>
              </a:rPr>
              <a:t>higher-level patterns</a:t>
            </a:r>
          </a:p>
        </p:txBody>
      </p:sp>
      <p:sp>
        <p:nvSpPr>
          <p:cNvPr id="21" name="TextBox 20"/>
          <p:cNvSpPr txBox="1"/>
          <p:nvPr/>
        </p:nvSpPr>
        <p:spPr>
          <a:xfrm>
            <a:off x="9144000" y="3429000"/>
            <a:ext cx="411480" cy="320040"/>
          </a:xfrm>
          <a:prstGeom prst="rect">
            <a:avLst/>
          </a:prstGeom>
          <a:noFill/>
        </p:spPr>
        <p:txBody>
          <a:bodyPr wrap="square" anchor="t">
            <a:spAutoFit/>
          </a:bodyPr>
          <a:lstStyle/>
          <a:p>
            <a:pPr algn="ctr"/>
            <a:r>
              <a:rPr sz="1800" b="1">
                <a:solidFill>
                  <a:srgbClr val="F8FAFC"/>
                </a:solidFill>
                <a:latin typeface="Aptos"/>
              </a:rPr>
              <a:t>→</a:t>
            </a:r>
          </a:p>
        </p:txBody>
      </p:sp>
      <p:sp>
        <p:nvSpPr>
          <p:cNvPr id="22" name="Rounded Rectangle 21"/>
          <p:cNvSpPr/>
          <p:nvPr/>
        </p:nvSpPr>
        <p:spPr>
          <a:xfrm>
            <a:off x="9646920" y="3063240"/>
            <a:ext cx="1691640" cy="1234440"/>
          </a:xfrm>
          <a:prstGeom prst="roundRect">
            <a:avLst/>
          </a:prstGeom>
          <a:solidFill>
            <a:srgbClr val="0B1526"/>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56648" y="3273552"/>
            <a:ext cx="1463040" cy="274320"/>
          </a:xfrm>
          <a:prstGeom prst="rect">
            <a:avLst/>
          </a:prstGeom>
          <a:noFill/>
        </p:spPr>
        <p:txBody>
          <a:bodyPr wrap="square" anchor="t">
            <a:spAutoFit/>
          </a:bodyPr>
          <a:lstStyle/>
          <a:p>
            <a:pPr algn="ctr"/>
            <a:r>
              <a:rPr sz="1400" b="1">
                <a:solidFill>
                  <a:srgbClr val="488CDC"/>
                </a:solidFill>
                <a:latin typeface="Aptos"/>
              </a:rPr>
              <a:t>Output</a:t>
            </a:r>
          </a:p>
        </p:txBody>
      </p:sp>
      <p:sp>
        <p:nvSpPr>
          <p:cNvPr id="24" name="TextBox 23"/>
          <p:cNvSpPr txBox="1"/>
          <p:nvPr/>
        </p:nvSpPr>
        <p:spPr>
          <a:xfrm>
            <a:off x="9756648" y="3657600"/>
            <a:ext cx="1463040" cy="457200"/>
          </a:xfrm>
          <a:prstGeom prst="rect">
            <a:avLst/>
          </a:prstGeom>
          <a:noFill/>
        </p:spPr>
        <p:txBody>
          <a:bodyPr wrap="square" anchor="t">
            <a:spAutoFit/>
          </a:bodyPr>
          <a:lstStyle/>
          <a:p>
            <a:pPr algn="ctr"/>
            <a:r>
              <a:rPr sz="1100" b="0">
                <a:solidFill>
                  <a:srgbClr val="A4B5C9"/>
                </a:solidFill>
                <a:latin typeface="Aptos"/>
              </a:rPr>
              <a:t>prediction</a:t>
            </a:r>
          </a:p>
        </p:txBody>
      </p:sp>
      <p:sp>
        <p:nvSpPr>
          <p:cNvPr id="25" name="TextBox 24"/>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04 · LLMS &amp; GENERATIVE AI</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What is Generative AI?</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Generation means producing new content rather than only classifying or retrieving existing records.</a:t>
            </a:r>
          </a:p>
        </p:txBody>
      </p:sp>
      <p:sp>
        <p:nvSpPr>
          <p:cNvPr id="5" name="Rounded Rectangle 4"/>
          <p:cNvSpPr/>
          <p:nvPr/>
        </p:nvSpPr>
        <p:spPr>
          <a:xfrm>
            <a:off x="685800" y="2240280"/>
            <a:ext cx="25146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240280"/>
            <a:ext cx="64008" cy="182880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41448"/>
            <a:ext cx="2103120" cy="365760"/>
          </a:xfrm>
          <a:prstGeom prst="rect">
            <a:avLst/>
          </a:prstGeom>
          <a:noFill/>
        </p:spPr>
        <p:txBody>
          <a:bodyPr wrap="square" anchor="t">
            <a:spAutoFit/>
          </a:bodyPr>
          <a:lstStyle/>
          <a:p>
            <a:pPr algn="l"/>
            <a:r>
              <a:rPr sz="1700" b="1">
                <a:solidFill>
                  <a:srgbClr val="F8FAFC"/>
                </a:solidFill>
                <a:latin typeface="Aptos"/>
              </a:rPr>
              <a:t>Text</a:t>
            </a:r>
          </a:p>
        </p:txBody>
      </p:sp>
      <p:sp>
        <p:nvSpPr>
          <p:cNvPr id="8" name="TextBox 7"/>
          <p:cNvSpPr txBox="1"/>
          <p:nvPr/>
        </p:nvSpPr>
        <p:spPr>
          <a:xfrm>
            <a:off x="914400" y="2898648"/>
            <a:ext cx="2057400" cy="1005840"/>
          </a:xfrm>
          <a:prstGeom prst="rect">
            <a:avLst/>
          </a:prstGeom>
          <a:noFill/>
        </p:spPr>
        <p:txBody>
          <a:bodyPr wrap="square" anchor="t">
            <a:spAutoFit/>
          </a:bodyPr>
          <a:lstStyle/>
          <a:p>
            <a:pPr algn="l"/>
            <a:r>
              <a:rPr sz="1250" b="0">
                <a:solidFill>
                  <a:srgbClr val="E1EAF4"/>
                </a:solidFill>
                <a:latin typeface="Aptos"/>
              </a:rPr>
              <a:t>Emails, explanations, summaries</a:t>
            </a:r>
          </a:p>
        </p:txBody>
      </p:sp>
      <p:sp>
        <p:nvSpPr>
          <p:cNvPr id="9" name="Rounded Rectangle 8"/>
          <p:cNvSpPr/>
          <p:nvPr/>
        </p:nvSpPr>
        <p:spPr>
          <a:xfrm>
            <a:off x="3474720" y="2240280"/>
            <a:ext cx="25146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2240280"/>
            <a:ext cx="64008" cy="182880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2441448"/>
            <a:ext cx="2103120" cy="365760"/>
          </a:xfrm>
          <a:prstGeom prst="rect">
            <a:avLst/>
          </a:prstGeom>
          <a:noFill/>
        </p:spPr>
        <p:txBody>
          <a:bodyPr wrap="square" anchor="t">
            <a:spAutoFit/>
          </a:bodyPr>
          <a:lstStyle/>
          <a:p>
            <a:pPr algn="l"/>
            <a:r>
              <a:rPr sz="1700" b="1">
                <a:solidFill>
                  <a:srgbClr val="F8FAFC"/>
                </a:solidFill>
                <a:latin typeface="Aptos"/>
              </a:rPr>
              <a:t>Images</a:t>
            </a:r>
          </a:p>
        </p:txBody>
      </p:sp>
      <p:sp>
        <p:nvSpPr>
          <p:cNvPr id="12" name="TextBox 11"/>
          <p:cNvSpPr txBox="1"/>
          <p:nvPr/>
        </p:nvSpPr>
        <p:spPr>
          <a:xfrm>
            <a:off x="3703320" y="2898648"/>
            <a:ext cx="2057400" cy="1005840"/>
          </a:xfrm>
          <a:prstGeom prst="rect">
            <a:avLst/>
          </a:prstGeom>
          <a:noFill/>
        </p:spPr>
        <p:txBody>
          <a:bodyPr wrap="square" anchor="t">
            <a:spAutoFit/>
          </a:bodyPr>
          <a:lstStyle/>
          <a:p>
            <a:pPr algn="l"/>
            <a:r>
              <a:rPr sz="1250" b="0">
                <a:solidFill>
                  <a:srgbClr val="E1EAF4"/>
                </a:solidFill>
                <a:latin typeface="Aptos"/>
              </a:rPr>
              <a:t>Illustrations, concepts, design variations</a:t>
            </a:r>
          </a:p>
        </p:txBody>
      </p:sp>
      <p:sp>
        <p:nvSpPr>
          <p:cNvPr id="13" name="Rounded Rectangle 12"/>
          <p:cNvSpPr/>
          <p:nvPr/>
        </p:nvSpPr>
        <p:spPr>
          <a:xfrm>
            <a:off x="6263640" y="2240280"/>
            <a:ext cx="25146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240280"/>
            <a:ext cx="64008" cy="182880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441448"/>
            <a:ext cx="2103120" cy="365760"/>
          </a:xfrm>
          <a:prstGeom prst="rect">
            <a:avLst/>
          </a:prstGeom>
          <a:noFill/>
        </p:spPr>
        <p:txBody>
          <a:bodyPr wrap="square" anchor="t">
            <a:spAutoFit/>
          </a:bodyPr>
          <a:lstStyle/>
          <a:p>
            <a:pPr algn="l"/>
            <a:r>
              <a:rPr sz="1700" b="1">
                <a:solidFill>
                  <a:srgbClr val="F8FAFC"/>
                </a:solidFill>
                <a:latin typeface="Aptos"/>
              </a:rPr>
              <a:t>Code</a:t>
            </a:r>
          </a:p>
        </p:txBody>
      </p:sp>
      <p:sp>
        <p:nvSpPr>
          <p:cNvPr id="16" name="TextBox 15"/>
          <p:cNvSpPr txBox="1"/>
          <p:nvPr/>
        </p:nvSpPr>
        <p:spPr>
          <a:xfrm>
            <a:off x="6492240" y="2898648"/>
            <a:ext cx="2057400" cy="1005840"/>
          </a:xfrm>
          <a:prstGeom prst="rect">
            <a:avLst/>
          </a:prstGeom>
          <a:noFill/>
        </p:spPr>
        <p:txBody>
          <a:bodyPr wrap="square" anchor="t">
            <a:spAutoFit/>
          </a:bodyPr>
          <a:lstStyle/>
          <a:p>
            <a:pPr algn="l"/>
            <a:r>
              <a:rPr sz="1250" b="0">
                <a:solidFill>
                  <a:srgbClr val="E1EAF4"/>
                </a:solidFill>
                <a:latin typeface="Aptos"/>
              </a:rPr>
              <a:t>Functions, tests, documentation</a:t>
            </a:r>
          </a:p>
        </p:txBody>
      </p:sp>
      <p:sp>
        <p:nvSpPr>
          <p:cNvPr id="17" name="Rounded Rectangle 16"/>
          <p:cNvSpPr/>
          <p:nvPr/>
        </p:nvSpPr>
        <p:spPr>
          <a:xfrm>
            <a:off x="9052559" y="2240280"/>
            <a:ext cx="25146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59" y="2240280"/>
            <a:ext cx="64008" cy="182880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59" y="2441448"/>
            <a:ext cx="2103120" cy="365760"/>
          </a:xfrm>
          <a:prstGeom prst="rect">
            <a:avLst/>
          </a:prstGeom>
          <a:noFill/>
        </p:spPr>
        <p:txBody>
          <a:bodyPr wrap="square" anchor="t">
            <a:spAutoFit/>
          </a:bodyPr>
          <a:lstStyle/>
          <a:p>
            <a:pPr algn="l"/>
            <a:r>
              <a:rPr sz="1700" b="1">
                <a:solidFill>
                  <a:srgbClr val="F8FAFC"/>
                </a:solidFill>
                <a:latin typeface="Aptos"/>
              </a:rPr>
              <a:t>Audio / video</a:t>
            </a:r>
          </a:p>
        </p:txBody>
      </p:sp>
      <p:sp>
        <p:nvSpPr>
          <p:cNvPr id="20" name="TextBox 19"/>
          <p:cNvSpPr txBox="1"/>
          <p:nvPr/>
        </p:nvSpPr>
        <p:spPr>
          <a:xfrm>
            <a:off x="9281159" y="2898648"/>
            <a:ext cx="2057400" cy="1005840"/>
          </a:xfrm>
          <a:prstGeom prst="rect">
            <a:avLst/>
          </a:prstGeom>
          <a:noFill/>
        </p:spPr>
        <p:txBody>
          <a:bodyPr wrap="square" anchor="t">
            <a:spAutoFit/>
          </a:bodyPr>
          <a:lstStyle/>
          <a:p>
            <a:pPr algn="l"/>
            <a:r>
              <a:rPr sz="1250" b="0">
                <a:solidFill>
                  <a:srgbClr val="E1EAF4"/>
                </a:solidFill>
                <a:latin typeface="Aptos"/>
              </a:rPr>
              <a:t>Speech, music and video generation</a:t>
            </a:r>
          </a:p>
        </p:txBody>
      </p:sp>
      <p:sp>
        <p:nvSpPr>
          <p:cNvPr id="21" name="TextBox 20"/>
          <p:cNvSpPr txBox="1"/>
          <p:nvPr/>
        </p:nvSpPr>
        <p:spPr>
          <a:xfrm>
            <a:off x="1097280" y="4892040"/>
            <a:ext cx="9784080" cy="548640"/>
          </a:xfrm>
          <a:prstGeom prst="rect">
            <a:avLst/>
          </a:prstGeom>
          <a:noFill/>
        </p:spPr>
        <p:txBody>
          <a:bodyPr wrap="square" anchor="t">
            <a:spAutoFit/>
          </a:bodyPr>
          <a:lstStyle/>
          <a:p>
            <a:pPr algn="ctr"/>
            <a:r>
              <a:rPr sz="1800" b="1">
                <a:solidFill>
                  <a:srgbClr val="F8FAFC"/>
                </a:solidFill>
                <a:latin typeface="Aptos"/>
              </a:rPr>
              <a:t>Prompt → model → generated output → human review</a:t>
            </a:r>
          </a:p>
        </p:txBody>
      </p:sp>
      <p:sp>
        <p:nvSpPr>
          <p:cNvPr id="22" name="TextBox 21"/>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04 · LLMS &amp; GENERATIVE AI</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Large Language Models</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LLMs learn statistical patterns in large-scale text and code and generate language token by token.</a:t>
            </a:r>
          </a:p>
        </p:txBody>
      </p:sp>
      <p:pic>
        <p:nvPicPr>
          <p:cNvPr id="5" name="Picture 4" descr="llm.png"/>
          <p:cNvPicPr>
            <a:picLocks noChangeAspect="1"/>
          </p:cNvPicPr>
          <p:nvPr/>
        </p:nvPicPr>
        <p:blipFill>
          <a:blip r:embed="rId2"/>
          <a:stretch>
            <a:fillRect/>
          </a:stretch>
        </p:blipFill>
        <p:spPr>
          <a:xfrm>
            <a:off x="8915400" y="1874519"/>
            <a:ext cx="2377440" cy="1417320"/>
          </a:xfrm>
          <a:prstGeom prst="rect">
            <a:avLst/>
          </a:prstGeom>
        </p:spPr>
      </p:pic>
      <p:sp>
        <p:nvSpPr>
          <p:cNvPr id="6" name="Rounded Rectangle 5"/>
          <p:cNvSpPr/>
          <p:nvPr/>
        </p:nvSpPr>
        <p:spPr>
          <a:xfrm>
            <a:off x="685800" y="2057400"/>
            <a:ext cx="39319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57400"/>
            <a:ext cx="64008" cy="10972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58568"/>
            <a:ext cx="3520439" cy="365760"/>
          </a:xfrm>
          <a:prstGeom prst="rect">
            <a:avLst/>
          </a:prstGeom>
          <a:noFill/>
        </p:spPr>
        <p:txBody>
          <a:bodyPr wrap="square" anchor="t">
            <a:spAutoFit/>
          </a:bodyPr>
          <a:lstStyle/>
          <a:p>
            <a:pPr algn="l"/>
            <a:r>
              <a:rPr sz="1700" b="1">
                <a:solidFill>
                  <a:srgbClr val="F8FAFC"/>
                </a:solidFill>
                <a:latin typeface="Aptos"/>
              </a:rPr>
              <a:t>Training data</a:t>
            </a:r>
          </a:p>
        </p:txBody>
      </p:sp>
      <p:sp>
        <p:nvSpPr>
          <p:cNvPr id="9" name="TextBox 8"/>
          <p:cNvSpPr txBox="1"/>
          <p:nvPr/>
        </p:nvSpPr>
        <p:spPr>
          <a:xfrm>
            <a:off x="914400" y="2715768"/>
            <a:ext cx="3474720" cy="274319"/>
          </a:xfrm>
          <a:prstGeom prst="rect">
            <a:avLst/>
          </a:prstGeom>
          <a:noFill/>
        </p:spPr>
        <p:txBody>
          <a:bodyPr wrap="square" anchor="t">
            <a:spAutoFit/>
          </a:bodyPr>
          <a:lstStyle/>
          <a:p>
            <a:pPr algn="l"/>
            <a:r>
              <a:rPr sz="1250" b="0">
                <a:solidFill>
                  <a:srgbClr val="E1EAF4"/>
                </a:solidFill>
                <a:latin typeface="Aptos"/>
              </a:rPr>
              <a:t>Large collections of text/code provide examples of language patterns.</a:t>
            </a:r>
          </a:p>
        </p:txBody>
      </p:sp>
      <p:sp>
        <p:nvSpPr>
          <p:cNvPr id="10" name="Rounded Rectangle 9"/>
          <p:cNvSpPr/>
          <p:nvPr/>
        </p:nvSpPr>
        <p:spPr>
          <a:xfrm>
            <a:off x="4937760" y="2057400"/>
            <a:ext cx="39319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0" y="2057400"/>
            <a:ext cx="64008" cy="10972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258568"/>
            <a:ext cx="3520439" cy="365760"/>
          </a:xfrm>
          <a:prstGeom prst="rect">
            <a:avLst/>
          </a:prstGeom>
          <a:noFill/>
        </p:spPr>
        <p:txBody>
          <a:bodyPr wrap="square" anchor="t">
            <a:spAutoFit/>
          </a:bodyPr>
          <a:lstStyle/>
          <a:p>
            <a:pPr algn="l"/>
            <a:r>
              <a:rPr sz="1700" b="1">
                <a:solidFill>
                  <a:srgbClr val="F8FAFC"/>
                </a:solidFill>
                <a:latin typeface="Aptos"/>
              </a:rPr>
              <a:t>Transformer</a:t>
            </a:r>
          </a:p>
        </p:txBody>
      </p:sp>
      <p:sp>
        <p:nvSpPr>
          <p:cNvPr id="13" name="TextBox 12"/>
          <p:cNvSpPr txBox="1"/>
          <p:nvPr/>
        </p:nvSpPr>
        <p:spPr>
          <a:xfrm>
            <a:off x="5166360" y="2715768"/>
            <a:ext cx="3474720" cy="274319"/>
          </a:xfrm>
          <a:prstGeom prst="rect">
            <a:avLst/>
          </a:prstGeom>
          <a:noFill/>
        </p:spPr>
        <p:txBody>
          <a:bodyPr wrap="square" anchor="t">
            <a:spAutoFit/>
          </a:bodyPr>
          <a:lstStyle/>
          <a:p>
            <a:pPr algn="l"/>
            <a:r>
              <a:rPr sz="1250" b="0">
                <a:solidFill>
                  <a:srgbClr val="E1EAF4"/>
                </a:solidFill>
                <a:latin typeface="Aptos"/>
              </a:rPr>
              <a:t>Attention mechanisms help model relationships among tokens.</a:t>
            </a:r>
          </a:p>
        </p:txBody>
      </p:sp>
      <p:sp>
        <p:nvSpPr>
          <p:cNvPr id="14" name="Rounded Rectangle 13"/>
          <p:cNvSpPr/>
          <p:nvPr/>
        </p:nvSpPr>
        <p:spPr>
          <a:xfrm>
            <a:off x="685800" y="3474720"/>
            <a:ext cx="39319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474720"/>
            <a:ext cx="64008" cy="109728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75887"/>
            <a:ext cx="3520439" cy="365760"/>
          </a:xfrm>
          <a:prstGeom prst="rect">
            <a:avLst/>
          </a:prstGeom>
          <a:noFill/>
        </p:spPr>
        <p:txBody>
          <a:bodyPr wrap="square" anchor="t">
            <a:spAutoFit/>
          </a:bodyPr>
          <a:lstStyle/>
          <a:p>
            <a:pPr algn="l"/>
            <a:r>
              <a:rPr sz="1700" b="1">
                <a:solidFill>
                  <a:srgbClr val="F8FAFC"/>
                </a:solidFill>
                <a:latin typeface="Aptos"/>
              </a:rPr>
              <a:t>Inference</a:t>
            </a:r>
          </a:p>
        </p:txBody>
      </p:sp>
      <p:sp>
        <p:nvSpPr>
          <p:cNvPr id="17" name="TextBox 16"/>
          <p:cNvSpPr txBox="1"/>
          <p:nvPr/>
        </p:nvSpPr>
        <p:spPr>
          <a:xfrm>
            <a:off x="914400" y="4133087"/>
            <a:ext cx="3474720" cy="274319"/>
          </a:xfrm>
          <a:prstGeom prst="rect">
            <a:avLst/>
          </a:prstGeom>
          <a:noFill/>
        </p:spPr>
        <p:txBody>
          <a:bodyPr wrap="square" anchor="t">
            <a:spAutoFit/>
          </a:bodyPr>
          <a:lstStyle/>
          <a:p>
            <a:pPr algn="l"/>
            <a:r>
              <a:rPr sz="1250" b="0">
                <a:solidFill>
                  <a:srgbClr val="E1EAF4"/>
                </a:solidFill>
                <a:latin typeface="Aptos"/>
              </a:rPr>
              <a:t>A prompt and context are processed to generate an output.</a:t>
            </a:r>
          </a:p>
        </p:txBody>
      </p:sp>
      <p:sp>
        <p:nvSpPr>
          <p:cNvPr id="18" name="Rounded Rectangle 17"/>
          <p:cNvSpPr/>
          <p:nvPr/>
        </p:nvSpPr>
        <p:spPr>
          <a:xfrm>
            <a:off x="4937760" y="3474720"/>
            <a:ext cx="39319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37760" y="3474720"/>
            <a:ext cx="64008" cy="109728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6360" y="3675887"/>
            <a:ext cx="3520439" cy="365760"/>
          </a:xfrm>
          <a:prstGeom prst="rect">
            <a:avLst/>
          </a:prstGeom>
          <a:noFill/>
        </p:spPr>
        <p:txBody>
          <a:bodyPr wrap="square" anchor="t">
            <a:spAutoFit/>
          </a:bodyPr>
          <a:lstStyle/>
          <a:p>
            <a:pPr algn="l"/>
            <a:r>
              <a:rPr sz="1700" b="1">
                <a:solidFill>
                  <a:srgbClr val="F8FAFC"/>
                </a:solidFill>
                <a:latin typeface="Aptos"/>
              </a:rPr>
              <a:t>Applications</a:t>
            </a:r>
          </a:p>
        </p:txBody>
      </p:sp>
      <p:sp>
        <p:nvSpPr>
          <p:cNvPr id="21" name="TextBox 20"/>
          <p:cNvSpPr txBox="1"/>
          <p:nvPr/>
        </p:nvSpPr>
        <p:spPr>
          <a:xfrm>
            <a:off x="5166360" y="4133087"/>
            <a:ext cx="3474720" cy="274319"/>
          </a:xfrm>
          <a:prstGeom prst="rect">
            <a:avLst/>
          </a:prstGeom>
          <a:noFill/>
        </p:spPr>
        <p:txBody>
          <a:bodyPr wrap="square" anchor="t">
            <a:spAutoFit/>
          </a:bodyPr>
          <a:lstStyle/>
          <a:p>
            <a:pPr algn="l"/>
            <a:r>
              <a:rPr sz="1250" b="0">
                <a:solidFill>
                  <a:srgbClr val="E1EAF4"/>
                </a:solidFill>
                <a:latin typeface="Aptos"/>
              </a:rPr>
              <a:t>Chatbots, summarization, translation, coding and more.</a:t>
            </a:r>
          </a:p>
        </p:txBody>
      </p:sp>
      <p:sp>
        <p:nvSpPr>
          <p:cNvPr id="22" name="TextBox 21"/>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04 · LLMS &amp; GENERATIVE AI</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How an LLM responds to a prompt</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A conceptual flow—not an implementation diagram.</a:t>
            </a:r>
          </a:p>
        </p:txBody>
      </p:sp>
      <p:sp>
        <p:nvSpPr>
          <p:cNvPr id="5" name="Rounded Rectangle 4"/>
          <p:cNvSpPr/>
          <p:nvPr/>
        </p:nvSpPr>
        <p:spPr>
          <a:xfrm>
            <a:off x="594360" y="2240280"/>
            <a:ext cx="205740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2240280"/>
            <a:ext cx="64008" cy="196596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41448"/>
            <a:ext cx="1645920" cy="365760"/>
          </a:xfrm>
          <a:prstGeom prst="rect">
            <a:avLst/>
          </a:prstGeom>
          <a:noFill/>
        </p:spPr>
        <p:txBody>
          <a:bodyPr wrap="square" anchor="t">
            <a:spAutoFit/>
          </a:bodyPr>
          <a:lstStyle/>
          <a:p>
            <a:pPr algn="l"/>
            <a:r>
              <a:rPr sz="1700" b="1">
                <a:solidFill>
                  <a:srgbClr val="F8FAFC"/>
                </a:solidFill>
                <a:latin typeface="Aptos"/>
              </a:rPr>
              <a:t>1 · Prompt</a:t>
            </a:r>
          </a:p>
        </p:txBody>
      </p:sp>
      <p:sp>
        <p:nvSpPr>
          <p:cNvPr id="8" name="TextBox 7"/>
          <p:cNvSpPr txBox="1"/>
          <p:nvPr/>
        </p:nvSpPr>
        <p:spPr>
          <a:xfrm>
            <a:off x="822960" y="2898648"/>
            <a:ext cx="1600200" cy="1143000"/>
          </a:xfrm>
          <a:prstGeom prst="rect">
            <a:avLst/>
          </a:prstGeom>
          <a:noFill/>
        </p:spPr>
        <p:txBody>
          <a:bodyPr wrap="square" anchor="t">
            <a:spAutoFit/>
          </a:bodyPr>
          <a:lstStyle/>
          <a:p>
            <a:pPr algn="l"/>
            <a:r>
              <a:rPr sz="1250" b="0">
                <a:solidFill>
                  <a:srgbClr val="E1EAF4"/>
                </a:solidFill>
                <a:latin typeface="Aptos"/>
              </a:rPr>
              <a:t>User instruction + context</a:t>
            </a:r>
          </a:p>
        </p:txBody>
      </p:sp>
      <p:sp>
        <p:nvSpPr>
          <p:cNvPr id="9" name="TextBox 8"/>
          <p:cNvSpPr txBox="1"/>
          <p:nvPr/>
        </p:nvSpPr>
        <p:spPr>
          <a:xfrm>
            <a:off x="2651760" y="2971800"/>
            <a:ext cx="274320" cy="320040"/>
          </a:xfrm>
          <a:prstGeom prst="rect">
            <a:avLst/>
          </a:prstGeom>
          <a:noFill/>
        </p:spPr>
        <p:txBody>
          <a:bodyPr wrap="square" anchor="t">
            <a:spAutoFit/>
          </a:bodyPr>
          <a:lstStyle/>
          <a:p>
            <a:pPr algn="ctr"/>
            <a:r>
              <a:rPr sz="1800" b="1">
                <a:solidFill>
                  <a:srgbClr val="F8FAFC"/>
                </a:solidFill>
                <a:latin typeface="Aptos"/>
              </a:rPr>
              <a:t>→</a:t>
            </a:r>
          </a:p>
        </p:txBody>
      </p:sp>
      <p:sp>
        <p:nvSpPr>
          <p:cNvPr id="10" name="Rounded Rectangle 9"/>
          <p:cNvSpPr/>
          <p:nvPr/>
        </p:nvSpPr>
        <p:spPr>
          <a:xfrm>
            <a:off x="2926079" y="2240280"/>
            <a:ext cx="205740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79" y="2240280"/>
            <a:ext cx="64008" cy="196596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79" y="2441448"/>
            <a:ext cx="1645920" cy="365760"/>
          </a:xfrm>
          <a:prstGeom prst="rect">
            <a:avLst/>
          </a:prstGeom>
          <a:noFill/>
        </p:spPr>
        <p:txBody>
          <a:bodyPr wrap="square" anchor="t">
            <a:spAutoFit/>
          </a:bodyPr>
          <a:lstStyle/>
          <a:p>
            <a:pPr algn="l"/>
            <a:r>
              <a:rPr sz="1700" b="1">
                <a:solidFill>
                  <a:srgbClr val="F8FAFC"/>
                </a:solidFill>
                <a:latin typeface="Aptos"/>
              </a:rPr>
              <a:t>2 · Tokens</a:t>
            </a:r>
          </a:p>
        </p:txBody>
      </p:sp>
      <p:sp>
        <p:nvSpPr>
          <p:cNvPr id="13" name="TextBox 12"/>
          <p:cNvSpPr txBox="1"/>
          <p:nvPr/>
        </p:nvSpPr>
        <p:spPr>
          <a:xfrm>
            <a:off x="3154679" y="2898648"/>
            <a:ext cx="1600200" cy="1143000"/>
          </a:xfrm>
          <a:prstGeom prst="rect">
            <a:avLst/>
          </a:prstGeom>
          <a:noFill/>
        </p:spPr>
        <p:txBody>
          <a:bodyPr wrap="square" anchor="t">
            <a:spAutoFit/>
          </a:bodyPr>
          <a:lstStyle/>
          <a:p>
            <a:pPr algn="l"/>
            <a:r>
              <a:rPr sz="1250" b="0">
                <a:solidFill>
                  <a:srgbClr val="E1EAF4"/>
                </a:solidFill>
                <a:latin typeface="Aptos"/>
              </a:rPr>
              <a:t>Text is represented as tokens.</a:t>
            </a:r>
          </a:p>
        </p:txBody>
      </p:sp>
      <p:sp>
        <p:nvSpPr>
          <p:cNvPr id="14" name="TextBox 13"/>
          <p:cNvSpPr txBox="1"/>
          <p:nvPr/>
        </p:nvSpPr>
        <p:spPr>
          <a:xfrm>
            <a:off x="4983479" y="2971800"/>
            <a:ext cx="274320" cy="320040"/>
          </a:xfrm>
          <a:prstGeom prst="rect">
            <a:avLst/>
          </a:prstGeom>
          <a:noFill/>
        </p:spPr>
        <p:txBody>
          <a:bodyPr wrap="square" anchor="t">
            <a:spAutoFit/>
          </a:bodyPr>
          <a:lstStyle/>
          <a:p>
            <a:pPr algn="ctr"/>
            <a:r>
              <a:rPr sz="1800" b="1">
                <a:solidFill>
                  <a:srgbClr val="F8FAFC"/>
                </a:solidFill>
                <a:latin typeface="Aptos"/>
              </a:rPr>
              <a:t>→</a:t>
            </a:r>
          </a:p>
        </p:txBody>
      </p:sp>
      <p:sp>
        <p:nvSpPr>
          <p:cNvPr id="15" name="Rounded Rectangle 14"/>
          <p:cNvSpPr/>
          <p:nvPr/>
        </p:nvSpPr>
        <p:spPr>
          <a:xfrm>
            <a:off x="5257800" y="2240280"/>
            <a:ext cx="205740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57800" y="2240280"/>
            <a:ext cx="64008" cy="196596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2441448"/>
            <a:ext cx="1645920" cy="365760"/>
          </a:xfrm>
          <a:prstGeom prst="rect">
            <a:avLst/>
          </a:prstGeom>
          <a:noFill/>
        </p:spPr>
        <p:txBody>
          <a:bodyPr wrap="square" anchor="t">
            <a:spAutoFit/>
          </a:bodyPr>
          <a:lstStyle/>
          <a:p>
            <a:pPr algn="l"/>
            <a:r>
              <a:rPr sz="1700" b="1">
                <a:solidFill>
                  <a:srgbClr val="F8FAFC"/>
                </a:solidFill>
                <a:latin typeface="Aptos"/>
              </a:rPr>
              <a:t>3 · Model</a:t>
            </a:r>
          </a:p>
        </p:txBody>
      </p:sp>
      <p:sp>
        <p:nvSpPr>
          <p:cNvPr id="18" name="TextBox 17"/>
          <p:cNvSpPr txBox="1"/>
          <p:nvPr/>
        </p:nvSpPr>
        <p:spPr>
          <a:xfrm>
            <a:off x="5486400" y="2898648"/>
            <a:ext cx="1600200" cy="1143000"/>
          </a:xfrm>
          <a:prstGeom prst="rect">
            <a:avLst/>
          </a:prstGeom>
          <a:noFill/>
        </p:spPr>
        <p:txBody>
          <a:bodyPr wrap="square" anchor="t">
            <a:spAutoFit/>
          </a:bodyPr>
          <a:lstStyle/>
          <a:p>
            <a:pPr algn="l"/>
            <a:r>
              <a:rPr sz="1250" b="0">
                <a:solidFill>
                  <a:srgbClr val="E1EAF4"/>
                </a:solidFill>
                <a:latin typeface="Aptos"/>
              </a:rPr>
              <a:t>Neural network processes context.</a:t>
            </a:r>
          </a:p>
        </p:txBody>
      </p:sp>
      <p:sp>
        <p:nvSpPr>
          <p:cNvPr id="19" name="TextBox 18"/>
          <p:cNvSpPr txBox="1"/>
          <p:nvPr/>
        </p:nvSpPr>
        <p:spPr>
          <a:xfrm>
            <a:off x="7315200" y="2971800"/>
            <a:ext cx="274320" cy="320040"/>
          </a:xfrm>
          <a:prstGeom prst="rect">
            <a:avLst/>
          </a:prstGeom>
          <a:noFill/>
        </p:spPr>
        <p:txBody>
          <a:bodyPr wrap="square" anchor="t">
            <a:spAutoFit/>
          </a:bodyPr>
          <a:lstStyle/>
          <a:p>
            <a:pPr algn="ctr"/>
            <a:r>
              <a:rPr sz="1800" b="1">
                <a:solidFill>
                  <a:srgbClr val="F8FAFC"/>
                </a:solidFill>
                <a:latin typeface="Aptos"/>
              </a:rPr>
              <a:t>→</a:t>
            </a:r>
          </a:p>
        </p:txBody>
      </p:sp>
      <p:sp>
        <p:nvSpPr>
          <p:cNvPr id="20" name="Rounded Rectangle 19"/>
          <p:cNvSpPr/>
          <p:nvPr/>
        </p:nvSpPr>
        <p:spPr>
          <a:xfrm>
            <a:off x="7589519" y="2240280"/>
            <a:ext cx="205740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19" y="2240280"/>
            <a:ext cx="64008" cy="196596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19" y="2441448"/>
            <a:ext cx="1645920" cy="365760"/>
          </a:xfrm>
          <a:prstGeom prst="rect">
            <a:avLst/>
          </a:prstGeom>
          <a:noFill/>
        </p:spPr>
        <p:txBody>
          <a:bodyPr wrap="square" anchor="t">
            <a:spAutoFit/>
          </a:bodyPr>
          <a:lstStyle/>
          <a:p>
            <a:pPr algn="l"/>
            <a:r>
              <a:rPr sz="1700" b="1">
                <a:solidFill>
                  <a:srgbClr val="F8FAFC"/>
                </a:solidFill>
                <a:latin typeface="Aptos"/>
              </a:rPr>
              <a:t>4 · Next-token probabilities</a:t>
            </a:r>
          </a:p>
        </p:txBody>
      </p:sp>
      <p:sp>
        <p:nvSpPr>
          <p:cNvPr id="23" name="TextBox 22"/>
          <p:cNvSpPr txBox="1"/>
          <p:nvPr/>
        </p:nvSpPr>
        <p:spPr>
          <a:xfrm>
            <a:off x="7818119" y="2898648"/>
            <a:ext cx="1600200" cy="1143000"/>
          </a:xfrm>
          <a:prstGeom prst="rect">
            <a:avLst/>
          </a:prstGeom>
          <a:noFill/>
        </p:spPr>
        <p:txBody>
          <a:bodyPr wrap="square" anchor="t">
            <a:spAutoFit/>
          </a:bodyPr>
          <a:lstStyle/>
          <a:p>
            <a:pPr algn="l"/>
            <a:r>
              <a:rPr sz="1250" b="0">
                <a:solidFill>
                  <a:srgbClr val="E1EAF4"/>
                </a:solidFill>
                <a:latin typeface="Aptos"/>
              </a:rPr>
              <a:t>The model predicts plausible continuations.</a:t>
            </a:r>
          </a:p>
        </p:txBody>
      </p:sp>
      <p:sp>
        <p:nvSpPr>
          <p:cNvPr id="24" name="TextBox 23"/>
          <p:cNvSpPr txBox="1"/>
          <p:nvPr/>
        </p:nvSpPr>
        <p:spPr>
          <a:xfrm>
            <a:off x="9646919" y="2971800"/>
            <a:ext cx="274320" cy="320040"/>
          </a:xfrm>
          <a:prstGeom prst="rect">
            <a:avLst/>
          </a:prstGeom>
          <a:noFill/>
        </p:spPr>
        <p:txBody>
          <a:bodyPr wrap="square" anchor="t">
            <a:spAutoFit/>
          </a:bodyPr>
          <a:lstStyle/>
          <a:p>
            <a:pPr algn="ctr"/>
            <a:r>
              <a:rPr sz="1800" b="1">
                <a:solidFill>
                  <a:srgbClr val="F8FAFC"/>
                </a:solidFill>
                <a:latin typeface="Aptos"/>
              </a:rPr>
              <a:t>→</a:t>
            </a:r>
          </a:p>
        </p:txBody>
      </p:sp>
      <p:sp>
        <p:nvSpPr>
          <p:cNvPr id="25" name="Rounded Rectangle 24"/>
          <p:cNvSpPr/>
          <p:nvPr/>
        </p:nvSpPr>
        <p:spPr>
          <a:xfrm>
            <a:off x="9921240" y="2240280"/>
            <a:ext cx="205740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921240" y="2240280"/>
            <a:ext cx="64008" cy="196596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9840" y="2441448"/>
            <a:ext cx="1645920" cy="365760"/>
          </a:xfrm>
          <a:prstGeom prst="rect">
            <a:avLst/>
          </a:prstGeom>
          <a:noFill/>
        </p:spPr>
        <p:txBody>
          <a:bodyPr wrap="square" anchor="t">
            <a:spAutoFit/>
          </a:bodyPr>
          <a:lstStyle/>
          <a:p>
            <a:pPr algn="l"/>
            <a:r>
              <a:rPr sz="1700" b="1">
                <a:solidFill>
                  <a:srgbClr val="F8FAFC"/>
                </a:solidFill>
                <a:latin typeface="Aptos"/>
              </a:rPr>
              <a:t>5 · Output</a:t>
            </a:r>
          </a:p>
        </p:txBody>
      </p:sp>
      <p:sp>
        <p:nvSpPr>
          <p:cNvPr id="28" name="TextBox 27"/>
          <p:cNvSpPr txBox="1"/>
          <p:nvPr/>
        </p:nvSpPr>
        <p:spPr>
          <a:xfrm>
            <a:off x="10149840" y="2898648"/>
            <a:ext cx="1600200" cy="1143000"/>
          </a:xfrm>
          <a:prstGeom prst="rect">
            <a:avLst/>
          </a:prstGeom>
          <a:noFill/>
        </p:spPr>
        <p:txBody>
          <a:bodyPr wrap="square" anchor="t">
            <a:spAutoFit/>
          </a:bodyPr>
          <a:lstStyle/>
          <a:p>
            <a:pPr algn="l"/>
            <a:r>
              <a:rPr sz="1250" b="0">
                <a:solidFill>
                  <a:srgbClr val="E1EAF4"/>
                </a:solidFill>
                <a:latin typeface="Aptos"/>
              </a:rPr>
              <a:t>Tokens are decoded into text.</a:t>
            </a:r>
          </a:p>
        </p:txBody>
      </p:sp>
      <p:sp>
        <p:nvSpPr>
          <p:cNvPr id="29" name="TextBox 28"/>
          <p:cNvSpPr txBox="1"/>
          <p:nvPr/>
        </p:nvSpPr>
        <p:spPr>
          <a:xfrm>
            <a:off x="914400" y="4892040"/>
            <a:ext cx="10241280" cy="548640"/>
          </a:xfrm>
          <a:prstGeom prst="rect">
            <a:avLst/>
          </a:prstGeom>
          <a:noFill/>
        </p:spPr>
        <p:txBody>
          <a:bodyPr wrap="square" anchor="t">
            <a:spAutoFit/>
          </a:bodyPr>
          <a:lstStyle/>
          <a:p>
            <a:pPr algn="ctr"/>
            <a:r>
              <a:rPr sz="1700" b="1">
                <a:solidFill>
                  <a:srgbClr val="F4A94A"/>
                </a:solidFill>
                <a:latin typeface="Aptos"/>
              </a:rPr>
              <a:t>Key idea: generation is probabilistic; fluent output is not the same as guaranteed truth.</a:t>
            </a:r>
          </a:p>
        </p:txBody>
      </p:sp>
      <p:sp>
        <p:nvSpPr>
          <p:cNvPr id="30" name="TextBox 29"/>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05 · TOKENS</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What is a token?</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Models process tokenized text, not simply whole words.</a:t>
            </a:r>
          </a:p>
        </p:txBody>
      </p:sp>
      <p:pic>
        <p:nvPicPr>
          <p:cNvPr id="5" name="Picture 4" descr="data.png"/>
          <p:cNvPicPr>
            <a:picLocks noChangeAspect="1"/>
          </p:cNvPicPr>
          <p:nvPr/>
        </p:nvPicPr>
        <p:blipFill>
          <a:blip r:embed="rId2"/>
          <a:stretch>
            <a:fillRect/>
          </a:stretch>
        </p:blipFill>
        <p:spPr>
          <a:xfrm>
            <a:off x="8869680" y="1920240"/>
            <a:ext cx="2468880" cy="1417320"/>
          </a:xfrm>
          <a:prstGeom prst="rect">
            <a:avLst/>
          </a:prstGeom>
        </p:spPr>
      </p:pic>
      <p:sp>
        <p:nvSpPr>
          <p:cNvPr id="6" name="Rounded Rectangle 5"/>
          <p:cNvSpPr/>
          <p:nvPr/>
        </p:nvSpPr>
        <p:spPr>
          <a:xfrm>
            <a:off x="685800" y="2103120"/>
            <a:ext cx="7498079" cy="8686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103120"/>
            <a:ext cx="64008" cy="8686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04288"/>
            <a:ext cx="7086599" cy="365760"/>
          </a:xfrm>
          <a:prstGeom prst="rect">
            <a:avLst/>
          </a:prstGeom>
          <a:noFill/>
        </p:spPr>
        <p:txBody>
          <a:bodyPr wrap="square" anchor="t">
            <a:spAutoFit/>
          </a:bodyPr>
          <a:lstStyle/>
          <a:p>
            <a:pPr algn="l"/>
            <a:r>
              <a:rPr sz="1700" b="1">
                <a:solidFill>
                  <a:srgbClr val="F8FAFC"/>
                </a:solidFill>
                <a:latin typeface="Aptos"/>
              </a:rPr>
              <a:t>Hello</a:t>
            </a:r>
          </a:p>
        </p:txBody>
      </p:sp>
      <p:sp>
        <p:nvSpPr>
          <p:cNvPr id="9" name="TextBox 8"/>
          <p:cNvSpPr txBox="1"/>
          <p:nvPr/>
        </p:nvSpPr>
        <p:spPr>
          <a:xfrm>
            <a:off x="914400" y="2761487"/>
            <a:ext cx="7040879" cy="45719"/>
          </a:xfrm>
          <a:prstGeom prst="rect">
            <a:avLst/>
          </a:prstGeom>
          <a:noFill/>
        </p:spPr>
        <p:txBody>
          <a:bodyPr wrap="square" anchor="t">
            <a:spAutoFit/>
          </a:bodyPr>
          <a:lstStyle/>
          <a:p>
            <a:pPr algn="l"/>
            <a:r>
              <a:rPr sz="1250" b="0">
                <a:solidFill>
                  <a:srgbClr val="E1EAF4"/>
                </a:solidFill>
                <a:latin typeface="Aptos"/>
              </a:rPr>
              <a:t>often one or more tokens</a:t>
            </a:r>
          </a:p>
        </p:txBody>
      </p:sp>
      <p:sp>
        <p:nvSpPr>
          <p:cNvPr id="10" name="Rounded Rectangle 9"/>
          <p:cNvSpPr/>
          <p:nvPr/>
        </p:nvSpPr>
        <p:spPr>
          <a:xfrm>
            <a:off x="685800" y="3200400"/>
            <a:ext cx="7498079" cy="8686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200400"/>
            <a:ext cx="64008" cy="8686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01568"/>
            <a:ext cx="7086599" cy="365760"/>
          </a:xfrm>
          <a:prstGeom prst="rect">
            <a:avLst/>
          </a:prstGeom>
          <a:noFill/>
        </p:spPr>
        <p:txBody>
          <a:bodyPr wrap="square" anchor="t">
            <a:spAutoFit/>
          </a:bodyPr>
          <a:lstStyle/>
          <a:p>
            <a:pPr algn="l"/>
            <a:r>
              <a:rPr sz="1700" b="1">
                <a:solidFill>
                  <a:srgbClr val="F8FAFC"/>
                </a:solidFill>
                <a:latin typeface="Aptos"/>
              </a:rPr>
              <a:t>Unhappiness</a:t>
            </a:r>
          </a:p>
        </p:txBody>
      </p:sp>
      <p:sp>
        <p:nvSpPr>
          <p:cNvPr id="13" name="TextBox 12"/>
          <p:cNvSpPr txBox="1"/>
          <p:nvPr/>
        </p:nvSpPr>
        <p:spPr>
          <a:xfrm>
            <a:off x="914400" y="3858768"/>
            <a:ext cx="7040879" cy="45719"/>
          </a:xfrm>
          <a:prstGeom prst="rect">
            <a:avLst/>
          </a:prstGeom>
          <a:noFill/>
        </p:spPr>
        <p:txBody>
          <a:bodyPr wrap="square" anchor="t">
            <a:spAutoFit/>
          </a:bodyPr>
          <a:lstStyle/>
          <a:p>
            <a:pPr algn="l"/>
            <a:r>
              <a:rPr sz="1250" b="0">
                <a:solidFill>
                  <a:srgbClr val="E1EAF4"/>
                </a:solidFill>
                <a:latin typeface="Aptos"/>
              </a:rPr>
              <a:t>may be split into multiple pieces</a:t>
            </a:r>
          </a:p>
        </p:txBody>
      </p:sp>
      <p:sp>
        <p:nvSpPr>
          <p:cNvPr id="14" name="Rounded Rectangle 13"/>
          <p:cNvSpPr/>
          <p:nvPr/>
        </p:nvSpPr>
        <p:spPr>
          <a:xfrm>
            <a:off x="685800" y="4297679"/>
            <a:ext cx="7498079" cy="8686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4297679"/>
            <a:ext cx="64008" cy="86868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498847"/>
            <a:ext cx="7086599" cy="365760"/>
          </a:xfrm>
          <a:prstGeom prst="rect">
            <a:avLst/>
          </a:prstGeom>
          <a:noFill/>
        </p:spPr>
        <p:txBody>
          <a:bodyPr wrap="square" anchor="t">
            <a:spAutoFit/>
          </a:bodyPr>
          <a:lstStyle/>
          <a:p>
            <a:pPr algn="l"/>
            <a:r>
              <a:rPr sz="1700" b="1">
                <a:solidFill>
                  <a:srgbClr val="F8FAFC"/>
                </a:solidFill>
                <a:latin typeface="Aptos"/>
              </a:rPr>
              <a:t>Python programming</a:t>
            </a:r>
          </a:p>
        </p:txBody>
      </p:sp>
      <p:sp>
        <p:nvSpPr>
          <p:cNvPr id="17" name="TextBox 16"/>
          <p:cNvSpPr txBox="1"/>
          <p:nvPr/>
        </p:nvSpPr>
        <p:spPr>
          <a:xfrm>
            <a:off x="914400" y="4956047"/>
            <a:ext cx="7040879" cy="45719"/>
          </a:xfrm>
          <a:prstGeom prst="rect">
            <a:avLst/>
          </a:prstGeom>
          <a:noFill/>
        </p:spPr>
        <p:txBody>
          <a:bodyPr wrap="square" anchor="t">
            <a:spAutoFit/>
          </a:bodyPr>
          <a:lstStyle/>
          <a:p>
            <a:pPr algn="l"/>
            <a:r>
              <a:rPr sz="1250" b="0">
                <a:solidFill>
                  <a:srgbClr val="E1EAF4"/>
                </a:solidFill>
                <a:latin typeface="Aptos"/>
              </a:rPr>
              <a:t>may tokenize into several pieces</a:t>
            </a:r>
          </a:p>
        </p:txBody>
      </p:sp>
      <p:sp>
        <p:nvSpPr>
          <p:cNvPr id="18" name="TextBox 17"/>
          <p:cNvSpPr txBox="1"/>
          <p:nvPr/>
        </p:nvSpPr>
        <p:spPr>
          <a:xfrm>
            <a:off x="8458200" y="3794760"/>
            <a:ext cx="2834640" cy="1234440"/>
          </a:xfrm>
          <a:prstGeom prst="rect">
            <a:avLst/>
          </a:prstGeom>
          <a:noFill/>
        </p:spPr>
        <p:txBody>
          <a:bodyPr wrap="square" anchor="t">
            <a:spAutoFit/>
          </a:bodyPr>
          <a:lstStyle/>
          <a:p>
            <a:pPr algn="ctr"/>
            <a:r>
              <a:rPr sz="1400" b="1">
                <a:solidFill>
                  <a:srgbClr val="F4A94A"/>
                </a:solidFill>
                <a:latin typeface="Aptos"/>
              </a:rPr>
              <a:t>Hands-on: paste the same sentence into a tokenizer and compare token counts.</a:t>
            </a:r>
          </a:p>
        </p:txBody>
      </p:sp>
      <p:sp>
        <p:nvSpPr>
          <p:cNvPr id="19" name="TextBox 18"/>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05 · CONTEXT WINDOWS</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What is a context window?</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The context window is the amount of tokenized information the model can consider in a particular interaction.</a:t>
            </a:r>
          </a:p>
        </p:txBody>
      </p:sp>
      <p:sp>
        <p:nvSpPr>
          <p:cNvPr id="5" name="Rounded Rectangle 4"/>
          <p:cNvSpPr/>
          <p:nvPr/>
        </p:nvSpPr>
        <p:spPr>
          <a:xfrm>
            <a:off x="777240" y="2148840"/>
            <a:ext cx="10515600" cy="24231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1560" y="2834640"/>
            <a:ext cx="2194560" cy="777240"/>
          </a:xfrm>
          <a:prstGeom prst="round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063240"/>
            <a:ext cx="2194560" cy="274320"/>
          </a:xfrm>
          <a:prstGeom prst="rect">
            <a:avLst/>
          </a:prstGeom>
          <a:noFill/>
        </p:spPr>
        <p:txBody>
          <a:bodyPr wrap="square" anchor="t">
            <a:spAutoFit/>
          </a:bodyPr>
          <a:lstStyle/>
          <a:p>
            <a:pPr algn="ctr"/>
            <a:r>
              <a:rPr sz="1200" b="1">
                <a:solidFill>
                  <a:srgbClr val="12203A"/>
                </a:solidFill>
                <a:latin typeface="Aptos"/>
              </a:rPr>
              <a:t>Instructions</a:t>
            </a:r>
          </a:p>
        </p:txBody>
      </p:sp>
      <p:sp>
        <p:nvSpPr>
          <p:cNvPr id="8" name="Rounded Rectangle 7"/>
          <p:cNvSpPr/>
          <p:nvPr/>
        </p:nvSpPr>
        <p:spPr>
          <a:xfrm>
            <a:off x="3410712" y="2834640"/>
            <a:ext cx="1645920" cy="777240"/>
          </a:xfrm>
          <a:prstGeom prst="round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0712" y="3063240"/>
            <a:ext cx="1645920" cy="274320"/>
          </a:xfrm>
          <a:prstGeom prst="rect">
            <a:avLst/>
          </a:prstGeom>
          <a:noFill/>
        </p:spPr>
        <p:txBody>
          <a:bodyPr wrap="square" anchor="t">
            <a:spAutoFit/>
          </a:bodyPr>
          <a:lstStyle/>
          <a:p>
            <a:pPr algn="ctr"/>
            <a:r>
              <a:rPr sz="1200" b="1">
                <a:solidFill>
                  <a:srgbClr val="12203A"/>
                </a:solidFill>
                <a:latin typeface="Aptos"/>
              </a:rPr>
              <a:t>Prompt</a:t>
            </a:r>
          </a:p>
        </p:txBody>
      </p:sp>
      <p:sp>
        <p:nvSpPr>
          <p:cNvPr id="10" name="Rounded Rectangle 9"/>
          <p:cNvSpPr/>
          <p:nvPr/>
        </p:nvSpPr>
        <p:spPr>
          <a:xfrm>
            <a:off x="5221224" y="2834640"/>
            <a:ext cx="2560320" cy="777240"/>
          </a:xfrm>
          <a:prstGeom prst="round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21224" y="3063240"/>
            <a:ext cx="2560320" cy="274320"/>
          </a:xfrm>
          <a:prstGeom prst="rect">
            <a:avLst/>
          </a:prstGeom>
          <a:noFill/>
        </p:spPr>
        <p:txBody>
          <a:bodyPr wrap="square" anchor="t">
            <a:spAutoFit/>
          </a:bodyPr>
          <a:lstStyle/>
          <a:p>
            <a:pPr algn="ctr"/>
            <a:r>
              <a:rPr sz="1200" b="1">
                <a:solidFill>
                  <a:srgbClr val="12203A"/>
                </a:solidFill>
                <a:latin typeface="Aptos"/>
              </a:rPr>
              <a:t>History</a:t>
            </a:r>
          </a:p>
        </p:txBody>
      </p:sp>
      <p:sp>
        <p:nvSpPr>
          <p:cNvPr id="12" name="Rounded Rectangle 11"/>
          <p:cNvSpPr/>
          <p:nvPr/>
        </p:nvSpPr>
        <p:spPr>
          <a:xfrm>
            <a:off x="7946136" y="2834640"/>
            <a:ext cx="2834640" cy="777240"/>
          </a:xfrm>
          <a:prstGeom prst="round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46136" y="3063240"/>
            <a:ext cx="2834640" cy="274320"/>
          </a:xfrm>
          <a:prstGeom prst="rect">
            <a:avLst/>
          </a:prstGeom>
          <a:noFill/>
        </p:spPr>
        <p:txBody>
          <a:bodyPr wrap="square" anchor="t">
            <a:spAutoFit/>
          </a:bodyPr>
          <a:lstStyle/>
          <a:p>
            <a:pPr algn="ctr"/>
            <a:r>
              <a:rPr sz="1200" b="1">
                <a:solidFill>
                  <a:srgbClr val="12203A"/>
                </a:solidFill>
                <a:latin typeface="Aptos"/>
              </a:rPr>
              <a:t>Documents</a:t>
            </a:r>
          </a:p>
        </p:txBody>
      </p:sp>
      <p:sp>
        <p:nvSpPr>
          <p:cNvPr id="14" name="TextBox 13"/>
          <p:cNvSpPr txBox="1"/>
          <p:nvPr/>
        </p:nvSpPr>
        <p:spPr>
          <a:xfrm>
            <a:off x="1097280" y="4526280"/>
            <a:ext cx="9966960" cy="502920"/>
          </a:xfrm>
          <a:prstGeom prst="rect">
            <a:avLst/>
          </a:prstGeom>
          <a:noFill/>
        </p:spPr>
        <p:txBody>
          <a:bodyPr wrap="square" anchor="t">
            <a:spAutoFit/>
          </a:bodyPr>
          <a:lstStyle/>
          <a:p>
            <a:pPr algn="ctr"/>
            <a:r>
              <a:rPr sz="1500" b="1">
                <a:solidFill>
                  <a:srgbClr val="F8FAFC"/>
                </a:solidFill>
                <a:latin typeface="Aptos"/>
              </a:rPr>
              <a:t>Context window = the total amount of relevant tokenized information the model can process at once.</a:t>
            </a:r>
          </a:p>
        </p:txBody>
      </p:sp>
      <p:sp>
        <p:nvSpPr>
          <p:cNvPr id="15" name="TextBox 14"/>
          <p:cNvSpPr txBox="1"/>
          <p:nvPr/>
        </p:nvSpPr>
        <p:spPr>
          <a:xfrm>
            <a:off x="914400" y="5257800"/>
            <a:ext cx="10241280" cy="502920"/>
          </a:xfrm>
          <a:prstGeom prst="rect">
            <a:avLst/>
          </a:prstGeom>
          <a:noFill/>
        </p:spPr>
        <p:txBody>
          <a:bodyPr wrap="square" anchor="t">
            <a:spAutoFit/>
          </a:bodyPr>
          <a:lstStyle/>
          <a:p>
            <a:pPr algn="ctr"/>
            <a:r>
              <a:rPr sz="1400" b="0">
                <a:solidFill>
                  <a:srgbClr val="A4B5C9"/>
                </a:solidFill>
                <a:latin typeface="Aptos"/>
              </a:rPr>
              <a:t>Exercise: create a long document, then ask a question that requires information from different sections.</a:t>
            </a:r>
          </a:p>
        </p:txBody>
      </p:sp>
      <p:sp>
        <p:nvSpPr>
          <p:cNvPr id="16" name="TextBox 15"/>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05 · EMBEDDINGS</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Embeddings: meaning represented as vectors</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Embeddings help systems compare and retrieve semantically related information.</a:t>
            </a:r>
          </a:p>
        </p:txBody>
      </p:sp>
      <p:pic>
        <p:nvPicPr>
          <p:cNvPr id="5" name="Picture 4" descr="network.png"/>
          <p:cNvPicPr>
            <a:picLocks noChangeAspect="1"/>
          </p:cNvPicPr>
          <p:nvPr/>
        </p:nvPicPr>
        <p:blipFill>
          <a:blip r:embed="rId2"/>
          <a:stretch>
            <a:fillRect/>
          </a:stretch>
        </p:blipFill>
        <p:spPr>
          <a:xfrm>
            <a:off x="8961120" y="1920240"/>
            <a:ext cx="2377440" cy="1417320"/>
          </a:xfrm>
          <a:prstGeom prst="rect">
            <a:avLst/>
          </a:prstGeom>
        </p:spPr>
      </p:pic>
      <p:sp>
        <p:nvSpPr>
          <p:cNvPr id="6" name="Rounded Rectangle 5"/>
          <p:cNvSpPr/>
          <p:nvPr/>
        </p:nvSpPr>
        <p:spPr>
          <a:xfrm>
            <a:off x="685800" y="2057400"/>
            <a:ext cx="324612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57400"/>
            <a:ext cx="64008" cy="196596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58568"/>
            <a:ext cx="2834639" cy="365760"/>
          </a:xfrm>
          <a:prstGeom prst="rect">
            <a:avLst/>
          </a:prstGeom>
          <a:noFill/>
        </p:spPr>
        <p:txBody>
          <a:bodyPr wrap="square" anchor="t">
            <a:spAutoFit/>
          </a:bodyPr>
          <a:lstStyle/>
          <a:p>
            <a:pPr algn="l"/>
            <a:r>
              <a:rPr sz="1700" b="1">
                <a:solidFill>
                  <a:srgbClr val="F8FAFC"/>
                </a:solidFill>
                <a:latin typeface="Aptos"/>
              </a:rPr>
              <a:t>Sentence A</a:t>
            </a:r>
          </a:p>
        </p:txBody>
      </p:sp>
      <p:sp>
        <p:nvSpPr>
          <p:cNvPr id="9" name="TextBox 8"/>
          <p:cNvSpPr txBox="1"/>
          <p:nvPr/>
        </p:nvSpPr>
        <p:spPr>
          <a:xfrm>
            <a:off x="914400" y="2715768"/>
            <a:ext cx="2788920" cy="1143000"/>
          </a:xfrm>
          <a:prstGeom prst="rect">
            <a:avLst/>
          </a:prstGeom>
          <a:noFill/>
        </p:spPr>
        <p:txBody>
          <a:bodyPr wrap="square" anchor="t">
            <a:spAutoFit/>
          </a:bodyPr>
          <a:lstStyle/>
          <a:p>
            <a:pPr algn="l"/>
            <a:r>
              <a:rPr sz="1250" b="0">
                <a:solidFill>
                  <a:srgbClr val="E1EAF4"/>
                </a:solidFill>
                <a:latin typeface="Aptos"/>
              </a:rPr>
              <a:t>“How do I reset my password?”</a:t>
            </a:r>
            <a:br/>
            <a:br/>
            <a:r>
              <a:rPr sz="1250" b="0">
                <a:solidFill>
                  <a:srgbClr val="E1EAF4"/>
                </a:solidFill>
                <a:latin typeface="Aptos"/>
              </a:rPr>
              <a:t>→ vector representation</a:t>
            </a:r>
          </a:p>
        </p:txBody>
      </p:sp>
      <p:sp>
        <p:nvSpPr>
          <p:cNvPr id="10" name="Rounded Rectangle 9"/>
          <p:cNvSpPr/>
          <p:nvPr/>
        </p:nvSpPr>
        <p:spPr>
          <a:xfrm>
            <a:off x="4251960" y="2057400"/>
            <a:ext cx="324612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2057400"/>
            <a:ext cx="64008" cy="196596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258568"/>
            <a:ext cx="2834639" cy="365760"/>
          </a:xfrm>
          <a:prstGeom prst="rect">
            <a:avLst/>
          </a:prstGeom>
          <a:noFill/>
        </p:spPr>
        <p:txBody>
          <a:bodyPr wrap="square" anchor="t">
            <a:spAutoFit/>
          </a:bodyPr>
          <a:lstStyle/>
          <a:p>
            <a:pPr algn="l"/>
            <a:r>
              <a:rPr sz="1700" b="1">
                <a:solidFill>
                  <a:srgbClr val="F8FAFC"/>
                </a:solidFill>
                <a:latin typeface="Aptos"/>
              </a:rPr>
              <a:t>Sentence B</a:t>
            </a:r>
          </a:p>
        </p:txBody>
      </p:sp>
      <p:sp>
        <p:nvSpPr>
          <p:cNvPr id="13" name="TextBox 12"/>
          <p:cNvSpPr txBox="1"/>
          <p:nvPr/>
        </p:nvSpPr>
        <p:spPr>
          <a:xfrm>
            <a:off x="4480560" y="2715768"/>
            <a:ext cx="2788920" cy="1143000"/>
          </a:xfrm>
          <a:prstGeom prst="rect">
            <a:avLst/>
          </a:prstGeom>
          <a:noFill/>
        </p:spPr>
        <p:txBody>
          <a:bodyPr wrap="square" anchor="t">
            <a:spAutoFit/>
          </a:bodyPr>
          <a:lstStyle/>
          <a:p>
            <a:pPr algn="l"/>
            <a:r>
              <a:rPr sz="1250" b="0">
                <a:solidFill>
                  <a:srgbClr val="E1EAF4"/>
                </a:solidFill>
                <a:latin typeface="Aptos"/>
              </a:rPr>
              <a:t>“I forgot my login password.”</a:t>
            </a:r>
            <a:br/>
            <a:br/>
            <a:r>
              <a:rPr sz="1250" b="0">
                <a:solidFill>
                  <a:srgbClr val="E1EAF4"/>
                </a:solidFill>
                <a:latin typeface="Aptos"/>
              </a:rPr>
              <a:t>→ similar vector region</a:t>
            </a:r>
          </a:p>
        </p:txBody>
      </p:sp>
      <p:sp>
        <p:nvSpPr>
          <p:cNvPr id="14" name="Rounded Rectangle 13"/>
          <p:cNvSpPr/>
          <p:nvPr/>
        </p:nvSpPr>
        <p:spPr>
          <a:xfrm>
            <a:off x="7818120" y="2057400"/>
            <a:ext cx="3246120" cy="19659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18120" y="2057400"/>
            <a:ext cx="64008" cy="196596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2258568"/>
            <a:ext cx="2834639" cy="365760"/>
          </a:xfrm>
          <a:prstGeom prst="rect">
            <a:avLst/>
          </a:prstGeom>
          <a:noFill/>
        </p:spPr>
        <p:txBody>
          <a:bodyPr wrap="square" anchor="t">
            <a:spAutoFit/>
          </a:bodyPr>
          <a:lstStyle/>
          <a:p>
            <a:pPr algn="l"/>
            <a:r>
              <a:rPr sz="1700" b="1">
                <a:solidFill>
                  <a:srgbClr val="F8FAFC"/>
                </a:solidFill>
                <a:latin typeface="Aptos"/>
              </a:rPr>
              <a:t>Sentence C</a:t>
            </a:r>
          </a:p>
        </p:txBody>
      </p:sp>
      <p:sp>
        <p:nvSpPr>
          <p:cNvPr id="17" name="TextBox 16"/>
          <p:cNvSpPr txBox="1"/>
          <p:nvPr/>
        </p:nvSpPr>
        <p:spPr>
          <a:xfrm>
            <a:off x="8046720" y="2715768"/>
            <a:ext cx="2788920" cy="1143000"/>
          </a:xfrm>
          <a:prstGeom prst="rect">
            <a:avLst/>
          </a:prstGeom>
          <a:noFill/>
        </p:spPr>
        <p:txBody>
          <a:bodyPr wrap="square" anchor="t">
            <a:spAutoFit/>
          </a:bodyPr>
          <a:lstStyle/>
          <a:p>
            <a:pPr algn="l"/>
            <a:r>
              <a:rPr sz="1250" b="0">
                <a:solidFill>
                  <a:srgbClr val="E1EAF4"/>
                </a:solidFill>
                <a:latin typeface="Aptos"/>
              </a:rPr>
              <a:t>“How do I cook rice?”</a:t>
            </a:r>
            <a:br/>
            <a:br/>
            <a:r>
              <a:rPr sz="1250" b="0">
                <a:solidFill>
                  <a:srgbClr val="E1EAF4"/>
                </a:solidFill>
                <a:latin typeface="Aptos"/>
              </a:rPr>
              <a:t>→ different vector region</a:t>
            </a:r>
          </a:p>
        </p:txBody>
      </p:sp>
      <p:sp>
        <p:nvSpPr>
          <p:cNvPr id="18" name="TextBox 17"/>
          <p:cNvSpPr txBox="1"/>
          <p:nvPr/>
        </p:nvSpPr>
        <p:spPr>
          <a:xfrm>
            <a:off x="914400" y="4892040"/>
            <a:ext cx="10241280" cy="640080"/>
          </a:xfrm>
          <a:prstGeom prst="rect">
            <a:avLst/>
          </a:prstGeom>
          <a:noFill/>
        </p:spPr>
        <p:txBody>
          <a:bodyPr wrap="square" anchor="t">
            <a:spAutoFit/>
          </a:bodyPr>
          <a:lstStyle/>
          <a:p>
            <a:pPr algn="ctr"/>
            <a:r>
              <a:rPr sz="1600" b="1">
                <a:solidFill>
                  <a:srgbClr val="F8FAFC"/>
                </a:solidFill>
                <a:latin typeface="Aptos"/>
              </a:rPr>
              <a:t>Typical use: semantic search → retrieve relevant chunks → give them to an LLM → generate an answer.</a:t>
            </a:r>
          </a:p>
        </p:txBody>
      </p:sp>
      <p:sp>
        <p:nvSpPr>
          <p:cNvPr id="19" name="TextBox 18"/>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LAB 1</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Hands-on: token &amp; context investigation</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15 minutes · individual or pairs</a:t>
            </a:r>
          </a:p>
        </p:txBody>
      </p:sp>
      <p:sp>
        <p:nvSpPr>
          <p:cNvPr id="5" name="Rounded Rectangle 4"/>
          <p:cNvSpPr/>
          <p:nvPr/>
        </p:nvSpPr>
        <p:spPr>
          <a:xfrm>
            <a:off x="685800" y="2057400"/>
            <a:ext cx="5029200" cy="24688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57400"/>
            <a:ext cx="64008" cy="24688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4617720" cy="365760"/>
          </a:xfrm>
          <a:prstGeom prst="rect">
            <a:avLst/>
          </a:prstGeom>
          <a:noFill/>
        </p:spPr>
        <p:txBody>
          <a:bodyPr wrap="square" anchor="t">
            <a:spAutoFit/>
          </a:bodyPr>
          <a:lstStyle/>
          <a:p>
            <a:pPr algn="l"/>
            <a:r>
              <a:rPr sz="1700" b="1">
                <a:solidFill>
                  <a:srgbClr val="F8FAFC"/>
                </a:solidFill>
                <a:latin typeface="Aptos"/>
              </a:rPr>
              <a:t>Task A · Tokenization</a:t>
            </a:r>
          </a:p>
        </p:txBody>
      </p:sp>
      <p:sp>
        <p:nvSpPr>
          <p:cNvPr id="8" name="TextBox 7"/>
          <p:cNvSpPr txBox="1"/>
          <p:nvPr/>
        </p:nvSpPr>
        <p:spPr>
          <a:xfrm>
            <a:off x="914400" y="2715768"/>
            <a:ext cx="4572000" cy="1645920"/>
          </a:xfrm>
          <a:prstGeom prst="rect">
            <a:avLst/>
          </a:prstGeom>
          <a:noFill/>
        </p:spPr>
        <p:txBody>
          <a:bodyPr wrap="square" anchor="t">
            <a:spAutoFit/>
          </a:bodyPr>
          <a:lstStyle/>
          <a:p>
            <a:pPr algn="l"/>
            <a:r>
              <a:rPr sz="1250" b="0">
                <a:solidFill>
                  <a:srgbClr val="E1EAF4"/>
                </a:solidFill>
                <a:latin typeface="Aptos"/>
              </a:rPr>
              <a:t>1. Write a 2–3 sentence prompt.</a:t>
            </a:r>
            <a:br/>
            <a:r>
              <a:rPr sz="1250" b="0">
                <a:solidFill>
                  <a:srgbClr val="E1EAF4"/>
                </a:solidFill>
                <a:latin typeface="Aptos"/>
              </a:rPr>
              <a:t>2. Tokenize it with a suitable tokenizer.</a:t>
            </a:r>
            <a:br/>
            <a:r>
              <a:rPr sz="1250" b="0">
                <a:solidFill>
                  <a:srgbClr val="E1EAF4"/>
                </a:solidFill>
                <a:latin typeface="Aptos"/>
              </a:rPr>
              <a:t>3. Add 2 more sentences.</a:t>
            </a:r>
            <a:br/>
            <a:r>
              <a:rPr sz="1250" b="0">
                <a:solidFill>
                  <a:srgbClr val="E1EAF4"/>
                </a:solidFill>
                <a:latin typeface="Aptos"/>
              </a:rPr>
              <a:t>4. Compare token counts.</a:t>
            </a:r>
            <a:br/>
            <a:r>
              <a:rPr sz="1250" b="0">
                <a:solidFill>
                  <a:srgbClr val="E1EAF4"/>
                </a:solidFill>
                <a:latin typeface="Aptos"/>
              </a:rPr>
              <a:t>5. Explain why token count matters.</a:t>
            </a:r>
          </a:p>
        </p:txBody>
      </p:sp>
      <p:sp>
        <p:nvSpPr>
          <p:cNvPr id="9" name="Rounded Rectangle 8"/>
          <p:cNvSpPr/>
          <p:nvPr/>
        </p:nvSpPr>
        <p:spPr>
          <a:xfrm>
            <a:off x="6217920" y="2057400"/>
            <a:ext cx="5029200" cy="24688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057400"/>
            <a:ext cx="64008" cy="24688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258568"/>
            <a:ext cx="4617720" cy="365760"/>
          </a:xfrm>
          <a:prstGeom prst="rect">
            <a:avLst/>
          </a:prstGeom>
          <a:noFill/>
        </p:spPr>
        <p:txBody>
          <a:bodyPr wrap="square" anchor="t">
            <a:spAutoFit/>
          </a:bodyPr>
          <a:lstStyle/>
          <a:p>
            <a:pPr algn="l"/>
            <a:r>
              <a:rPr sz="1700" b="1">
                <a:solidFill>
                  <a:srgbClr val="F8FAFC"/>
                </a:solidFill>
                <a:latin typeface="Aptos"/>
              </a:rPr>
              <a:t>Task B · Context</a:t>
            </a:r>
          </a:p>
        </p:txBody>
      </p:sp>
      <p:sp>
        <p:nvSpPr>
          <p:cNvPr id="12" name="TextBox 11"/>
          <p:cNvSpPr txBox="1"/>
          <p:nvPr/>
        </p:nvSpPr>
        <p:spPr>
          <a:xfrm>
            <a:off x="6446520" y="2715768"/>
            <a:ext cx="4572000" cy="1645920"/>
          </a:xfrm>
          <a:prstGeom prst="rect">
            <a:avLst/>
          </a:prstGeom>
          <a:noFill/>
        </p:spPr>
        <p:txBody>
          <a:bodyPr wrap="square" anchor="t">
            <a:spAutoFit/>
          </a:bodyPr>
          <a:lstStyle/>
          <a:p>
            <a:pPr algn="l"/>
            <a:r>
              <a:rPr sz="1250" b="0">
                <a:solidFill>
                  <a:srgbClr val="E1EAF4"/>
                </a:solidFill>
                <a:latin typeface="Aptos"/>
              </a:rPr>
              <a:t>1. Prepare a short document.</a:t>
            </a:r>
            <a:br/>
            <a:r>
              <a:rPr sz="1250" b="0">
                <a:solidFill>
                  <a:srgbClr val="E1EAF4"/>
                </a:solidFill>
                <a:latin typeface="Aptos"/>
              </a:rPr>
              <a:t>2. Ask a question about it.</a:t>
            </a:r>
            <a:br/>
            <a:r>
              <a:rPr sz="1250" b="0">
                <a:solidFill>
                  <a:srgbClr val="E1EAF4"/>
                </a:solidFill>
                <a:latin typeface="Aptos"/>
              </a:rPr>
              <a:t>3. Add irrelevant content.</a:t>
            </a:r>
            <a:br/>
            <a:r>
              <a:rPr sz="1250" b="0">
                <a:solidFill>
                  <a:srgbClr val="E1EAF4"/>
                </a:solidFill>
                <a:latin typeface="Aptos"/>
              </a:rPr>
              <a:t>4. Ask again.</a:t>
            </a:r>
            <a:br/>
            <a:r>
              <a:rPr sz="1250" b="0">
                <a:solidFill>
                  <a:srgbClr val="E1EAF4"/>
                </a:solidFill>
                <a:latin typeface="Aptos"/>
              </a:rPr>
              <a:t>5. Discuss how context size and relevance affect the interaction.</a:t>
            </a:r>
          </a:p>
        </p:txBody>
      </p:sp>
      <p:sp>
        <p:nvSpPr>
          <p:cNvPr id="13" name="TextBox 12"/>
          <p:cNvSpPr txBox="1"/>
          <p:nvPr/>
        </p:nvSpPr>
        <p:spPr>
          <a:xfrm>
            <a:off x="914400" y="4983480"/>
            <a:ext cx="10149840" cy="594360"/>
          </a:xfrm>
          <a:prstGeom prst="rect">
            <a:avLst/>
          </a:prstGeom>
          <a:noFill/>
        </p:spPr>
        <p:txBody>
          <a:bodyPr wrap="square" anchor="t">
            <a:spAutoFit/>
          </a:bodyPr>
          <a:lstStyle/>
          <a:p>
            <a:pPr algn="ctr"/>
            <a:r>
              <a:rPr sz="1600" b="1">
                <a:solidFill>
                  <a:srgbClr val="F4A94A"/>
                </a:solidFill>
                <a:latin typeface="Aptos"/>
              </a:rPr>
              <a:t>Deliverable: 3 observations + 1 practical recommendation for writing efficient prompts.</a:t>
            </a:r>
          </a:p>
        </p:txBody>
      </p:sp>
      <p:sp>
        <p:nvSpPr>
          <p:cNvPr id="14" name="TextBox 13"/>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06 · PROMPT ENGINEERING</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A good prompt gives the model a job</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Prompt engineering is structured communication, not magic wording.</a:t>
            </a:r>
          </a:p>
        </p:txBody>
      </p:sp>
      <p:sp>
        <p:nvSpPr>
          <p:cNvPr id="5" name="Rounded Rectangle 4"/>
          <p:cNvSpPr/>
          <p:nvPr/>
        </p:nvSpPr>
        <p:spPr>
          <a:xfrm>
            <a:off x="594360" y="2148840"/>
            <a:ext cx="20574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2148840"/>
            <a:ext cx="64008" cy="182880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50008"/>
            <a:ext cx="1645920" cy="365760"/>
          </a:xfrm>
          <a:prstGeom prst="rect">
            <a:avLst/>
          </a:prstGeom>
          <a:noFill/>
        </p:spPr>
        <p:txBody>
          <a:bodyPr wrap="square" anchor="t">
            <a:spAutoFit/>
          </a:bodyPr>
          <a:lstStyle/>
          <a:p>
            <a:pPr algn="l"/>
            <a:r>
              <a:rPr sz="1700" b="1">
                <a:solidFill>
                  <a:srgbClr val="F8FAFC"/>
                </a:solidFill>
                <a:latin typeface="Aptos"/>
              </a:rPr>
              <a:t>Role</a:t>
            </a:r>
          </a:p>
        </p:txBody>
      </p:sp>
      <p:sp>
        <p:nvSpPr>
          <p:cNvPr id="8" name="TextBox 7"/>
          <p:cNvSpPr txBox="1"/>
          <p:nvPr/>
        </p:nvSpPr>
        <p:spPr>
          <a:xfrm>
            <a:off x="822960" y="2807208"/>
            <a:ext cx="1600200" cy="1005840"/>
          </a:xfrm>
          <a:prstGeom prst="rect">
            <a:avLst/>
          </a:prstGeom>
          <a:noFill/>
        </p:spPr>
        <p:txBody>
          <a:bodyPr wrap="square" anchor="t">
            <a:spAutoFit/>
          </a:bodyPr>
          <a:lstStyle/>
          <a:p>
            <a:pPr algn="l"/>
            <a:r>
              <a:rPr sz="1250" b="0">
                <a:solidFill>
                  <a:srgbClr val="E1EAF4"/>
                </a:solidFill>
                <a:latin typeface="Aptos"/>
              </a:rPr>
              <a:t>Who should the AI act as?</a:t>
            </a:r>
          </a:p>
        </p:txBody>
      </p:sp>
      <p:sp>
        <p:nvSpPr>
          <p:cNvPr id="9" name="Rounded Rectangle 8"/>
          <p:cNvSpPr/>
          <p:nvPr/>
        </p:nvSpPr>
        <p:spPr>
          <a:xfrm>
            <a:off x="2926079" y="2148840"/>
            <a:ext cx="20574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79" y="2148840"/>
            <a:ext cx="64008" cy="182880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79" y="2350008"/>
            <a:ext cx="1645920" cy="365760"/>
          </a:xfrm>
          <a:prstGeom prst="rect">
            <a:avLst/>
          </a:prstGeom>
          <a:noFill/>
        </p:spPr>
        <p:txBody>
          <a:bodyPr wrap="square" anchor="t">
            <a:spAutoFit/>
          </a:bodyPr>
          <a:lstStyle/>
          <a:p>
            <a:pPr algn="l"/>
            <a:r>
              <a:rPr sz="1700" b="1">
                <a:solidFill>
                  <a:srgbClr val="F8FAFC"/>
                </a:solidFill>
                <a:latin typeface="Aptos"/>
              </a:rPr>
              <a:t>Task</a:t>
            </a:r>
          </a:p>
        </p:txBody>
      </p:sp>
      <p:sp>
        <p:nvSpPr>
          <p:cNvPr id="12" name="TextBox 11"/>
          <p:cNvSpPr txBox="1"/>
          <p:nvPr/>
        </p:nvSpPr>
        <p:spPr>
          <a:xfrm>
            <a:off x="3154679" y="2807208"/>
            <a:ext cx="1600200" cy="1005840"/>
          </a:xfrm>
          <a:prstGeom prst="rect">
            <a:avLst/>
          </a:prstGeom>
          <a:noFill/>
        </p:spPr>
        <p:txBody>
          <a:bodyPr wrap="square" anchor="t">
            <a:spAutoFit/>
          </a:bodyPr>
          <a:lstStyle/>
          <a:p>
            <a:pPr algn="l"/>
            <a:r>
              <a:rPr sz="1250" b="0">
                <a:solidFill>
                  <a:srgbClr val="E1EAF4"/>
                </a:solidFill>
                <a:latin typeface="Aptos"/>
              </a:rPr>
              <a:t>What exactly should it do?</a:t>
            </a:r>
          </a:p>
        </p:txBody>
      </p:sp>
      <p:sp>
        <p:nvSpPr>
          <p:cNvPr id="13" name="Rounded Rectangle 12"/>
          <p:cNvSpPr/>
          <p:nvPr/>
        </p:nvSpPr>
        <p:spPr>
          <a:xfrm>
            <a:off x="5257800" y="2148840"/>
            <a:ext cx="20574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7800" y="2148840"/>
            <a:ext cx="64008" cy="182880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2350008"/>
            <a:ext cx="1645920" cy="365760"/>
          </a:xfrm>
          <a:prstGeom prst="rect">
            <a:avLst/>
          </a:prstGeom>
          <a:noFill/>
        </p:spPr>
        <p:txBody>
          <a:bodyPr wrap="square" anchor="t">
            <a:spAutoFit/>
          </a:bodyPr>
          <a:lstStyle/>
          <a:p>
            <a:pPr algn="l"/>
            <a:r>
              <a:rPr sz="1700" b="1">
                <a:solidFill>
                  <a:srgbClr val="F8FAFC"/>
                </a:solidFill>
                <a:latin typeface="Aptos"/>
              </a:rPr>
              <a:t>Context</a:t>
            </a:r>
          </a:p>
        </p:txBody>
      </p:sp>
      <p:sp>
        <p:nvSpPr>
          <p:cNvPr id="16" name="TextBox 15"/>
          <p:cNvSpPr txBox="1"/>
          <p:nvPr/>
        </p:nvSpPr>
        <p:spPr>
          <a:xfrm>
            <a:off x="5486400" y="2807208"/>
            <a:ext cx="1600200" cy="1005840"/>
          </a:xfrm>
          <a:prstGeom prst="rect">
            <a:avLst/>
          </a:prstGeom>
          <a:noFill/>
        </p:spPr>
        <p:txBody>
          <a:bodyPr wrap="square" anchor="t">
            <a:spAutoFit/>
          </a:bodyPr>
          <a:lstStyle/>
          <a:p>
            <a:pPr algn="l"/>
            <a:r>
              <a:rPr sz="1250" b="0">
                <a:solidFill>
                  <a:srgbClr val="E1EAF4"/>
                </a:solidFill>
                <a:latin typeface="Aptos"/>
              </a:rPr>
              <a:t>What information does it need?</a:t>
            </a:r>
          </a:p>
        </p:txBody>
      </p:sp>
      <p:sp>
        <p:nvSpPr>
          <p:cNvPr id="17" name="Rounded Rectangle 16"/>
          <p:cNvSpPr/>
          <p:nvPr/>
        </p:nvSpPr>
        <p:spPr>
          <a:xfrm>
            <a:off x="7589519" y="2148840"/>
            <a:ext cx="20574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19" y="2148840"/>
            <a:ext cx="64008" cy="182880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19" y="2350008"/>
            <a:ext cx="1645920" cy="365760"/>
          </a:xfrm>
          <a:prstGeom prst="rect">
            <a:avLst/>
          </a:prstGeom>
          <a:noFill/>
        </p:spPr>
        <p:txBody>
          <a:bodyPr wrap="square" anchor="t">
            <a:spAutoFit/>
          </a:bodyPr>
          <a:lstStyle/>
          <a:p>
            <a:pPr algn="l"/>
            <a:r>
              <a:rPr sz="1700" b="1">
                <a:solidFill>
                  <a:srgbClr val="F8FAFC"/>
                </a:solidFill>
                <a:latin typeface="Aptos"/>
              </a:rPr>
              <a:t>Constraints</a:t>
            </a:r>
          </a:p>
        </p:txBody>
      </p:sp>
      <p:sp>
        <p:nvSpPr>
          <p:cNvPr id="20" name="TextBox 19"/>
          <p:cNvSpPr txBox="1"/>
          <p:nvPr/>
        </p:nvSpPr>
        <p:spPr>
          <a:xfrm>
            <a:off x="7818119" y="2807208"/>
            <a:ext cx="1600200" cy="1005840"/>
          </a:xfrm>
          <a:prstGeom prst="rect">
            <a:avLst/>
          </a:prstGeom>
          <a:noFill/>
        </p:spPr>
        <p:txBody>
          <a:bodyPr wrap="square" anchor="t">
            <a:spAutoFit/>
          </a:bodyPr>
          <a:lstStyle/>
          <a:p>
            <a:pPr algn="l"/>
            <a:r>
              <a:rPr sz="1250" b="0">
                <a:solidFill>
                  <a:srgbClr val="E1EAF4"/>
                </a:solidFill>
                <a:latin typeface="Aptos"/>
              </a:rPr>
              <a:t>What should it avoid or limit?</a:t>
            </a:r>
          </a:p>
        </p:txBody>
      </p:sp>
      <p:sp>
        <p:nvSpPr>
          <p:cNvPr id="21" name="Rounded Rectangle 20"/>
          <p:cNvSpPr/>
          <p:nvPr/>
        </p:nvSpPr>
        <p:spPr>
          <a:xfrm>
            <a:off x="9921240" y="2148840"/>
            <a:ext cx="2057400" cy="18288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921240" y="2148840"/>
            <a:ext cx="64008" cy="182880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0" y="2350008"/>
            <a:ext cx="1645920" cy="365760"/>
          </a:xfrm>
          <a:prstGeom prst="rect">
            <a:avLst/>
          </a:prstGeom>
          <a:noFill/>
        </p:spPr>
        <p:txBody>
          <a:bodyPr wrap="square" anchor="t">
            <a:spAutoFit/>
          </a:bodyPr>
          <a:lstStyle/>
          <a:p>
            <a:pPr algn="l"/>
            <a:r>
              <a:rPr sz="1700" b="1">
                <a:solidFill>
                  <a:srgbClr val="F8FAFC"/>
                </a:solidFill>
                <a:latin typeface="Aptos"/>
              </a:rPr>
              <a:t>Format</a:t>
            </a:r>
          </a:p>
        </p:txBody>
      </p:sp>
      <p:sp>
        <p:nvSpPr>
          <p:cNvPr id="24" name="TextBox 23"/>
          <p:cNvSpPr txBox="1"/>
          <p:nvPr/>
        </p:nvSpPr>
        <p:spPr>
          <a:xfrm>
            <a:off x="10149840" y="2807208"/>
            <a:ext cx="1600200" cy="1005840"/>
          </a:xfrm>
          <a:prstGeom prst="rect">
            <a:avLst/>
          </a:prstGeom>
          <a:noFill/>
        </p:spPr>
        <p:txBody>
          <a:bodyPr wrap="square" anchor="t">
            <a:spAutoFit/>
          </a:bodyPr>
          <a:lstStyle/>
          <a:p>
            <a:pPr algn="l"/>
            <a:r>
              <a:rPr sz="1250" b="0">
                <a:solidFill>
                  <a:srgbClr val="E1EAF4"/>
                </a:solidFill>
                <a:latin typeface="Aptos"/>
              </a:rPr>
              <a:t>How should the answer look?</a:t>
            </a:r>
          </a:p>
        </p:txBody>
      </p:sp>
      <p:sp>
        <p:nvSpPr>
          <p:cNvPr id="25" name="TextBox 24"/>
          <p:cNvSpPr txBox="1"/>
          <p:nvPr/>
        </p:nvSpPr>
        <p:spPr>
          <a:xfrm>
            <a:off x="914400" y="4800600"/>
            <a:ext cx="10241280" cy="594360"/>
          </a:xfrm>
          <a:prstGeom prst="rect">
            <a:avLst/>
          </a:prstGeom>
          <a:noFill/>
        </p:spPr>
        <p:txBody>
          <a:bodyPr wrap="square" anchor="t">
            <a:spAutoFit/>
          </a:bodyPr>
          <a:lstStyle/>
          <a:p>
            <a:pPr algn="ctr"/>
            <a:r>
              <a:rPr sz="1700" b="1">
                <a:solidFill>
                  <a:srgbClr val="F8FAFC"/>
                </a:solidFill>
                <a:latin typeface="Aptos"/>
              </a:rPr>
              <a:t>Reusable formula: ROLE + TASK + CONTEXT + CONSTRAINTS + OUTPUT FORMAT</a:t>
            </a:r>
          </a:p>
        </p:txBody>
      </p:sp>
      <p:sp>
        <p:nvSpPr>
          <p:cNvPr id="26" name="TextBox 25"/>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06 · PROMPT ENGINEERING</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Before &amp; after: vague vs engineered</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Small changes in specificity can make an instruction much easier to follow.</a:t>
            </a:r>
          </a:p>
        </p:txBody>
      </p:sp>
      <p:sp>
        <p:nvSpPr>
          <p:cNvPr id="5" name="Rounded Rectangle 4"/>
          <p:cNvSpPr/>
          <p:nvPr/>
        </p:nvSpPr>
        <p:spPr>
          <a:xfrm>
            <a:off x="685800" y="2057400"/>
            <a:ext cx="5029200" cy="24231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57400"/>
            <a:ext cx="64008" cy="2423160"/>
          </a:xfrm>
          <a:prstGeom prst="rect">
            <a:avLst/>
          </a:prstGeom>
          <a:solidFill>
            <a:srgbClr val="E15F5F"/>
          </a:solidFill>
          <a:ln>
            <a:solidFill>
              <a:srgbClr val="E15F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4617720" cy="365760"/>
          </a:xfrm>
          <a:prstGeom prst="rect">
            <a:avLst/>
          </a:prstGeom>
          <a:noFill/>
        </p:spPr>
        <p:txBody>
          <a:bodyPr wrap="square" anchor="t">
            <a:spAutoFit/>
          </a:bodyPr>
          <a:lstStyle/>
          <a:p>
            <a:pPr algn="l"/>
            <a:r>
              <a:rPr sz="1700" b="1">
                <a:solidFill>
                  <a:srgbClr val="F8FAFC"/>
                </a:solidFill>
                <a:latin typeface="Aptos"/>
              </a:rPr>
              <a:t>Vague</a:t>
            </a:r>
          </a:p>
        </p:txBody>
      </p:sp>
      <p:sp>
        <p:nvSpPr>
          <p:cNvPr id="8" name="TextBox 7"/>
          <p:cNvSpPr txBox="1"/>
          <p:nvPr/>
        </p:nvSpPr>
        <p:spPr>
          <a:xfrm>
            <a:off x="914400" y="2715768"/>
            <a:ext cx="4572000" cy="1600200"/>
          </a:xfrm>
          <a:prstGeom prst="rect">
            <a:avLst/>
          </a:prstGeom>
          <a:noFill/>
        </p:spPr>
        <p:txBody>
          <a:bodyPr wrap="square" anchor="t">
            <a:spAutoFit/>
          </a:bodyPr>
          <a:lstStyle/>
          <a:p>
            <a:pPr algn="l"/>
            <a:r>
              <a:rPr sz="1250" b="0">
                <a:solidFill>
                  <a:srgbClr val="E1EAF4"/>
                </a:solidFill>
                <a:latin typeface="Aptos"/>
              </a:rPr>
              <a:t>Tell me about AI.</a:t>
            </a:r>
          </a:p>
        </p:txBody>
      </p:sp>
      <p:sp>
        <p:nvSpPr>
          <p:cNvPr id="9" name="Rounded Rectangle 8"/>
          <p:cNvSpPr/>
          <p:nvPr/>
        </p:nvSpPr>
        <p:spPr>
          <a:xfrm>
            <a:off x="6217920" y="2057400"/>
            <a:ext cx="5029200" cy="242316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057400"/>
            <a:ext cx="64008" cy="242316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258568"/>
            <a:ext cx="4617720" cy="365760"/>
          </a:xfrm>
          <a:prstGeom prst="rect">
            <a:avLst/>
          </a:prstGeom>
          <a:noFill/>
        </p:spPr>
        <p:txBody>
          <a:bodyPr wrap="square" anchor="t">
            <a:spAutoFit/>
          </a:bodyPr>
          <a:lstStyle/>
          <a:p>
            <a:pPr algn="l"/>
            <a:r>
              <a:rPr sz="1700" b="1">
                <a:solidFill>
                  <a:srgbClr val="F8FAFC"/>
                </a:solidFill>
                <a:latin typeface="Aptos"/>
              </a:rPr>
              <a:t>Engineered</a:t>
            </a:r>
          </a:p>
        </p:txBody>
      </p:sp>
      <p:sp>
        <p:nvSpPr>
          <p:cNvPr id="12" name="TextBox 11"/>
          <p:cNvSpPr txBox="1"/>
          <p:nvPr/>
        </p:nvSpPr>
        <p:spPr>
          <a:xfrm>
            <a:off x="6446520" y="2715768"/>
            <a:ext cx="4572000" cy="1600200"/>
          </a:xfrm>
          <a:prstGeom prst="rect">
            <a:avLst/>
          </a:prstGeom>
          <a:noFill/>
        </p:spPr>
        <p:txBody>
          <a:bodyPr wrap="square" anchor="t">
            <a:spAutoFit/>
          </a:bodyPr>
          <a:lstStyle/>
          <a:p>
            <a:pPr algn="l"/>
            <a:r>
              <a:rPr sz="1250" b="0">
                <a:solidFill>
                  <a:srgbClr val="E1EAF4"/>
                </a:solidFill>
                <a:latin typeface="Aptos"/>
              </a:rPr>
              <a:t>You are an AI instructor. Explain AI to first-year BIT students in 5 bullet points. Include one banking example and one limitation. Keep it under 150 words.</a:t>
            </a:r>
          </a:p>
        </p:txBody>
      </p:sp>
      <p:sp>
        <p:nvSpPr>
          <p:cNvPr id="13" name="TextBox 12"/>
          <p:cNvSpPr txBox="1"/>
          <p:nvPr/>
        </p:nvSpPr>
        <p:spPr>
          <a:xfrm>
            <a:off x="914400" y="4892040"/>
            <a:ext cx="10241280" cy="548640"/>
          </a:xfrm>
          <a:prstGeom prst="rect">
            <a:avLst/>
          </a:prstGeom>
          <a:noFill/>
        </p:spPr>
        <p:txBody>
          <a:bodyPr wrap="square" anchor="t">
            <a:spAutoFit/>
          </a:bodyPr>
          <a:lstStyle/>
          <a:p>
            <a:pPr algn="ctr"/>
            <a:r>
              <a:rPr sz="1600" b="1">
                <a:solidFill>
                  <a:srgbClr val="A4B5C9"/>
                </a:solidFill>
                <a:latin typeface="Aptos"/>
              </a:rPr>
              <a:t>Observe: audience + task + scope + examples + constraints + format</a:t>
            </a:r>
          </a:p>
        </p:txBody>
      </p:sp>
      <p:sp>
        <p:nvSpPr>
          <p:cNvPr id="14" name="TextBox 13"/>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06 · PROMPT ENGINEERING</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Zero-shot prompting</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Ask the model to perform a task without providing examples.</a:t>
            </a:r>
          </a:p>
        </p:txBody>
      </p:sp>
      <p:sp>
        <p:nvSpPr>
          <p:cNvPr id="5" name="Rounded Rectangle 4"/>
          <p:cNvSpPr/>
          <p:nvPr/>
        </p:nvSpPr>
        <p:spPr>
          <a:xfrm>
            <a:off x="685800" y="2057400"/>
            <a:ext cx="5029200" cy="22860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57400"/>
            <a:ext cx="64008" cy="228600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4617720" cy="365760"/>
          </a:xfrm>
          <a:prstGeom prst="rect">
            <a:avLst/>
          </a:prstGeom>
          <a:noFill/>
        </p:spPr>
        <p:txBody>
          <a:bodyPr wrap="square" anchor="t">
            <a:spAutoFit/>
          </a:bodyPr>
          <a:lstStyle/>
          <a:p>
            <a:pPr algn="l"/>
            <a:r>
              <a:rPr sz="1700" b="1">
                <a:solidFill>
                  <a:srgbClr val="F8FAFC"/>
                </a:solidFill>
                <a:latin typeface="Aptos"/>
              </a:rPr>
              <a:t>Example</a:t>
            </a:r>
          </a:p>
        </p:txBody>
      </p:sp>
      <p:sp>
        <p:nvSpPr>
          <p:cNvPr id="8" name="TextBox 7"/>
          <p:cNvSpPr txBox="1"/>
          <p:nvPr/>
        </p:nvSpPr>
        <p:spPr>
          <a:xfrm>
            <a:off x="914400" y="2715768"/>
            <a:ext cx="4572000" cy="1463040"/>
          </a:xfrm>
          <a:prstGeom prst="rect">
            <a:avLst/>
          </a:prstGeom>
          <a:noFill/>
        </p:spPr>
        <p:txBody>
          <a:bodyPr wrap="square" anchor="t">
            <a:spAutoFit/>
          </a:bodyPr>
          <a:lstStyle/>
          <a:p>
            <a:pPr algn="l"/>
            <a:r>
              <a:rPr sz="1250" b="0">
                <a:solidFill>
                  <a:srgbClr val="E1EAF4"/>
                </a:solidFill>
                <a:latin typeface="Aptos"/>
              </a:rPr>
              <a:t>Classify this customer comment as Positive, Neutral or Negative:</a:t>
            </a:r>
            <a:br/>
            <a:br/>
            <a:r>
              <a:rPr sz="1250" b="0">
                <a:solidFill>
                  <a:srgbClr val="E1EAF4"/>
                </a:solidFill>
                <a:latin typeface="Aptos"/>
              </a:rPr>
              <a:t>“The delivery arrived late, but the support team solved the problem.”</a:t>
            </a:r>
          </a:p>
        </p:txBody>
      </p:sp>
      <p:sp>
        <p:nvSpPr>
          <p:cNvPr id="9" name="Rounded Rectangle 8"/>
          <p:cNvSpPr/>
          <p:nvPr/>
        </p:nvSpPr>
        <p:spPr>
          <a:xfrm>
            <a:off x="6217920" y="2057400"/>
            <a:ext cx="5029200" cy="22860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057400"/>
            <a:ext cx="64008" cy="228600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258568"/>
            <a:ext cx="4617720" cy="365760"/>
          </a:xfrm>
          <a:prstGeom prst="rect">
            <a:avLst/>
          </a:prstGeom>
          <a:noFill/>
        </p:spPr>
        <p:txBody>
          <a:bodyPr wrap="square" anchor="t">
            <a:spAutoFit/>
          </a:bodyPr>
          <a:lstStyle/>
          <a:p>
            <a:pPr algn="l"/>
            <a:r>
              <a:rPr sz="1700" b="1">
                <a:solidFill>
                  <a:srgbClr val="F8FAFC"/>
                </a:solidFill>
                <a:latin typeface="Aptos"/>
              </a:rPr>
              <a:t>When useful</a:t>
            </a:r>
          </a:p>
        </p:txBody>
      </p:sp>
      <p:sp>
        <p:nvSpPr>
          <p:cNvPr id="12" name="TextBox 11"/>
          <p:cNvSpPr txBox="1"/>
          <p:nvPr/>
        </p:nvSpPr>
        <p:spPr>
          <a:xfrm>
            <a:off x="6446520" y="2715768"/>
            <a:ext cx="4572000" cy="1463040"/>
          </a:xfrm>
          <a:prstGeom prst="rect">
            <a:avLst/>
          </a:prstGeom>
          <a:noFill/>
        </p:spPr>
        <p:txBody>
          <a:bodyPr wrap="square" anchor="t">
            <a:spAutoFit/>
          </a:bodyPr>
          <a:lstStyle/>
          <a:p>
            <a:pPr algn="l"/>
            <a:r>
              <a:rPr sz="1250" b="0">
                <a:solidFill>
                  <a:srgbClr val="E1EAF4"/>
                </a:solidFill>
                <a:latin typeface="Aptos"/>
              </a:rPr>
              <a:t>• Straightforward tasks</a:t>
            </a:r>
            <a:br/>
            <a:r>
              <a:rPr sz="1250" b="0">
                <a:solidFill>
                  <a:srgbClr val="E1EAF4"/>
                </a:solidFill>
                <a:latin typeface="Aptos"/>
              </a:rPr>
              <a:t>• Common formats</a:t>
            </a:r>
            <a:br/>
            <a:r>
              <a:rPr sz="1250" b="0">
                <a:solidFill>
                  <a:srgbClr val="E1EAF4"/>
                </a:solidFill>
                <a:latin typeface="Aptos"/>
              </a:rPr>
              <a:t>• Fast experimentation</a:t>
            </a:r>
            <a:br/>
            <a:r>
              <a:rPr sz="1250" b="0">
                <a:solidFill>
                  <a:srgbClr val="E1EAF4"/>
                </a:solidFill>
                <a:latin typeface="Aptos"/>
              </a:rPr>
              <a:t>• When the desired behavior is obvious</a:t>
            </a:r>
          </a:p>
        </p:txBody>
      </p:sp>
      <p:sp>
        <p:nvSpPr>
          <p:cNvPr id="13" name="TextBox 12"/>
          <p:cNvSpPr txBox="1"/>
          <p:nvPr/>
        </p:nvSpPr>
        <p:spPr>
          <a:xfrm>
            <a:off x="914400" y="4892040"/>
            <a:ext cx="10241280" cy="594360"/>
          </a:xfrm>
          <a:prstGeom prst="rect">
            <a:avLst/>
          </a:prstGeom>
          <a:noFill/>
        </p:spPr>
        <p:txBody>
          <a:bodyPr wrap="square" anchor="t">
            <a:spAutoFit/>
          </a:bodyPr>
          <a:lstStyle/>
          <a:p>
            <a:pPr algn="ctr"/>
            <a:r>
              <a:rPr sz="1600" b="1">
                <a:solidFill>
                  <a:srgbClr val="F4A94A"/>
                </a:solidFill>
                <a:latin typeface="Aptos"/>
              </a:rPr>
              <a:t>Hands-on: create a zero-shot prompt that classifies 10 business customer comments.</a:t>
            </a:r>
          </a:p>
        </p:txBody>
      </p:sp>
      <p:sp>
        <p:nvSpPr>
          <p:cNvPr id="14" name="TextBox 13"/>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06 · PROMPT ENGINEERING</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Few-shot prompting</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Provide a few examples to demonstrate the pattern or desired format.</a:t>
            </a:r>
          </a:p>
        </p:txBody>
      </p:sp>
      <p:sp>
        <p:nvSpPr>
          <p:cNvPr id="5" name="Rounded Rectangle 4"/>
          <p:cNvSpPr/>
          <p:nvPr/>
        </p:nvSpPr>
        <p:spPr>
          <a:xfrm>
            <a:off x="685800" y="1965960"/>
            <a:ext cx="5029200" cy="27432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965960"/>
            <a:ext cx="64008" cy="274320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67128"/>
            <a:ext cx="4617720" cy="365760"/>
          </a:xfrm>
          <a:prstGeom prst="rect">
            <a:avLst/>
          </a:prstGeom>
          <a:noFill/>
        </p:spPr>
        <p:txBody>
          <a:bodyPr wrap="square" anchor="t">
            <a:spAutoFit/>
          </a:bodyPr>
          <a:lstStyle/>
          <a:p>
            <a:pPr algn="l"/>
            <a:r>
              <a:rPr sz="1700" b="1">
                <a:solidFill>
                  <a:srgbClr val="F8FAFC"/>
                </a:solidFill>
                <a:latin typeface="Aptos"/>
              </a:rPr>
              <a:t>Examples</a:t>
            </a:r>
          </a:p>
        </p:txBody>
      </p:sp>
      <p:sp>
        <p:nvSpPr>
          <p:cNvPr id="8" name="TextBox 7"/>
          <p:cNvSpPr txBox="1"/>
          <p:nvPr/>
        </p:nvSpPr>
        <p:spPr>
          <a:xfrm>
            <a:off x="914400" y="2624328"/>
            <a:ext cx="4572000" cy="1920240"/>
          </a:xfrm>
          <a:prstGeom prst="rect">
            <a:avLst/>
          </a:prstGeom>
          <a:noFill/>
        </p:spPr>
        <p:txBody>
          <a:bodyPr wrap="square" anchor="t">
            <a:spAutoFit/>
          </a:bodyPr>
          <a:lstStyle/>
          <a:p>
            <a:pPr algn="l"/>
            <a:r>
              <a:rPr sz="1250" b="0">
                <a:solidFill>
                  <a:srgbClr val="E1EAF4"/>
                </a:solidFill>
                <a:latin typeface="Aptos"/>
              </a:rPr>
              <a:t>“Excellent service.” → Positive</a:t>
            </a:r>
            <a:br/>
            <a:r>
              <a:rPr sz="1250" b="0">
                <a:solidFill>
                  <a:srgbClr val="E1EAF4"/>
                </a:solidFill>
                <a:latin typeface="Aptos"/>
              </a:rPr>
              <a:t>“Terrible experience.” → Negative</a:t>
            </a:r>
            <a:br/>
            <a:r>
              <a:rPr sz="1250" b="0">
                <a:solidFill>
                  <a:srgbClr val="E1EAF4"/>
                </a:solidFill>
                <a:latin typeface="Aptos"/>
              </a:rPr>
              <a:t>“Delivery was okay.” → Neutral</a:t>
            </a:r>
          </a:p>
        </p:txBody>
      </p:sp>
      <p:sp>
        <p:nvSpPr>
          <p:cNvPr id="9" name="Rounded Rectangle 8"/>
          <p:cNvSpPr/>
          <p:nvPr/>
        </p:nvSpPr>
        <p:spPr>
          <a:xfrm>
            <a:off x="6217920" y="1965960"/>
            <a:ext cx="5029200" cy="274320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965960"/>
            <a:ext cx="64008" cy="274320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67128"/>
            <a:ext cx="4617720" cy="365760"/>
          </a:xfrm>
          <a:prstGeom prst="rect">
            <a:avLst/>
          </a:prstGeom>
          <a:noFill/>
        </p:spPr>
        <p:txBody>
          <a:bodyPr wrap="square" anchor="t">
            <a:spAutoFit/>
          </a:bodyPr>
          <a:lstStyle/>
          <a:p>
            <a:pPr algn="l"/>
            <a:r>
              <a:rPr sz="1700" b="1">
                <a:solidFill>
                  <a:srgbClr val="F8FAFC"/>
                </a:solidFill>
                <a:latin typeface="Aptos"/>
              </a:rPr>
              <a:t>New input</a:t>
            </a:r>
          </a:p>
        </p:txBody>
      </p:sp>
      <p:sp>
        <p:nvSpPr>
          <p:cNvPr id="12" name="TextBox 11"/>
          <p:cNvSpPr txBox="1"/>
          <p:nvPr/>
        </p:nvSpPr>
        <p:spPr>
          <a:xfrm>
            <a:off x="6446520" y="2624328"/>
            <a:ext cx="4572000" cy="1920240"/>
          </a:xfrm>
          <a:prstGeom prst="rect">
            <a:avLst/>
          </a:prstGeom>
          <a:noFill/>
        </p:spPr>
        <p:txBody>
          <a:bodyPr wrap="square" anchor="t">
            <a:spAutoFit/>
          </a:bodyPr>
          <a:lstStyle/>
          <a:p>
            <a:pPr algn="l"/>
            <a:r>
              <a:rPr sz="1250" b="0">
                <a:solidFill>
                  <a:srgbClr val="E1EAF4"/>
                </a:solidFill>
                <a:latin typeface="Aptos"/>
              </a:rPr>
              <a:t>“The app is useful, but the response time is disappointing.”</a:t>
            </a:r>
            <a:br/>
            <a:br/>
            <a:r>
              <a:rPr sz="1250" b="0">
                <a:solidFill>
                  <a:srgbClr val="E1EAF4"/>
                </a:solidFill>
                <a:latin typeface="Aptos"/>
              </a:rPr>
              <a:t>Ask the model to return only one label.</a:t>
            </a:r>
          </a:p>
        </p:txBody>
      </p:sp>
      <p:sp>
        <p:nvSpPr>
          <p:cNvPr id="13" name="TextBox 12"/>
          <p:cNvSpPr txBox="1"/>
          <p:nvPr/>
        </p:nvSpPr>
        <p:spPr>
          <a:xfrm>
            <a:off x="914400" y="5074920"/>
            <a:ext cx="10241280" cy="594360"/>
          </a:xfrm>
          <a:prstGeom prst="rect">
            <a:avLst/>
          </a:prstGeom>
          <a:noFill/>
        </p:spPr>
        <p:txBody>
          <a:bodyPr wrap="square" anchor="t">
            <a:spAutoFit/>
          </a:bodyPr>
          <a:lstStyle/>
          <a:p>
            <a:pPr algn="ctr"/>
            <a:r>
              <a:rPr sz="1600" b="1">
                <a:solidFill>
                  <a:srgbClr val="F4A94A"/>
                </a:solidFill>
                <a:latin typeface="Aptos"/>
              </a:rPr>
              <a:t>Exercise: compare zero-shot vs few-shot accuracy/consistency on 10 examples.</a:t>
            </a:r>
          </a:p>
        </p:txBody>
      </p:sp>
      <p:sp>
        <p:nvSpPr>
          <p:cNvPr id="14" name="TextBox 13"/>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06 · PROMPT ENGINEERING</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Role prompting</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A role can establish perspective, audience, tone and expertise level.</a:t>
            </a:r>
          </a:p>
        </p:txBody>
      </p:sp>
      <p:sp>
        <p:nvSpPr>
          <p:cNvPr id="5" name="Rounded Rectangle 4"/>
          <p:cNvSpPr/>
          <p:nvPr/>
        </p:nvSpPr>
        <p:spPr>
          <a:xfrm>
            <a:off x="685800" y="2011680"/>
            <a:ext cx="5029200" cy="23774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11680"/>
            <a:ext cx="64008" cy="23774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12848"/>
            <a:ext cx="4617720" cy="365760"/>
          </a:xfrm>
          <a:prstGeom prst="rect">
            <a:avLst/>
          </a:prstGeom>
          <a:noFill/>
        </p:spPr>
        <p:txBody>
          <a:bodyPr wrap="square" anchor="t">
            <a:spAutoFit/>
          </a:bodyPr>
          <a:lstStyle/>
          <a:p>
            <a:pPr algn="l"/>
            <a:r>
              <a:rPr sz="1700" b="1">
                <a:solidFill>
                  <a:srgbClr val="F8FAFC"/>
                </a:solidFill>
                <a:latin typeface="Aptos"/>
              </a:rPr>
              <a:t>Basic</a:t>
            </a:r>
          </a:p>
        </p:txBody>
      </p:sp>
      <p:sp>
        <p:nvSpPr>
          <p:cNvPr id="8" name="TextBox 7"/>
          <p:cNvSpPr txBox="1"/>
          <p:nvPr/>
        </p:nvSpPr>
        <p:spPr>
          <a:xfrm>
            <a:off x="914400" y="2670048"/>
            <a:ext cx="4572000" cy="1554480"/>
          </a:xfrm>
          <a:prstGeom prst="rect">
            <a:avLst/>
          </a:prstGeom>
          <a:noFill/>
        </p:spPr>
        <p:txBody>
          <a:bodyPr wrap="square" anchor="t">
            <a:spAutoFit/>
          </a:bodyPr>
          <a:lstStyle/>
          <a:p>
            <a:pPr algn="l"/>
            <a:r>
              <a:rPr sz="1250" b="0">
                <a:solidFill>
                  <a:srgbClr val="E1EAF4"/>
                </a:solidFill>
                <a:latin typeface="Aptos"/>
              </a:rPr>
              <a:t>Explain cloud computing.</a:t>
            </a:r>
          </a:p>
        </p:txBody>
      </p:sp>
      <p:sp>
        <p:nvSpPr>
          <p:cNvPr id="9" name="Rounded Rectangle 8"/>
          <p:cNvSpPr/>
          <p:nvPr/>
        </p:nvSpPr>
        <p:spPr>
          <a:xfrm>
            <a:off x="6217920" y="2011680"/>
            <a:ext cx="5029200" cy="23774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2011680"/>
            <a:ext cx="64008" cy="237744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212848"/>
            <a:ext cx="4617720" cy="365760"/>
          </a:xfrm>
          <a:prstGeom prst="rect">
            <a:avLst/>
          </a:prstGeom>
          <a:noFill/>
        </p:spPr>
        <p:txBody>
          <a:bodyPr wrap="square" anchor="t">
            <a:spAutoFit/>
          </a:bodyPr>
          <a:lstStyle/>
          <a:p>
            <a:pPr algn="l"/>
            <a:r>
              <a:rPr sz="1700" b="1">
                <a:solidFill>
                  <a:srgbClr val="F8FAFC"/>
                </a:solidFill>
                <a:latin typeface="Aptos"/>
              </a:rPr>
              <a:t>Role + audience</a:t>
            </a:r>
          </a:p>
        </p:txBody>
      </p:sp>
      <p:sp>
        <p:nvSpPr>
          <p:cNvPr id="12" name="TextBox 11"/>
          <p:cNvSpPr txBox="1"/>
          <p:nvPr/>
        </p:nvSpPr>
        <p:spPr>
          <a:xfrm>
            <a:off x="6446520" y="2670048"/>
            <a:ext cx="4572000" cy="1554480"/>
          </a:xfrm>
          <a:prstGeom prst="rect">
            <a:avLst/>
          </a:prstGeom>
          <a:noFill/>
        </p:spPr>
        <p:txBody>
          <a:bodyPr wrap="square" anchor="t">
            <a:spAutoFit/>
          </a:bodyPr>
          <a:lstStyle/>
          <a:p>
            <a:pPr algn="l"/>
            <a:r>
              <a:rPr sz="1250" b="0">
                <a:solidFill>
                  <a:srgbClr val="E1EAF4"/>
                </a:solidFill>
                <a:latin typeface="Aptos"/>
              </a:rPr>
              <a:t>You are a senior cloud instructor. Explain cloud computing to a beginner Python developer using one real-world business example and a short analogy.</a:t>
            </a:r>
          </a:p>
        </p:txBody>
      </p:sp>
      <p:sp>
        <p:nvSpPr>
          <p:cNvPr id="13" name="TextBox 12"/>
          <p:cNvSpPr txBox="1"/>
          <p:nvPr/>
        </p:nvSpPr>
        <p:spPr>
          <a:xfrm>
            <a:off x="914400" y="4892040"/>
            <a:ext cx="10241280" cy="594360"/>
          </a:xfrm>
          <a:prstGeom prst="rect">
            <a:avLst/>
          </a:prstGeom>
          <a:noFill/>
        </p:spPr>
        <p:txBody>
          <a:bodyPr wrap="square" anchor="t">
            <a:spAutoFit/>
          </a:bodyPr>
          <a:lstStyle/>
          <a:p>
            <a:pPr algn="ctr"/>
            <a:r>
              <a:rPr sz="1600" b="1">
                <a:solidFill>
                  <a:srgbClr val="F4A94A"/>
                </a:solidFill>
                <a:latin typeface="Aptos"/>
              </a:rPr>
              <a:t>Exercise: rewrite the same prompt for a teacher, bank manager and software developer.</a:t>
            </a:r>
          </a:p>
        </p:txBody>
      </p:sp>
      <p:sp>
        <p:nvSpPr>
          <p:cNvPr id="14" name="TextBox 13"/>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06 · PROMPT ENGINEERING</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Reasoning + verification</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For complex tasks, ask for careful checking rather than assuming the first answer is correct.</a:t>
            </a:r>
          </a:p>
        </p:txBody>
      </p:sp>
      <p:sp>
        <p:nvSpPr>
          <p:cNvPr id="5" name="Rounded Rectangle 4"/>
          <p:cNvSpPr/>
          <p:nvPr/>
        </p:nvSpPr>
        <p:spPr>
          <a:xfrm>
            <a:off x="685800" y="2011680"/>
            <a:ext cx="3246120" cy="25603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011680"/>
            <a:ext cx="64008" cy="256032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12848"/>
            <a:ext cx="2834639" cy="365760"/>
          </a:xfrm>
          <a:prstGeom prst="rect">
            <a:avLst/>
          </a:prstGeom>
          <a:noFill/>
        </p:spPr>
        <p:txBody>
          <a:bodyPr wrap="square" anchor="t">
            <a:spAutoFit/>
          </a:bodyPr>
          <a:lstStyle/>
          <a:p>
            <a:pPr algn="l"/>
            <a:r>
              <a:rPr sz="1700" b="1">
                <a:solidFill>
                  <a:srgbClr val="F8FAFC"/>
                </a:solidFill>
                <a:latin typeface="Aptos"/>
              </a:rPr>
              <a:t>1 · Solve</a:t>
            </a:r>
          </a:p>
        </p:txBody>
      </p:sp>
      <p:sp>
        <p:nvSpPr>
          <p:cNvPr id="8" name="TextBox 7"/>
          <p:cNvSpPr txBox="1"/>
          <p:nvPr/>
        </p:nvSpPr>
        <p:spPr>
          <a:xfrm>
            <a:off x="914400" y="2670048"/>
            <a:ext cx="2788920" cy="1737360"/>
          </a:xfrm>
          <a:prstGeom prst="rect">
            <a:avLst/>
          </a:prstGeom>
          <a:noFill/>
        </p:spPr>
        <p:txBody>
          <a:bodyPr wrap="square" anchor="t">
            <a:spAutoFit/>
          </a:bodyPr>
          <a:lstStyle/>
          <a:p>
            <a:pPr algn="l"/>
            <a:r>
              <a:rPr sz="1250" b="0">
                <a:solidFill>
                  <a:srgbClr val="E1EAF4"/>
                </a:solidFill>
                <a:latin typeface="Aptos"/>
              </a:rPr>
              <a:t>Break the task into manageable steps or subproblems.</a:t>
            </a:r>
          </a:p>
        </p:txBody>
      </p:sp>
      <p:sp>
        <p:nvSpPr>
          <p:cNvPr id="9" name="Rounded Rectangle 8"/>
          <p:cNvSpPr/>
          <p:nvPr/>
        </p:nvSpPr>
        <p:spPr>
          <a:xfrm>
            <a:off x="4251960" y="2011680"/>
            <a:ext cx="3246120" cy="25603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2011680"/>
            <a:ext cx="64008" cy="256032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2212848"/>
            <a:ext cx="2834639" cy="365760"/>
          </a:xfrm>
          <a:prstGeom prst="rect">
            <a:avLst/>
          </a:prstGeom>
          <a:noFill/>
        </p:spPr>
        <p:txBody>
          <a:bodyPr wrap="square" anchor="t">
            <a:spAutoFit/>
          </a:bodyPr>
          <a:lstStyle/>
          <a:p>
            <a:pPr algn="l"/>
            <a:r>
              <a:rPr sz="1700" b="1">
                <a:solidFill>
                  <a:srgbClr val="F8FAFC"/>
                </a:solidFill>
                <a:latin typeface="Aptos"/>
              </a:rPr>
              <a:t>2 · Verify</a:t>
            </a:r>
          </a:p>
        </p:txBody>
      </p:sp>
      <p:sp>
        <p:nvSpPr>
          <p:cNvPr id="12" name="TextBox 11"/>
          <p:cNvSpPr txBox="1"/>
          <p:nvPr/>
        </p:nvSpPr>
        <p:spPr>
          <a:xfrm>
            <a:off x="4480560" y="2670048"/>
            <a:ext cx="2788920" cy="1737360"/>
          </a:xfrm>
          <a:prstGeom prst="rect">
            <a:avLst/>
          </a:prstGeom>
          <a:noFill/>
        </p:spPr>
        <p:txBody>
          <a:bodyPr wrap="square" anchor="t">
            <a:spAutoFit/>
          </a:bodyPr>
          <a:lstStyle/>
          <a:p>
            <a:pPr algn="l"/>
            <a:r>
              <a:rPr sz="1250" b="0">
                <a:solidFill>
                  <a:srgbClr val="E1EAF4"/>
                </a:solidFill>
                <a:latin typeface="Aptos"/>
              </a:rPr>
              <a:t>Check calculations, assumptions, constraints and edge cases.</a:t>
            </a:r>
          </a:p>
        </p:txBody>
      </p:sp>
      <p:sp>
        <p:nvSpPr>
          <p:cNvPr id="13" name="Rounded Rectangle 12"/>
          <p:cNvSpPr/>
          <p:nvPr/>
        </p:nvSpPr>
        <p:spPr>
          <a:xfrm>
            <a:off x="7818120" y="2011680"/>
            <a:ext cx="3246120" cy="25603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18120" y="2011680"/>
            <a:ext cx="64008" cy="256032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212848"/>
            <a:ext cx="2834639" cy="365760"/>
          </a:xfrm>
          <a:prstGeom prst="rect">
            <a:avLst/>
          </a:prstGeom>
          <a:noFill/>
        </p:spPr>
        <p:txBody>
          <a:bodyPr wrap="square" anchor="t">
            <a:spAutoFit/>
          </a:bodyPr>
          <a:lstStyle/>
          <a:p>
            <a:pPr algn="l"/>
            <a:r>
              <a:rPr sz="1700" b="1">
                <a:solidFill>
                  <a:srgbClr val="F8FAFC"/>
                </a:solidFill>
                <a:latin typeface="Aptos"/>
              </a:rPr>
              <a:t>3 · Present</a:t>
            </a:r>
          </a:p>
        </p:txBody>
      </p:sp>
      <p:sp>
        <p:nvSpPr>
          <p:cNvPr id="16" name="TextBox 15"/>
          <p:cNvSpPr txBox="1"/>
          <p:nvPr/>
        </p:nvSpPr>
        <p:spPr>
          <a:xfrm>
            <a:off x="8046720" y="2670048"/>
            <a:ext cx="2788920" cy="1737360"/>
          </a:xfrm>
          <a:prstGeom prst="rect">
            <a:avLst/>
          </a:prstGeom>
          <a:noFill/>
        </p:spPr>
        <p:txBody>
          <a:bodyPr wrap="square" anchor="t">
            <a:spAutoFit/>
          </a:bodyPr>
          <a:lstStyle/>
          <a:p>
            <a:pPr algn="l"/>
            <a:r>
              <a:rPr sz="1250" b="0">
                <a:solidFill>
                  <a:srgbClr val="E1EAF4"/>
                </a:solidFill>
                <a:latin typeface="Aptos"/>
              </a:rPr>
              <a:t>Give a concise answer plus the key reasoning or checks.</a:t>
            </a:r>
          </a:p>
        </p:txBody>
      </p:sp>
      <p:sp>
        <p:nvSpPr>
          <p:cNvPr id="17" name="TextBox 16"/>
          <p:cNvSpPr txBox="1"/>
          <p:nvPr/>
        </p:nvSpPr>
        <p:spPr>
          <a:xfrm>
            <a:off x="914400" y="4983480"/>
            <a:ext cx="10241280" cy="548640"/>
          </a:xfrm>
          <a:prstGeom prst="rect">
            <a:avLst/>
          </a:prstGeom>
          <a:noFill/>
        </p:spPr>
        <p:txBody>
          <a:bodyPr wrap="square" anchor="t">
            <a:spAutoFit/>
          </a:bodyPr>
          <a:lstStyle/>
          <a:p>
            <a:pPr algn="ctr"/>
            <a:r>
              <a:rPr sz="1600" b="1">
                <a:solidFill>
                  <a:srgbClr val="F4A94A"/>
                </a:solidFill>
                <a:latin typeface="Aptos"/>
              </a:rPr>
              <a:t>Important: more detailed reasoning does not guarantee correctness. Verification still matters.</a:t>
            </a:r>
          </a:p>
        </p:txBody>
      </p:sp>
      <p:sp>
        <p:nvSpPr>
          <p:cNvPr id="18" name="TextBox 17"/>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LAB 2</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Prompt engineering challenge</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20 minutes · pairs</a:t>
            </a:r>
          </a:p>
        </p:txBody>
      </p:sp>
      <p:sp>
        <p:nvSpPr>
          <p:cNvPr id="5" name="Rounded Rectangle 4"/>
          <p:cNvSpPr/>
          <p:nvPr/>
        </p:nvSpPr>
        <p:spPr>
          <a:xfrm>
            <a:off x="685800" y="1965960"/>
            <a:ext cx="3246120" cy="28346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965960"/>
            <a:ext cx="64008" cy="283464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67128"/>
            <a:ext cx="2834639" cy="365760"/>
          </a:xfrm>
          <a:prstGeom prst="rect">
            <a:avLst/>
          </a:prstGeom>
          <a:noFill/>
        </p:spPr>
        <p:txBody>
          <a:bodyPr wrap="square" anchor="t">
            <a:spAutoFit/>
          </a:bodyPr>
          <a:lstStyle/>
          <a:p>
            <a:pPr algn="l"/>
            <a:r>
              <a:rPr sz="1700" b="1">
                <a:solidFill>
                  <a:srgbClr val="F8FAFC"/>
                </a:solidFill>
                <a:latin typeface="Aptos"/>
              </a:rPr>
              <a:t>Challenge</a:t>
            </a:r>
          </a:p>
        </p:txBody>
      </p:sp>
      <p:sp>
        <p:nvSpPr>
          <p:cNvPr id="8" name="TextBox 7"/>
          <p:cNvSpPr txBox="1"/>
          <p:nvPr/>
        </p:nvSpPr>
        <p:spPr>
          <a:xfrm>
            <a:off x="914400" y="2624328"/>
            <a:ext cx="2788920" cy="2011680"/>
          </a:xfrm>
          <a:prstGeom prst="rect">
            <a:avLst/>
          </a:prstGeom>
          <a:noFill/>
        </p:spPr>
        <p:txBody>
          <a:bodyPr wrap="square" anchor="t">
            <a:spAutoFit/>
          </a:bodyPr>
          <a:lstStyle/>
          <a:p>
            <a:pPr algn="l"/>
            <a:r>
              <a:rPr sz="1250" b="0">
                <a:solidFill>
                  <a:srgbClr val="E1EAF4"/>
                </a:solidFill>
                <a:latin typeface="Aptos"/>
              </a:rPr>
              <a:t>Create a prompt that asks an AI assistant to analyze customer feedback and produce actionable business insights.</a:t>
            </a:r>
          </a:p>
        </p:txBody>
      </p:sp>
      <p:sp>
        <p:nvSpPr>
          <p:cNvPr id="9" name="Rounded Rectangle 8"/>
          <p:cNvSpPr/>
          <p:nvPr/>
        </p:nvSpPr>
        <p:spPr>
          <a:xfrm>
            <a:off x="4251960" y="1965960"/>
            <a:ext cx="3246120" cy="28346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965960"/>
            <a:ext cx="64008" cy="283464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2167128"/>
            <a:ext cx="2834639" cy="365760"/>
          </a:xfrm>
          <a:prstGeom prst="rect">
            <a:avLst/>
          </a:prstGeom>
          <a:noFill/>
        </p:spPr>
        <p:txBody>
          <a:bodyPr wrap="square" anchor="t">
            <a:spAutoFit/>
          </a:bodyPr>
          <a:lstStyle/>
          <a:p>
            <a:pPr algn="l"/>
            <a:r>
              <a:rPr sz="1700" b="1">
                <a:solidFill>
                  <a:srgbClr val="F8FAFC"/>
                </a:solidFill>
                <a:latin typeface="Aptos"/>
              </a:rPr>
              <a:t>Requirements</a:t>
            </a:r>
          </a:p>
        </p:txBody>
      </p:sp>
      <p:sp>
        <p:nvSpPr>
          <p:cNvPr id="12" name="TextBox 11"/>
          <p:cNvSpPr txBox="1"/>
          <p:nvPr/>
        </p:nvSpPr>
        <p:spPr>
          <a:xfrm>
            <a:off x="4480560" y="2624328"/>
            <a:ext cx="2788920" cy="2011680"/>
          </a:xfrm>
          <a:prstGeom prst="rect">
            <a:avLst/>
          </a:prstGeom>
          <a:noFill/>
        </p:spPr>
        <p:txBody>
          <a:bodyPr wrap="square" anchor="t">
            <a:spAutoFit/>
          </a:bodyPr>
          <a:lstStyle/>
          <a:p>
            <a:pPr algn="l"/>
            <a:r>
              <a:rPr sz="1250" b="0">
                <a:solidFill>
                  <a:srgbClr val="E1EAF4"/>
                </a:solidFill>
                <a:latin typeface="Aptos"/>
              </a:rPr>
              <a:t>Use:</a:t>
            </a:r>
            <a:br/>
            <a:r>
              <a:rPr sz="1250" b="0">
                <a:solidFill>
                  <a:srgbClr val="E1EAF4"/>
                </a:solidFill>
                <a:latin typeface="Aptos"/>
              </a:rPr>
              <a:t>• Role</a:t>
            </a:r>
            <a:br/>
            <a:r>
              <a:rPr sz="1250" b="0">
                <a:solidFill>
                  <a:srgbClr val="E1EAF4"/>
                </a:solidFill>
                <a:latin typeface="Aptos"/>
              </a:rPr>
              <a:t>• Context</a:t>
            </a:r>
            <a:br/>
            <a:r>
              <a:rPr sz="1250" b="0">
                <a:solidFill>
                  <a:srgbClr val="E1EAF4"/>
                </a:solidFill>
                <a:latin typeface="Aptos"/>
              </a:rPr>
              <a:t>• Task</a:t>
            </a:r>
            <a:br/>
            <a:r>
              <a:rPr sz="1250" b="0">
                <a:solidFill>
                  <a:srgbClr val="E1EAF4"/>
                </a:solidFill>
                <a:latin typeface="Aptos"/>
              </a:rPr>
              <a:t>• Constraints</a:t>
            </a:r>
            <a:br/>
            <a:r>
              <a:rPr sz="1250" b="0">
                <a:solidFill>
                  <a:srgbClr val="E1EAF4"/>
                </a:solidFill>
                <a:latin typeface="Aptos"/>
              </a:rPr>
              <a:t>• Output format</a:t>
            </a:r>
          </a:p>
        </p:txBody>
      </p:sp>
      <p:sp>
        <p:nvSpPr>
          <p:cNvPr id="13" name="Rounded Rectangle 12"/>
          <p:cNvSpPr/>
          <p:nvPr/>
        </p:nvSpPr>
        <p:spPr>
          <a:xfrm>
            <a:off x="7818120" y="1965960"/>
            <a:ext cx="3246120" cy="283464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18120" y="1965960"/>
            <a:ext cx="64008" cy="283464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167128"/>
            <a:ext cx="2834639" cy="365760"/>
          </a:xfrm>
          <a:prstGeom prst="rect">
            <a:avLst/>
          </a:prstGeom>
          <a:noFill/>
        </p:spPr>
        <p:txBody>
          <a:bodyPr wrap="square" anchor="t">
            <a:spAutoFit/>
          </a:bodyPr>
          <a:lstStyle/>
          <a:p>
            <a:pPr algn="l"/>
            <a:r>
              <a:rPr sz="1700" b="1">
                <a:solidFill>
                  <a:srgbClr val="F8FAFC"/>
                </a:solidFill>
                <a:latin typeface="Aptos"/>
              </a:rPr>
              <a:t>Test</a:t>
            </a:r>
          </a:p>
        </p:txBody>
      </p:sp>
      <p:sp>
        <p:nvSpPr>
          <p:cNvPr id="16" name="TextBox 15"/>
          <p:cNvSpPr txBox="1"/>
          <p:nvPr/>
        </p:nvSpPr>
        <p:spPr>
          <a:xfrm>
            <a:off x="8046720" y="2624328"/>
            <a:ext cx="2788920" cy="2011680"/>
          </a:xfrm>
          <a:prstGeom prst="rect">
            <a:avLst/>
          </a:prstGeom>
          <a:noFill/>
        </p:spPr>
        <p:txBody>
          <a:bodyPr wrap="square" anchor="t">
            <a:spAutoFit/>
          </a:bodyPr>
          <a:lstStyle/>
          <a:p>
            <a:pPr algn="l"/>
            <a:r>
              <a:rPr sz="1250" b="0">
                <a:solidFill>
                  <a:srgbClr val="E1EAF4"/>
                </a:solidFill>
                <a:latin typeface="Aptos"/>
              </a:rPr>
              <a:t>Run 5 examples.</a:t>
            </a:r>
            <a:br/>
            <a:r>
              <a:rPr sz="1250" b="0">
                <a:solidFill>
                  <a:srgbClr val="E1EAF4"/>
                </a:solidFill>
                <a:latin typeface="Aptos"/>
              </a:rPr>
              <a:t>Record:</a:t>
            </a:r>
            <a:br/>
            <a:r>
              <a:rPr sz="1250" b="0">
                <a:solidFill>
                  <a:srgbClr val="E1EAF4"/>
                </a:solidFill>
                <a:latin typeface="Aptos"/>
              </a:rPr>
              <a:t>• Prompt</a:t>
            </a:r>
            <a:br/>
            <a:r>
              <a:rPr sz="1250" b="0">
                <a:solidFill>
                  <a:srgbClr val="E1EAF4"/>
                </a:solidFill>
                <a:latin typeface="Aptos"/>
              </a:rPr>
              <a:t>• Output</a:t>
            </a:r>
            <a:br/>
            <a:r>
              <a:rPr sz="1250" b="0">
                <a:solidFill>
                  <a:srgbClr val="E1EAF4"/>
                </a:solidFill>
                <a:latin typeface="Aptos"/>
              </a:rPr>
              <a:t>• Problems</a:t>
            </a:r>
            <a:br/>
            <a:r>
              <a:rPr sz="1250" b="0">
                <a:solidFill>
                  <a:srgbClr val="E1EAF4"/>
                </a:solidFill>
                <a:latin typeface="Aptos"/>
              </a:rPr>
              <a:t>• Revision</a:t>
            </a:r>
            <a:br/>
            <a:r>
              <a:rPr sz="1250" b="0">
                <a:solidFill>
                  <a:srgbClr val="E1EAF4"/>
                </a:solidFill>
                <a:latin typeface="Aptos"/>
              </a:rPr>
              <a:t>• Final version</a:t>
            </a:r>
          </a:p>
        </p:txBody>
      </p:sp>
      <p:sp>
        <p:nvSpPr>
          <p:cNvPr id="17" name="TextBox 16"/>
          <p:cNvSpPr txBox="1"/>
          <p:nvPr/>
        </p:nvSpPr>
        <p:spPr>
          <a:xfrm>
            <a:off x="914400" y="5166360"/>
            <a:ext cx="10241280" cy="502920"/>
          </a:xfrm>
          <a:prstGeom prst="rect">
            <a:avLst/>
          </a:prstGeom>
          <a:noFill/>
        </p:spPr>
        <p:txBody>
          <a:bodyPr wrap="square" anchor="t">
            <a:spAutoFit/>
          </a:bodyPr>
          <a:lstStyle/>
          <a:p>
            <a:pPr algn="ctr"/>
            <a:r>
              <a:rPr sz="1600" b="1">
                <a:solidFill>
                  <a:srgbClr val="F4A94A"/>
                </a:solidFill>
                <a:latin typeface="Aptos"/>
              </a:rPr>
              <a:t>Deliverable: original prompt → revised prompt → 3 lessons learned</a:t>
            </a:r>
          </a:p>
        </p:txBody>
      </p:sp>
      <p:sp>
        <p:nvSpPr>
          <p:cNvPr id="18" name="TextBox 17"/>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LAB 3</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Build a mini AI assistant</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25 minutes · small groups</a:t>
            </a:r>
          </a:p>
        </p:txBody>
      </p:sp>
      <p:sp>
        <p:nvSpPr>
          <p:cNvPr id="5" name="Rounded Rectangle 4"/>
          <p:cNvSpPr/>
          <p:nvPr/>
        </p:nvSpPr>
        <p:spPr>
          <a:xfrm>
            <a:off x="594360" y="1874519"/>
            <a:ext cx="2606040" cy="29260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874519"/>
            <a:ext cx="64008" cy="29260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75688"/>
            <a:ext cx="2194560" cy="365760"/>
          </a:xfrm>
          <a:prstGeom prst="rect">
            <a:avLst/>
          </a:prstGeom>
          <a:noFill/>
        </p:spPr>
        <p:txBody>
          <a:bodyPr wrap="square" anchor="t">
            <a:spAutoFit/>
          </a:bodyPr>
          <a:lstStyle/>
          <a:p>
            <a:pPr algn="l"/>
            <a:r>
              <a:rPr sz="1700" b="1">
                <a:solidFill>
                  <a:srgbClr val="F8FAFC"/>
                </a:solidFill>
                <a:latin typeface="Aptos"/>
              </a:rPr>
              <a:t>1 · Choose a use case</a:t>
            </a:r>
          </a:p>
        </p:txBody>
      </p:sp>
      <p:sp>
        <p:nvSpPr>
          <p:cNvPr id="8" name="TextBox 7"/>
          <p:cNvSpPr txBox="1"/>
          <p:nvPr/>
        </p:nvSpPr>
        <p:spPr>
          <a:xfrm>
            <a:off x="822960" y="2532887"/>
            <a:ext cx="2148840" cy="2103120"/>
          </a:xfrm>
          <a:prstGeom prst="rect">
            <a:avLst/>
          </a:prstGeom>
          <a:noFill/>
        </p:spPr>
        <p:txBody>
          <a:bodyPr wrap="square" anchor="t">
            <a:spAutoFit/>
          </a:bodyPr>
          <a:lstStyle/>
          <a:p>
            <a:pPr algn="l"/>
            <a:r>
              <a:rPr sz="1250" b="0">
                <a:solidFill>
                  <a:srgbClr val="E1EAF4"/>
                </a:solidFill>
                <a:latin typeface="Aptos"/>
              </a:rPr>
              <a:t>Student helpdesk</a:t>
            </a:r>
            <a:br/>
            <a:r>
              <a:rPr sz="1250" b="0">
                <a:solidFill>
                  <a:srgbClr val="E1EAF4"/>
                </a:solidFill>
                <a:latin typeface="Aptos"/>
              </a:rPr>
              <a:t>College admissions</a:t>
            </a:r>
            <a:br/>
            <a:r>
              <a:rPr sz="1250" b="0">
                <a:solidFill>
                  <a:srgbClr val="E1EAF4"/>
                </a:solidFill>
                <a:latin typeface="Aptos"/>
              </a:rPr>
              <a:t>Banking FAQ</a:t>
            </a:r>
            <a:br/>
            <a:r>
              <a:rPr sz="1250" b="0">
                <a:solidFill>
                  <a:srgbClr val="E1EAF4"/>
                </a:solidFill>
                <a:latin typeface="Aptos"/>
              </a:rPr>
              <a:t>Course assistant</a:t>
            </a:r>
          </a:p>
        </p:txBody>
      </p:sp>
      <p:sp>
        <p:nvSpPr>
          <p:cNvPr id="9" name="Rounded Rectangle 8"/>
          <p:cNvSpPr/>
          <p:nvPr/>
        </p:nvSpPr>
        <p:spPr>
          <a:xfrm>
            <a:off x="3429000" y="1874519"/>
            <a:ext cx="2606040" cy="29260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874519"/>
            <a:ext cx="64008" cy="29260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2075688"/>
            <a:ext cx="2194560" cy="365760"/>
          </a:xfrm>
          <a:prstGeom prst="rect">
            <a:avLst/>
          </a:prstGeom>
          <a:noFill/>
        </p:spPr>
        <p:txBody>
          <a:bodyPr wrap="square" anchor="t">
            <a:spAutoFit/>
          </a:bodyPr>
          <a:lstStyle/>
          <a:p>
            <a:pPr algn="l"/>
            <a:r>
              <a:rPr sz="1700" b="1">
                <a:solidFill>
                  <a:srgbClr val="F8FAFC"/>
                </a:solidFill>
                <a:latin typeface="Aptos"/>
              </a:rPr>
              <a:t>2 · Define data</a:t>
            </a:r>
          </a:p>
        </p:txBody>
      </p:sp>
      <p:sp>
        <p:nvSpPr>
          <p:cNvPr id="12" name="TextBox 11"/>
          <p:cNvSpPr txBox="1"/>
          <p:nvPr/>
        </p:nvSpPr>
        <p:spPr>
          <a:xfrm>
            <a:off x="3657600" y="2532887"/>
            <a:ext cx="2148840" cy="2103120"/>
          </a:xfrm>
          <a:prstGeom prst="rect">
            <a:avLst/>
          </a:prstGeom>
          <a:noFill/>
        </p:spPr>
        <p:txBody>
          <a:bodyPr wrap="square" anchor="t">
            <a:spAutoFit/>
          </a:bodyPr>
          <a:lstStyle/>
          <a:p>
            <a:pPr algn="l"/>
            <a:r>
              <a:rPr sz="1250" b="0">
                <a:solidFill>
                  <a:srgbClr val="E1EAF4"/>
                </a:solidFill>
                <a:latin typeface="Aptos"/>
              </a:rPr>
              <a:t>What information does it need?</a:t>
            </a:r>
            <a:br/>
            <a:r>
              <a:rPr sz="1250" b="0">
                <a:solidFill>
                  <a:srgbClr val="E1EAF4"/>
                </a:solidFill>
                <a:latin typeface="Aptos"/>
              </a:rPr>
              <a:t>What should it not invent?</a:t>
            </a:r>
          </a:p>
        </p:txBody>
      </p:sp>
      <p:sp>
        <p:nvSpPr>
          <p:cNvPr id="13" name="Rounded Rectangle 12"/>
          <p:cNvSpPr/>
          <p:nvPr/>
        </p:nvSpPr>
        <p:spPr>
          <a:xfrm>
            <a:off x="6263640" y="1874519"/>
            <a:ext cx="2606040" cy="29260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874519"/>
            <a:ext cx="64008" cy="292608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075688"/>
            <a:ext cx="2194560" cy="365760"/>
          </a:xfrm>
          <a:prstGeom prst="rect">
            <a:avLst/>
          </a:prstGeom>
          <a:noFill/>
        </p:spPr>
        <p:txBody>
          <a:bodyPr wrap="square" anchor="t">
            <a:spAutoFit/>
          </a:bodyPr>
          <a:lstStyle/>
          <a:p>
            <a:pPr algn="l"/>
            <a:r>
              <a:rPr sz="1700" b="1">
                <a:solidFill>
                  <a:srgbClr val="F8FAFC"/>
                </a:solidFill>
                <a:latin typeface="Aptos"/>
              </a:rPr>
              <a:t>3 · Write prompt</a:t>
            </a:r>
          </a:p>
        </p:txBody>
      </p:sp>
      <p:sp>
        <p:nvSpPr>
          <p:cNvPr id="16" name="TextBox 15"/>
          <p:cNvSpPr txBox="1"/>
          <p:nvPr/>
        </p:nvSpPr>
        <p:spPr>
          <a:xfrm>
            <a:off x="6492240" y="2532887"/>
            <a:ext cx="2148840" cy="2103120"/>
          </a:xfrm>
          <a:prstGeom prst="rect">
            <a:avLst/>
          </a:prstGeom>
          <a:noFill/>
        </p:spPr>
        <p:txBody>
          <a:bodyPr wrap="square" anchor="t">
            <a:spAutoFit/>
          </a:bodyPr>
          <a:lstStyle/>
          <a:p>
            <a:pPr algn="l"/>
            <a:r>
              <a:rPr sz="1250" b="0">
                <a:solidFill>
                  <a:srgbClr val="E1EAF4"/>
                </a:solidFill>
                <a:latin typeface="Aptos"/>
              </a:rPr>
              <a:t>Role + context + rules + output format + verification</a:t>
            </a:r>
          </a:p>
        </p:txBody>
      </p:sp>
      <p:sp>
        <p:nvSpPr>
          <p:cNvPr id="17" name="Rounded Rectangle 16"/>
          <p:cNvSpPr/>
          <p:nvPr/>
        </p:nvSpPr>
        <p:spPr>
          <a:xfrm>
            <a:off x="9098280" y="1874519"/>
            <a:ext cx="2606040" cy="29260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98280" y="1874519"/>
            <a:ext cx="64008" cy="292608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2075688"/>
            <a:ext cx="2194560" cy="365760"/>
          </a:xfrm>
          <a:prstGeom prst="rect">
            <a:avLst/>
          </a:prstGeom>
          <a:noFill/>
        </p:spPr>
        <p:txBody>
          <a:bodyPr wrap="square" anchor="t">
            <a:spAutoFit/>
          </a:bodyPr>
          <a:lstStyle/>
          <a:p>
            <a:pPr algn="l"/>
            <a:r>
              <a:rPr sz="1700" b="1">
                <a:solidFill>
                  <a:srgbClr val="F8FAFC"/>
                </a:solidFill>
                <a:latin typeface="Aptos"/>
              </a:rPr>
              <a:t>4 · Test</a:t>
            </a:r>
          </a:p>
        </p:txBody>
      </p:sp>
      <p:sp>
        <p:nvSpPr>
          <p:cNvPr id="20" name="TextBox 19"/>
          <p:cNvSpPr txBox="1"/>
          <p:nvPr/>
        </p:nvSpPr>
        <p:spPr>
          <a:xfrm>
            <a:off x="9326880" y="2532887"/>
            <a:ext cx="2148840" cy="2103120"/>
          </a:xfrm>
          <a:prstGeom prst="rect">
            <a:avLst/>
          </a:prstGeom>
          <a:noFill/>
        </p:spPr>
        <p:txBody>
          <a:bodyPr wrap="square" anchor="t">
            <a:spAutoFit/>
          </a:bodyPr>
          <a:lstStyle/>
          <a:p>
            <a:pPr algn="l"/>
            <a:r>
              <a:rPr sz="1250" b="0">
                <a:solidFill>
                  <a:srgbClr val="E1EAF4"/>
                </a:solidFill>
                <a:latin typeface="Aptos"/>
              </a:rPr>
              <a:t>Try 5 questions.</a:t>
            </a:r>
            <a:br/>
            <a:r>
              <a:rPr sz="1250" b="0">
                <a:solidFill>
                  <a:srgbClr val="E1EAF4"/>
                </a:solidFill>
                <a:latin typeface="Aptos"/>
              </a:rPr>
              <a:t>Find failures.</a:t>
            </a:r>
            <a:br/>
            <a:r>
              <a:rPr sz="1250" b="0">
                <a:solidFill>
                  <a:srgbClr val="E1EAF4"/>
                </a:solidFill>
                <a:latin typeface="Aptos"/>
              </a:rPr>
              <a:t>Improve the prompt.</a:t>
            </a:r>
          </a:p>
        </p:txBody>
      </p:sp>
      <p:sp>
        <p:nvSpPr>
          <p:cNvPr id="21" name="TextBox 20"/>
          <p:cNvSpPr txBox="1"/>
          <p:nvPr/>
        </p:nvSpPr>
        <p:spPr>
          <a:xfrm>
            <a:off x="822960" y="5166360"/>
            <a:ext cx="10607040" cy="502920"/>
          </a:xfrm>
          <a:prstGeom prst="rect">
            <a:avLst/>
          </a:prstGeom>
          <a:noFill/>
        </p:spPr>
        <p:txBody>
          <a:bodyPr wrap="square" anchor="t">
            <a:spAutoFit/>
          </a:bodyPr>
          <a:lstStyle/>
          <a:p>
            <a:pPr algn="ctr"/>
            <a:r>
              <a:rPr sz="1500" b="1">
                <a:solidFill>
                  <a:srgbClr val="F8FAFC"/>
                </a:solidFill>
                <a:latin typeface="Aptos"/>
              </a:rPr>
              <a:t>Presentation: 2 minutes per group — demonstrate one successful response and one failure.</a:t>
            </a:r>
          </a:p>
        </p:txBody>
      </p:sp>
      <p:sp>
        <p:nvSpPr>
          <p:cNvPr id="22" name="TextBox 21"/>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MINI PROJECT</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AI assistant design worksheet</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Students complete this before the final presentation.</a:t>
            </a:r>
          </a:p>
        </p:txBody>
      </p:sp>
      <p:sp>
        <p:nvSpPr>
          <p:cNvPr id="5" name="Rounded Rectangle 4"/>
          <p:cNvSpPr/>
          <p:nvPr/>
        </p:nvSpPr>
        <p:spPr>
          <a:xfrm>
            <a:off x="594360" y="1828800"/>
            <a:ext cx="34747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828800"/>
            <a:ext cx="64008" cy="10972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29968"/>
            <a:ext cx="3063239" cy="365760"/>
          </a:xfrm>
          <a:prstGeom prst="rect">
            <a:avLst/>
          </a:prstGeom>
          <a:noFill/>
        </p:spPr>
        <p:txBody>
          <a:bodyPr wrap="square" anchor="t">
            <a:spAutoFit/>
          </a:bodyPr>
          <a:lstStyle/>
          <a:p>
            <a:pPr algn="l"/>
            <a:r>
              <a:rPr sz="1700" b="1">
                <a:solidFill>
                  <a:srgbClr val="F8FAFC"/>
                </a:solidFill>
                <a:latin typeface="Aptos"/>
              </a:rPr>
              <a:t>Problem</a:t>
            </a:r>
          </a:p>
        </p:txBody>
      </p:sp>
      <p:sp>
        <p:nvSpPr>
          <p:cNvPr id="8" name="TextBox 7"/>
          <p:cNvSpPr txBox="1"/>
          <p:nvPr/>
        </p:nvSpPr>
        <p:spPr>
          <a:xfrm>
            <a:off x="822960" y="2487168"/>
            <a:ext cx="3017520" cy="274319"/>
          </a:xfrm>
          <a:prstGeom prst="rect">
            <a:avLst/>
          </a:prstGeom>
          <a:noFill/>
        </p:spPr>
        <p:txBody>
          <a:bodyPr wrap="square" anchor="t">
            <a:spAutoFit/>
          </a:bodyPr>
          <a:lstStyle/>
          <a:p>
            <a:pPr algn="l"/>
            <a:r>
              <a:rPr sz="1250" b="0">
                <a:solidFill>
                  <a:srgbClr val="E1EAF4"/>
                </a:solidFill>
                <a:latin typeface="Aptos"/>
              </a:rPr>
              <a:t>What problem are you solving?</a:t>
            </a:r>
          </a:p>
        </p:txBody>
      </p:sp>
      <p:sp>
        <p:nvSpPr>
          <p:cNvPr id="9" name="Rounded Rectangle 8"/>
          <p:cNvSpPr/>
          <p:nvPr/>
        </p:nvSpPr>
        <p:spPr>
          <a:xfrm>
            <a:off x="4389120" y="1828800"/>
            <a:ext cx="34747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828800"/>
            <a:ext cx="64008" cy="10972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029968"/>
            <a:ext cx="3063239" cy="365760"/>
          </a:xfrm>
          <a:prstGeom prst="rect">
            <a:avLst/>
          </a:prstGeom>
          <a:noFill/>
        </p:spPr>
        <p:txBody>
          <a:bodyPr wrap="square" anchor="t">
            <a:spAutoFit/>
          </a:bodyPr>
          <a:lstStyle/>
          <a:p>
            <a:pPr algn="l"/>
            <a:r>
              <a:rPr sz="1700" b="1">
                <a:solidFill>
                  <a:srgbClr val="F8FAFC"/>
                </a:solidFill>
                <a:latin typeface="Aptos"/>
              </a:rPr>
              <a:t>Users</a:t>
            </a:r>
          </a:p>
        </p:txBody>
      </p:sp>
      <p:sp>
        <p:nvSpPr>
          <p:cNvPr id="12" name="TextBox 11"/>
          <p:cNvSpPr txBox="1"/>
          <p:nvPr/>
        </p:nvSpPr>
        <p:spPr>
          <a:xfrm>
            <a:off x="4617720" y="2487168"/>
            <a:ext cx="3017520" cy="274319"/>
          </a:xfrm>
          <a:prstGeom prst="rect">
            <a:avLst/>
          </a:prstGeom>
          <a:noFill/>
        </p:spPr>
        <p:txBody>
          <a:bodyPr wrap="square" anchor="t">
            <a:spAutoFit/>
          </a:bodyPr>
          <a:lstStyle/>
          <a:p>
            <a:pPr algn="l"/>
            <a:r>
              <a:rPr sz="1250" b="0">
                <a:solidFill>
                  <a:srgbClr val="E1EAF4"/>
                </a:solidFill>
                <a:latin typeface="Aptos"/>
              </a:rPr>
              <a:t>Who will use the assistant?</a:t>
            </a:r>
          </a:p>
        </p:txBody>
      </p:sp>
      <p:sp>
        <p:nvSpPr>
          <p:cNvPr id="13" name="Rounded Rectangle 12"/>
          <p:cNvSpPr/>
          <p:nvPr/>
        </p:nvSpPr>
        <p:spPr>
          <a:xfrm>
            <a:off x="8183880" y="1828800"/>
            <a:ext cx="34747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80" y="1828800"/>
            <a:ext cx="64008" cy="1097280"/>
          </a:xfrm>
          <a:prstGeom prst="rect">
            <a:avLst/>
          </a:prstGeom>
          <a:solidFill>
            <a:srgbClr val="84D282"/>
          </a:solidFill>
          <a:ln>
            <a:solidFill>
              <a:srgbClr val="84D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029968"/>
            <a:ext cx="3063239" cy="365760"/>
          </a:xfrm>
          <a:prstGeom prst="rect">
            <a:avLst/>
          </a:prstGeom>
          <a:noFill/>
        </p:spPr>
        <p:txBody>
          <a:bodyPr wrap="square" anchor="t">
            <a:spAutoFit/>
          </a:bodyPr>
          <a:lstStyle/>
          <a:p>
            <a:pPr algn="l"/>
            <a:r>
              <a:rPr sz="1700" b="1">
                <a:solidFill>
                  <a:srgbClr val="F8FAFC"/>
                </a:solidFill>
                <a:latin typeface="Aptos"/>
              </a:rPr>
              <a:t>Inputs</a:t>
            </a:r>
          </a:p>
        </p:txBody>
      </p:sp>
      <p:sp>
        <p:nvSpPr>
          <p:cNvPr id="16" name="TextBox 15"/>
          <p:cNvSpPr txBox="1"/>
          <p:nvPr/>
        </p:nvSpPr>
        <p:spPr>
          <a:xfrm>
            <a:off x="8412480" y="2487168"/>
            <a:ext cx="3017520" cy="274319"/>
          </a:xfrm>
          <a:prstGeom prst="rect">
            <a:avLst/>
          </a:prstGeom>
          <a:noFill/>
        </p:spPr>
        <p:txBody>
          <a:bodyPr wrap="square" anchor="t">
            <a:spAutoFit/>
          </a:bodyPr>
          <a:lstStyle/>
          <a:p>
            <a:pPr algn="l"/>
            <a:r>
              <a:rPr sz="1250" b="0">
                <a:solidFill>
                  <a:srgbClr val="E1EAF4"/>
                </a:solidFill>
                <a:latin typeface="Aptos"/>
              </a:rPr>
              <a:t>What information will users provide?</a:t>
            </a:r>
          </a:p>
        </p:txBody>
      </p:sp>
      <p:sp>
        <p:nvSpPr>
          <p:cNvPr id="17" name="Rounded Rectangle 16"/>
          <p:cNvSpPr/>
          <p:nvPr/>
        </p:nvSpPr>
        <p:spPr>
          <a:xfrm>
            <a:off x="594360" y="3246120"/>
            <a:ext cx="34747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246120"/>
            <a:ext cx="64008" cy="1097280"/>
          </a:xfrm>
          <a:prstGeom prst="rect">
            <a:avLst/>
          </a:prstGeom>
          <a:solidFill>
            <a:srgbClr val="F4A94A"/>
          </a:solidFill>
          <a:ln>
            <a:solidFill>
              <a:srgbClr val="F4A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447288"/>
            <a:ext cx="3063239" cy="365760"/>
          </a:xfrm>
          <a:prstGeom prst="rect">
            <a:avLst/>
          </a:prstGeom>
          <a:noFill/>
        </p:spPr>
        <p:txBody>
          <a:bodyPr wrap="square" anchor="t">
            <a:spAutoFit/>
          </a:bodyPr>
          <a:lstStyle/>
          <a:p>
            <a:pPr algn="l"/>
            <a:r>
              <a:rPr sz="1700" b="1">
                <a:solidFill>
                  <a:srgbClr val="F8FAFC"/>
                </a:solidFill>
                <a:latin typeface="Aptos"/>
              </a:rPr>
              <a:t>Knowledge</a:t>
            </a:r>
          </a:p>
        </p:txBody>
      </p:sp>
      <p:sp>
        <p:nvSpPr>
          <p:cNvPr id="20" name="TextBox 19"/>
          <p:cNvSpPr txBox="1"/>
          <p:nvPr/>
        </p:nvSpPr>
        <p:spPr>
          <a:xfrm>
            <a:off x="822960" y="3904487"/>
            <a:ext cx="3017520" cy="274319"/>
          </a:xfrm>
          <a:prstGeom prst="rect">
            <a:avLst/>
          </a:prstGeom>
          <a:noFill/>
        </p:spPr>
        <p:txBody>
          <a:bodyPr wrap="square" anchor="t">
            <a:spAutoFit/>
          </a:bodyPr>
          <a:lstStyle/>
          <a:p>
            <a:pPr algn="l"/>
            <a:r>
              <a:rPr sz="1250" b="0">
                <a:solidFill>
                  <a:srgbClr val="E1EAF4"/>
                </a:solidFill>
                <a:latin typeface="Aptos"/>
              </a:rPr>
              <a:t>What trusted information should it use?</a:t>
            </a:r>
          </a:p>
        </p:txBody>
      </p:sp>
      <p:sp>
        <p:nvSpPr>
          <p:cNvPr id="21" name="Rounded Rectangle 20"/>
          <p:cNvSpPr/>
          <p:nvPr/>
        </p:nvSpPr>
        <p:spPr>
          <a:xfrm>
            <a:off x="4389120" y="3246120"/>
            <a:ext cx="34747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246120"/>
            <a:ext cx="64008" cy="1097280"/>
          </a:xfrm>
          <a:prstGeom prst="rect">
            <a:avLst/>
          </a:prstGeom>
          <a:solidFill>
            <a:srgbClr val="64D2BE"/>
          </a:solidFill>
          <a:ln>
            <a:solidFill>
              <a:srgbClr val="64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3447288"/>
            <a:ext cx="3063239" cy="365760"/>
          </a:xfrm>
          <a:prstGeom prst="rect">
            <a:avLst/>
          </a:prstGeom>
          <a:noFill/>
        </p:spPr>
        <p:txBody>
          <a:bodyPr wrap="square" anchor="t">
            <a:spAutoFit/>
          </a:bodyPr>
          <a:lstStyle/>
          <a:p>
            <a:pPr algn="l"/>
            <a:r>
              <a:rPr sz="1700" b="1">
                <a:solidFill>
                  <a:srgbClr val="F8FAFC"/>
                </a:solidFill>
                <a:latin typeface="Aptos"/>
              </a:rPr>
              <a:t>Output</a:t>
            </a:r>
          </a:p>
        </p:txBody>
      </p:sp>
      <p:sp>
        <p:nvSpPr>
          <p:cNvPr id="24" name="TextBox 23"/>
          <p:cNvSpPr txBox="1"/>
          <p:nvPr/>
        </p:nvSpPr>
        <p:spPr>
          <a:xfrm>
            <a:off x="4617720" y="3904487"/>
            <a:ext cx="3017520" cy="274319"/>
          </a:xfrm>
          <a:prstGeom prst="rect">
            <a:avLst/>
          </a:prstGeom>
          <a:noFill/>
        </p:spPr>
        <p:txBody>
          <a:bodyPr wrap="square" anchor="t">
            <a:spAutoFit/>
          </a:bodyPr>
          <a:lstStyle/>
          <a:p>
            <a:pPr algn="l"/>
            <a:r>
              <a:rPr sz="1250" b="0">
                <a:solidFill>
                  <a:srgbClr val="E1EAF4"/>
                </a:solidFill>
                <a:latin typeface="Aptos"/>
              </a:rPr>
              <a:t>What should the response look like?</a:t>
            </a:r>
          </a:p>
        </p:txBody>
      </p:sp>
      <p:sp>
        <p:nvSpPr>
          <p:cNvPr id="25" name="Rounded Rectangle 24"/>
          <p:cNvSpPr/>
          <p:nvPr/>
        </p:nvSpPr>
        <p:spPr>
          <a:xfrm>
            <a:off x="8183880" y="3246120"/>
            <a:ext cx="3474720" cy="109728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80" y="3246120"/>
            <a:ext cx="64008" cy="1097280"/>
          </a:xfrm>
          <a:prstGeom prst="rect">
            <a:avLst/>
          </a:prstGeom>
          <a:solidFill>
            <a:srgbClr val="488CDC"/>
          </a:solidFill>
          <a:ln>
            <a:solidFill>
              <a:srgbClr val="488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3447288"/>
            <a:ext cx="3063239" cy="365760"/>
          </a:xfrm>
          <a:prstGeom prst="rect">
            <a:avLst/>
          </a:prstGeom>
          <a:noFill/>
        </p:spPr>
        <p:txBody>
          <a:bodyPr wrap="square" anchor="t">
            <a:spAutoFit/>
          </a:bodyPr>
          <a:lstStyle/>
          <a:p>
            <a:pPr algn="l"/>
            <a:r>
              <a:rPr sz="1700" b="1">
                <a:solidFill>
                  <a:srgbClr val="F8FAFC"/>
                </a:solidFill>
                <a:latin typeface="Aptos"/>
              </a:rPr>
              <a:t>Guardrails</a:t>
            </a:r>
          </a:p>
        </p:txBody>
      </p:sp>
      <p:sp>
        <p:nvSpPr>
          <p:cNvPr id="28" name="TextBox 27"/>
          <p:cNvSpPr txBox="1"/>
          <p:nvPr/>
        </p:nvSpPr>
        <p:spPr>
          <a:xfrm>
            <a:off x="8412480" y="3904487"/>
            <a:ext cx="3017520" cy="274319"/>
          </a:xfrm>
          <a:prstGeom prst="rect">
            <a:avLst/>
          </a:prstGeom>
          <a:noFill/>
        </p:spPr>
        <p:txBody>
          <a:bodyPr wrap="square" anchor="t">
            <a:spAutoFit/>
          </a:bodyPr>
          <a:lstStyle/>
          <a:p>
            <a:pPr algn="l"/>
            <a:r>
              <a:rPr sz="1250" b="0">
                <a:solidFill>
                  <a:srgbClr val="E1EAF4"/>
                </a:solidFill>
                <a:latin typeface="Aptos"/>
              </a:rPr>
              <a:t>What should it refuse or escalate?</a:t>
            </a:r>
          </a:p>
        </p:txBody>
      </p:sp>
      <p:sp>
        <p:nvSpPr>
          <p:cNvPr id="29" name="TextBox 28"/>
          <p:cNvSpPr txBox="1"/>
          <p:nvPr/>
        </p:nvSpPr>
        <p:spPr>
          <a:xfrm>
            <a:off x="914400" y="5074920"/>
            <a:ext cx="10241280" cy="594360"/>
          </a:xfrm>
          <a:prstGeom prst="rect">
            <a:avLst/>
          </a:prstGeom>
          <a:noFill/>
        </p:spPr>
        <p:txBody>
          <a:bodyPr wrap="square" anchor="t">
            <a:spAutoFit/>
          </a:bodyPr>
          <a:lstStyle/>
          <a:p>
            <a:pPr algn="ctr"/>
            <a:r>
              <a:rPr sz="1600" b="1">
                <a:solidFill>
                  <a:srgbClr val="F4A94A"/>
                </a:solidFill>
                <a:latin typeface="Aptos"/>
              </a:rPr>
              <a:t>Final deliverable: 1-page design + working prompt + 5 test cases + reflection</a:t>
            </a:r>
          </a:p>
        </p:txBody>
      </p:sp>
      <p:sp>
        <p:nvSpPr>
          <p:cNvPr id="30" name="TextBox 29"/>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ASSESSMENT</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Quick knowledge check</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Use this as an exit ticket or a short Kahoot/quiz.</a:t>
            </a:r>
          </a:p>
        </p:txBody>
      </p:sp>
      <p:sp>
        <p:nvSpPr>
          <p:cNvPr id="5" name="Rounded Rectangle 4"/>
          <p:cNvSpPr/>
          <p:nvPr/>
        </p:nvSpPr>
        <p:spPr>
          <a:xfrm>
            <a:off x="594360" y="1828800"/>
            <a:ext cx="5257800" cy="9601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965960"/>
            <a:ext cx="320040" cy="274320"/>
          </a:xfrm>
          <a:prstGeom prst="rect">
            <a:avLst/>
          </a:prstGeom>
          <a:noFill/>
        </p:spPr>
        <p:txBody>
          <a:bodyPr wrap="square" anchor="t">
            <a:spAutoFit/>
          </a:bodyPr>
          <a:lstStyle/>
          <a:p>
            <a:pPr algn="l"/>
            <a:r>
              <a:rPr sz="1100" b="1">
                <a:solidFill>
                  <a:srgbClr val="64D2BE"/>
                </a:solidFill>
                <a:latin typeface="Aptos"/>
              </a:rPr>
              <a:t>1</a:t>
            </a:r>
          </a:p>
        </p:txBody>
      </p:sp>
      <p:sp>
        <p:nvSpPr>
          <p:cNvPr id="7" name="TextBox 6"/>
          <p:cNvSpPr txBox="1"/>
          <p:nvPr/>
        </p:nvSpPr>
        <p:spPr>
          <a:xfrm>
            <a:off x="1188720" y="1938528"/>
            <a:ext cx="4434840" cy="274320"/>
          </a:xfrm>
          <a:prstGeom prst="rect">
            <a:avLst/>
          </a:prstGeom>
          <a:noFill/>
        </p:spPr>
        <p:txBody>
          <a:bodyPr wrap="square" anchor="t">
            <a:spAutoFit/>
          </a:bodyPr>
          <a:lstStyle/>
          <a:p>
            <a:pPr algn="l"/>
            <a:r>
              <a:rPr sz="1200" b="1">
                <a:solidFill>
                  <a:srgbClr val="F8FAFC"/>
                </a:solidFill>
                <a:latin typeface="Aptos"/>
              </a:rPr>
              <a:t>AI is best described as…</a:t>
            </a:r>
          </a:p>
        </p:txBody>
      </p:sp>
      <p:sp>
        <p:nvSpPr>
          <p:cNvPr id="8" name="TextBox 7"/>
          <p:cNvSpPr txBox="1"/>
          <p:nvPr/>
        </p:nvSpPr>
        <p:spPr>
          <a:xfrm>
            <a:off x="1188720" y="2267712"/>
            <a:ext cx="4434840" cy="365760"/>
          </a:xfrm>
          <a:prstGeom prst="rect">
            <a:avLst/>
          </a:prstGeom>
          <a:noFill/>
        </p:spPr>
        <p:txBody>
          <a:bodyPr wrap="square" anchor="t">
            <a:spAutoFit/>
          </a:bodyPr>
          <a:lstStyle/>
          <a:p>
            <a:pPr algn="l"/>
            <a:r>
              <a:rPr sz="1050" b="0">
                <a:solidFill>
                  <a:srgbClr val="A4B5C9"/>
                </a:solidFill>
                <a:latin typeface="Aptos"/>
              </a:rPr>
              <a:t>A broad field of intelligent systems</a:t>
            </a:r>
          </a:p>
        </p:txBody>
      </p:sp>
      <p:sp>
        <p:nvSpPr>
          <p:cNvPr id="9" name="Rounded Rectangle 8"/>
          <p:cNvSpPr/>
          <p:nvPr/>
        </p:nvSpPr>
        <p:spPr>
          <a:xfrm>
            <a:off x="6263640" y="1828800"/>
            <a:ext cx="5257800" cy="9601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1965960"/>
            <a:ext cx="320040" cy="274320"/>
          </a:xfrm>
          <a:prstGeom prst="rect">
            <a:avLst/>
          </a:prstGeom>
          <a:noFill/>
        </p:spPr>
        <p:txBody>
          <a:bodyPr wrap="square" anchor="t">
            <a:spAutoFit/>
          </a:bodyPr>
          <a:lstStyle/>
          <a:p>
            <a:pPr algn="l"/>
            <a:r>
              <a:rPr sz="1100" b="1">
                <a:solidFill>
                  <a:srgbClr val="64D2BE"/>
                </a:solidFill>
                <a:latin typeface="Aptos"/>
              </a:rPr>
              <a:t>2</a:t>
            </a:r>
          </a:p>
        </p:txBody>
      </p:sp>
      <p:sp>
        <p:nvSpPr>
          <p:cNvPr id="11" name="TextBox 10"/>
          <p:cNvSpPr txBox="1"/>
          <p:nvPr/>
        </p:nvSpPr>
        <p:spPr>
          <a:xfrm>
            <a:off x="6858000" y="1938528"/>
            <a:ext cx="4434840" cy="274320"/>
          </a:xfrm>
          <a:prstGeom prst="rect">
            <a:avLst/>
          </a:prstGeom>
          <a:noFill/>
        </p:spPr>
        <p:txBody>
          <a:bodyPr wrap="square" anchor="t">
            <a:spAutoFit/>
          </a:bodyPr>
          <a:lstStyle/>
          <a:p>
            <a:pPr algn="l"/>
            <a:r>
              <a:rPr sz="1200" b="1">
                <a:solidFill>
                  <a:srgbClr val="F8FAFC"/>
                </a:solidFill>
                <a:latin typeface="Aptos"/>
              </a:rPr>
              <a:t>ML is…</a:t>
            </a:r>
          </a:p>
        </p:txBody>
      </p:sp>
      <p:sp>
        <p:nvSpPr>
          <p:cNvPr id="12" name="TextBox 11"/>
          <p:cNvSpPr txBox="1"/>
          <p:nvPr/>
        </p:nvSpPr>
        <p:spPr>
          <a:xfrm>
            <a:off x="6858000" y="2267712"/>
            <a:ext cx="4434840" cy="365760"/>
          </a:xfrm>
          <a:prstGeom prst="rect">
            <a:avLst/>
          </a:prstGeom>
          <a:noFill/>
        </p:spPr>
        <p:txBody>
          <a:bodyPr wrap="square" anchor="t">
            <a:spAutoFit/>
          </a:bodyPr>
          <a:lstStyle/>
          <a:p>
            <a:pPr algn="l"/>
            <a:r>
              <a:rPr sz="1050" b="0">
                <a:solidFill>
                  <a:srgbClr val="A4B5C9"/>
                </a:solidFill>
                <a:latin typeface="Aptos"/>
              </a:rPr>
              <a:t>A subset of AI that learns patterns from data</a:t>
            </a:r>
          </a:p>
        </p:txBody>
      </p:sp>
      <p:sp>
        <p:nvSpPr>
          <p:cNvPr id="13" name="Rounded Rectangle 12"/>
          <p:cNvSpPr/>
          <p:nvPr/>
        </p:nvSpPr>
        <p:spPr>
          <a:xfrm>
            <a:off x="594360" y="3063240"/>
            <a:ext cx="5257800" cy="9601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200400"/>
            <a:ext cx="320040" cy="274320"/>
          </a:xfrm>
          <a:prstGeom prst="rect">
            <a:avLst/>
          </a:prstGeom>
          <a:noFill/>
        </p:spPr>
        <p:txBody>
          <a:bodyPr wrap="square" anchor="t">
            <a:spAutoFit/>
          </a:bodyPr>
          <a:lstStyle/>
          <a:p>
            <a:pPr algn="l"/>
            <a:r>
              <a:rPr sz="1100" b="1">
                <a:solidFill>
                  <a:srgbClr val="64D2BE"/>
                </a:solidFill>
                <a:latin typeface="Aptos"/>
              </a:rPr>
              <a:t>3</a:t>
            </a:r>
          </a:p>
        </p:txBody>
      </p:sp>
      <p:sp>
        <p:nvSpPr>
          <p:cNvPr id="15" name="TextBox 14"/>
          <p:cNvSpPr txBox="1"/>
          <p:nvPr/>
        </p:nvSpPr>
        <p:spPr>
          <a:xfrm>
            <a:off x="1188720" y="3172968"/>
            <a:ext cx="4434840" cy="274320"/>
          </a:xfrm>
          <a:prstGeom prst="rect">
            <a:avLst/>
          </a:prstGeom>
          <a:noFill/>
        </p:spPr>
        <p:txBody>
          <a:bodyPr wrap="square" anchor="t">
            <a:spAutoFit/>
          </a:bodyPr>
          <a:lstStyle/>
          <a:p>
            <a:pPr algn="l"/>
            <a:r>
              <a:rPr sz="1200" b="1">
                <a:solidFill>
                  <a:srgbClr val="F8FAFC"/>
                </a:solidFill>
                <a:latin typeface="Aptos"/>
              </a:rPr>
              <a:t>DL is…</a:t>
            </a:r>
          </a:p>
        </p:txBody>
      </p:sp>
      <p:sp>
        <p:nvSpPr>
          <p:cNvPr id="16" name="TextBox 15"/>
          <p:cNvSpPr txBox="1"/>
          <p:nvPr/>
        </p:nvSpPr>
        <p:spPr>
          <a:xfrm>
            <a:off x="1188720" y="3502152"/>
            <a:ext cx="4434840" cy="365760"/>
          </a:xfrm>
          <a:prstGeom prst="rect">
            <a:avLst/>
          </a:prstGeom>
          <a:noFill/>
        </p:spPr>
        <p:txBody>
          <a:bodyPr wrap="square" anchor="t">
            <a:spAutoFit/>
          </a:bodyPr>
          <a:lstStyle/>
          <a:p>
            <a:pPr algn="l"/>
            <a:r>
              <a:rPr sz="1050" b="0">
                <a:solidFill>
                  <a:srgbClr val="A4B5C9"/>
                </a:solidFill>
                <a:latin typeface="Aptos"/>
              </a:rPr>
              <a:t>A subset of ML using layered neural networks</a:t>
            </a:r>
          </a:p>
        </p:txBody>
      </p:sp>
      <p:sp>
        <p:nvSpPr>
          <p:cNvPr id="17" name="Rounded Rectangle 16"/>
          <p:cNvSpPr/>
          <p:nvPr/>
        </p:nvSpPr>
        <p:spPr>
          <a:xfrm>
            <a:off x="6263640" y="3063240"/>
            <a:ext cx="5257800" cy="9601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3200400"/>
            <a:ext cx="320040" cy="274320"/>
          </a:xfrm>
          <a:prstGeom prst="rect">
            <a:avLst/>
          </a:prstGeom>
          <a:noFill/>
        </p:spPr>
        <p:txBody>
          <a:bodyPr wrap="square" anchor="t">
            <a:spAutoFit/>
          </a:bodyPr>
          <a:lstStyle/>
          <a:p>
            <a:pPr algn="l"/>
            <a:r>
              <a:rPr sz="1100" b="1">
                <a:solidFill>
                  <a:srgbClr val="64D2BE"/>
                </a:solidFill>
                <a:latin typeface="Aptos"/>
              </a:rPr>
              <a:t>4</a:t>
            </a:r>
          </a:p>
        </p:txBody>
      </p:sp>
      <p:sp>
        <p:nvSpPr>
          <p:cNvPr id="19" name="TextBox 18"/>
          <p:cNvSpPr txBox="1"/>
          <p:nvPr/>
        </p:nvSpPr>
        <p:spPr>
          <a:xfrm>
            <a:off x="6858000" y="3172968"/>
            <a:ext cx="4434840" cy="274320"/>
          </a:xfrm>
          <a:prstGeom prst="rect">
            <a:avLst/>
          </a:prstGeom>
          <a:noFill/>
        </p:spPr>
        <p:txBody>
          <a:bodyPr wrap="square" anchor="t">
            <a:spAutoFit/>
          </a:bodyPr>
          <a:lstStyle/>
          <a:p>
            <a:pPr algn="l"/>
            <a:r>
              <a:rPr sz="1200" b="1">
                <a:solidFill>
                  <a:srgbClr val="F8FAFC"/>
                </a:solidFill>
                <a:latin typeface="Aptos"/>
              </a:rPr>
              <a:t>A token is…</a:t>
            </a:r>
          </a:p>
        </p:txBody>
      </p:sp>
      <p:sp>
        <p:nvSpPr>
          <p:cNvPr id="20" name="TextBox 19"/>
          <p:cNvSpPr txBox="1"/>
          <p:nvPr/>
        </p:nvSpPr>
        <p:spPr>
          <a:xfrm>
            <a:off x="6858000" y="3502152"/>
            <a:ext cx="4434840" cy="365760"/>
          </a:xfrm>
          <a:prstGeom prst="rect">
            <a:avLst/>
          </a:prstGeom>
          <a:noFill/>
        </p:spPr>
        <p:txBody>
          <a:bodyPr wrap="square" anchor="t">
            <a:spAutoFit/>
          </a:bodyPr>
          <a:lstStyle/>
          <a:p>
            <a:pPr algn="l"/>
            <a:r>
              <a:rPr sz="1050" b="0">
                <a:solidFill>
                  <a:srgbClr val="A4B5C9"/>
                </a:solidFill>
                <a:latin typeface="Aptos"/>
              </a:rPr>
              <a:t>A unit used by a language model to process text</a:t>
            </a:r>
          </a:p>
        </p:txBody>
      </p:sp>
      <p:sp>
        <p:nvSpPr>
          <p:cNvPr id="21" name="Rounded Rectangle 20"/>
          <p:cNvSpPr/>
          <p:nvPr/>
        </p:nvSpPr>
        <p:spPr>
          <a:xfrm>
            <a:off x="594360" y="4297680"/>
            <a:ext cx="5257800" cy="9601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4434840"/>
            <a:ext cx="320040" cy="274320"/>
          </a:xfrm>
          <a:prstGeom prst="rect">
            <a:avLst/>
          </a:prstGeom>
          <a:noFill/>
        </p:spPr>
        <p:txBody>
          <a:bodyPr wrap="square" anchor="t">
            <a:spAutoFit/>
          </a:bodyPr>
          <a:lstStyle/>
          <a:p>
            <a:pPr algn="l"/>
            <a:r>
              <a:rPr sz="1100" b="1">
                <a:solidFill>
                  <a:srgbClr val="64D2BE"/>
                </a:solidFill>
                <a:latin typeface="Aptos"/>
              </a:rPr>
              <a:t>5</a:t>
            </a:r>
          </a:p>
        </p:txBody>
      </p:sp>
      <p:sp>
        <p:nvSpPr>
          <p:cNvPr id="23" name="TextBox 22"/>
          <p:cNvSpPr txBox="1"/>
          <p:nvPr/>
        </p:nvSpPr>
        <p:spPr>
          <a:xfrm>
            <a:off x="1188720" y="4407408"/>
            <a:ext cx="4434840" cy="274320"/>
          </a:xfrm>
          <a:prstGeom prst="rect">
            <a:avLst/>
          </a:prstGeom>
          <a:noFill/>
        </p:spPr>
        <p:txBody>
          <a:bodyPr wrap="square" anchor="t">
            <a:spAutoFit/>
          </a:bodyPr>
          <a:lstStyle/>
          <a:p>
            <a:pPr algn="l"/>
            <a:r>
              <a:rPr sz="1200" b="1">
                <a:solidFill>
                  <a:srgbClr val="F8FAFC"/>
                </a:solidFill>
                <a:latin typeface="Aptos"/>
              </a:rPr>
              <a:t>Few-shot prompting…</a:t>
            </a:r>
          </a:p>
        </p:txBody>
      </p:sp>
      <p:sp>
        <p:nvSpPr>
          <p:cNvPr id="24" name="TextBox 23"/>
          <p:cNvSpPr txBox="1"/>
          <p:nvPr/>
        </p:nvSpPr>
        <p:spPr>
          <a:xfrm>
            <a:off x="1188720" y="4736592"/>
            <a:ext cx="4434840" cy="365760"/>
          </a:xfrm>
          <a:prstGeom prst="rect">
            <a:avLst/>
          </a:prstGeom>
          <a:noFill/>
        </p:spPr>
        <p:txBody>
          <a:bodyPr wrap="square" anchor="t">
            <a:spAutoFit/>
          </a:bodyPr>
          <a:lstStyle/>
          <a:p>
            <a:pPr algn="l"/>
            <a:r>
              <a:rPr sz="1050" b="0">
                <a:solidFill>
                  <a:srgbClr val="A4B5C9"/>
                </a:solidFill>
                <a:latin typeface="Aptos"/>
              </a:rPr>
              <a:t>Uses examples inside the prompt</a:t>
            </a:r>
          </a:p>
        </p:txBody>
      </p:sp>
      <p:sp>
        <p:nvSpPr>
          <p:cNvPr id="25" name="Rounded Rectangle 24"/>
          <p:cNvSpPr/>
          <p:nvPr/>
        </p:nvSpPr>
        <p:spPr>
          <a:xfrm>
            <a:off x="6263640" y="4297680"/>
            <a:ext cx="5257800" cy="960120"/>
          </a:xfrm>
          <a:prstGeom prst="roundRect">
            <a:avLst/>
          </a:prstGeom>
          <a:solidFill>
            <a:srgbClr val="0B1526"/>
          </a:solidFill>
          <a:ln>
            <a:solidFill>
              <a:srgbClr val="2A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2" y="4434840"/>
            <a:ext cx="320040" cy="274320"/>
          </a:xfrm>
          <a:prstGeom prst="rect">
            <a:avLst/>
          </a:prstGeom>
          <a:noFill/>
        </p:spPr>
        <p:txBody>
          <a:bodyPr wrap="square" anchor="t">
            <a:spAutoFit/>
          </a:bodyPr>
          <a:lstStyle/>
          <a:p>
            <a:pPr algn="l"/>
            <a:r>
              <a:rPr sz="1100" b="1">
                <a:solidFill>
                  <a:srgbClr val="64D2BE"/>
                </a:solidFill>
                <a:latin typeface="Aptos"/>
              </a:rPr>
              <a:t>6</a:t>
            </a:r>
          </a:p>
        </p:txBody>
      </p:sp>
      <p:sp>
        <p:nvSpPr>
          <p:cNvPr id="27" name="TextBox 26"/>
          <p:cNvSpPr txBox="1"/>
          <p:nvPr/>
        </p:nvSpPr>
        <p:spPr>
          <a:xfrm>
            <a:off x="6858000" y="4407408"/>
            <a:ext cx="4434840" cy="274320"/>
          </a:xfrm>
          <a:prstGeom prst="rect">
            <a:avLst/>
          </a:prstGeom>
          <a:noFill/>
        </p:spPr>
        <p:txBody>
          <a:bodyPr wrap="square" anchor="t">
            <a:spAutoFit/>
          </a:bodyPr>
          <a:lstStyle/>
          <a:p>
            <a:pPr algn="l"/>
            <a:r>
              <a:rPr sz="1200" b="1">
                <a:solidFill>
                  <a:srgbClr val="F8FAFC"/>
                </a:solidFill>
                <a:latin typeface="Aptos"/>
              </a:rPr>
              <a:t>Embeddings are useful for…</a:t>
            </a:r>
          </a:p>
        </p:txBody>
      </p:sp>
      <p:sp>
        <p:nvSpPr>
          <p:cNvPr id="28" name="TextBox 27"/>
          <p:cNvSpPr txBox="1"/>
          <p:nvPr/>
        </p:nvSpPr>
        <p:spPr>
          <a:xfrm>
            <a:off x="6858000" y="4736592"/>
            <a:ext cx="4434840" cy="365760"/>
          </a:xfrm>
          <a:prstGeom prst="rect">
            <a:avLst/>
          </a:prstGeom>
          <a:noFill/>
        </p:spPr>
        <p:txBody>
          <a:bodyPr wrap="square" anchor="t">
            <a:spAutoFit/>
          </a:bodyPr>
          <a:lstStyle/>
          <a:p>
            <a:pPr algn="l"/>
            <a:r>
              <a:rPr sz="1050" b="0">
                <a:solidFill>
                  <a:srgbClr val="A4B5C9"/>
                </a:solidFill>
                <a:latin typeface="Aptos"/>
              </a:rPr>
              <a:t>Representing meaning for similarity/retrieval</a:t>
            </a:r>
          </a:p>
        </p:txBody>
      </p:sp>
      <p:sp>
        <p:nvSpPr>
          <p:cNvPr id="29" name="TextBox 28"/>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203A"/>
        </a:solidFill>
        <a:effectLst/>
      </p:bgPr>
    </p:bg>
    <p:spTree>
      <p:nvGrpSpPr>
        <p:cNvPr id="1" name=""/>
        <p:cNvGrpSpPr/>
        <p:nvPr/>
      </p:nvGrpSpPr>
      <p:grpSpPr/>
      <p:sp>
        <p:nvSpPr>
          <p:cNvPr id="2" name="TextBox 1"/>
          <p:cNvSpPr txBox="1"/>
          <p:nvPr/>
        </p:nvSpPr>
        <p:spPr>
          <a:xfrm>
            <a:off x="640080" y="411480"/>
            <a:ext cx="10515600" cy="320040"/>
          </a:xfrm>
          <a:prstGeom prst="rect">
            <a:avLst/>
          </a:prstGeom>
          <a:noFill/>
        </p:spPr>
        <p:txBody>
          <a:bodyPr wrap="square" anchor="t">
            <a:spAutoFit/>
          </a:bodyPr>
          <a:lstStyle/>
          <a:p>
            <a:pPr algn="l"/>
            <a:r>
              <a:rPr sz="1100" b="1">
                <a:solidFill>
                  <a:srgbClr val="64D2BE"/>
                </a:solidFill>
                <a:latin typeface="Aptos"/>
              </a:rPr>
              <a:t>WRAP-UP</a:t>
            </a:r>
          </a:p>
        </p:txBody>
      </p:sp>
      <p:sp>
        <p:nvSpPr>
          <p:cNvPr id="3" name="TextBox 2"/>
          <p:cNvSpPr txBox="1"/>
          <p:nvPr/>
        </p:nvSpPr>
        <p:spPr>
          <a:xfrm>
            <a:off x="640080" y="804672"/>
            <a:ext cx="10789920" cy="685800"/>
          </a:xfrm>
          <a:prstGeom prst="rect">
            <a:avLst/>
          </a:prstGeom>
          <a:noFill/>
        </p:spPr>
        <p:txBody>
          <a:bodyPr wrap="square" anchor="t">
            <a:spAutoFit/>
          </a:bodyPr>
          <a:lstStyle/>
          <a:p>
            <a:pPr algn="l"/>
            <a:r>
              <a:rPr sz="2900" b="1">
                <a:solidFill>
                  <a:srgbClr val="F8FAFC"/>
                </a:solidFill>
                <a:latin typeface="Aptos"/>
              </a:rPr>
              <a:t>From concepts to practice</a:t>
            </a:r>
          </a:p>
        </p:txBody>
      </p:sp>
      <p:sp>
        <p:nvSpPr>
          <p:cNvPr id="4" name="TextBox 3"/>
          <p:cNvSpPr txBox="1"/>
          <p:nvPr/>
        </p:nvSpPr>
        <p:spPr>
          <a:xfrm>
            <a:off x="640080" y="1481328"/>
            <a:ext cx="10698480" cy="502920"/>
          </a:xfrm>
          <a:prstGeom prst="rect">
            <a:avLst/>
          </a:prstGeom>
          <a:noFill/>
        </p:spPr>
        <p:txBody>
          <a:bodyPr wrap="square" anchor="t">
            <a:spAutoFit/>
          </a:bodyPr>
          <a:lstStyle/>
          <a:p>
            <a:pPr algn="l"/>
            <a:r>
              <a:rPr sz="1400" b="0">
                <a:solidFill>
                  <a:srgbClr val="A4B5C9"/>
                </a:solidFill>
                <a:latin typeface="Aptos"/>
              </a:rPr>
              <a:t>The key mental models to carry forward.</a:t>
            </a:r>
          </a:p>
        </p:txBody>
      </p:sp>
      <p:pic>
        <p:nvPicPr>
          <p:cNvPr id="5" name="Picture 4" descr="brain.png"/>
          <p:cNvPicPr>
            <a:picLocks noChangeAspect="1"/>
          </p:cNvPicPr>
          <p:nvPr/>
        </p:nvPicPr>
        <p:blipFill>
          <a:blip r:embed="rId2"/>
          <a:stretch>
            <a:fillRect/>
          </a:stretch>
        </p:blipFill>
        <p:spPr>
          <a:xfrm>
            <a:off x="8869680" y="1828800"/>
            <a:ext cx="2377440" cy="1371600"/>
          </a:xfrm>
          <a:prstGeom prst="rect">
            <a:avLst/>
          </a:prstGeom>
        </p:spPr>
      </p:pic>
      <p:sp>
        <p:nvSpPr>
          <p:cNvPr id="6" name="TextBox 5"/>
          <p:cNvSpPr txBox="1"/>
          <p:nvPr/>
        </p:nvSpPr>
        <p:spPr>
          <a:xfrm>
            <a:off x="914400" y="2057400"/>
            <a:ext cx="914400" cy="411480"/>
          </a:xfrm>
          <a:prstGeom prst="rect">
            <a:avLst/>
          </a:prstGeom>
          <a:noFill/>
        </p:spPr>
        <p:txBody>
          <a:bodyPr wrap="square" anchor="t">
            <a:spAutoFit/>
          </a:bodyPr>
          <a:lstStyle/>
          <a:p>
            <a:pPr algn="l"/>
            <a:r>
              <a:rPr sz="2500" b="1">
                <a:solidFill>
                  <a:srgbClr val="64D2BE"/>
                </a:solidFill>
                <a:latin typeface="Aptos"/>
              </a:rPr>
              <a:t>AI</a:t>
            </a:r>
          </a:p>
        </p:txBody>
      </p:sp>
      <p:sp>
        <p:nvSpPr>
          <p:cNvPr id="7" name="TextBox 6"/>
          <p:cNvSpPr txBox="1"/>
          <p:nvPr/>
        </p:nvSpPr>
        <p:spPr>
          <a:xfrm>
            <a:off x="1828800" y="2057400"/>
            <a:ext cx="457200" cy="411480"/>
          </a:xfrm>
          <a:prstGeom prst="rect">
            <a:avLst/>
          </a:prstGeom>
          <a:noFill/>
        </p:spPr>
        <p:txBody>
          <a:bodyPr wrap="square" anchor="t">
            <a:spAutoFit/>
          </a:bodyPr>
          <a:lstStyle/>
          <a:p>
            <a:pPr algn="ctr"/>
            <a:r>
              <a:rPr sz="2500" b="1">
                <a:solidFill>
                  <a:srgbClr val="F8FAFC"/>
                </a:solidFill>
                <a:latin typeface="Aptos"/>
              </a:rPr>
              <a:t>→</a:t>
            </a:r>
          </a:p>
        </p:txBody>
      </p:sp>
      <p:sp>
        <p:nvSpPr>
          <p:cNvPr id="8" name="TextBox 7"/>
          <p:cNvSpPr txBox="1"/>
          <p:nvPr/>
        </p:nvSpPr>
        <p:spPr>
          <a:xfrm>
            <a:off x="2331720" y="2057400"/>
            <a:ext cx="914400" cy="411480"/>
          </a:xfrm>
          <a:prstGeom prst="rect">
            <a:avLst/>
          </a:prstGeom>
          <a:noFill/>
        </p:spPr>
        <p:txBody>
          <a:bodyPr wrap="square" anchor="t">
            <a:spAutoFit/>
          </a:bodyPr>
          <a:lstStyle/>
          <a:p>
            <a:pPr algn="l"/>
            <a:r>
              <a:rPr sz="2500" b="1">
                <a:solidFill>
                  <a:srgbClr val="488CDC"/>
                </a:solidFill>
                <a:latin typeface="Aptos"/>
              </a:rPr>
              <a:t>ML</a:t>
            </a:r>
          </a:p>
        </p:txBody>
      </p:sp>
      <p:sp>
        <p:nvSpPr>
          <p:cNvPr id="9" name="TextBox 8"/>
          <p:cNvSpPr txBox="1"/>
          <p:nvPr/>
        </p:nvSpPr>
        <p:spPr>
          <a:xfrm>
            <a:off x="3246120" y="2057400"/>
            <a:ext cx="457200" cy="411480"/>
          </a:xfrm>
          <a:prstGeom prst="rect">
            <a:avLst/>
          </a:prstGeom>
          <a:noFill/>
        </p:spPr>
        <p:txBody>
          <a:bodyPr wrap="square" anchor="t">
            <a:spAutoFit/>
          </a:bodyPr>
          <a:lstStyle/>
          <a:p>
            <a:pPr algn="ctr"/>
            <a:r>
              <a:rPr sz="2500" b="1">
                <a:solidFill>
                  <a:srgbClr val="F8FAFC"/>
                </a:solidFill>
                <a:latin typeface="Aptos"/>
              </a:rPr>
              <a:t>→</a:t>
            </a:r>
          </a:p>
        </p:txBody>
      </p:sp>
      <p:sp>
        <p:nvSpPr>
          <p:cNvPr id="10" name="TextBox 9"/>
          <p:cNvSpPr txBox="1"/>
          <p:nvPr/>
        </p:nvSpPr>
        <p:spPr>
          <a:xfrm>
            <a:off x="3749039" y="2057400"/>
            <a:ext cx="914400" cy="411480"/>
          </a:xfrm>
          <a:prstGeom prst="rect">
            <a:avLst/>
          </a:prstGeom>
          <a:noFill/>
        </p:spPr>
        <p:txBody>
          <a:bodyPr wrap="square" anchor="t">
            <a:spAutoFit/>
          </a:bodyPr>
          <a:lstStyle/>
          <a:p>
            <a:pPr algn="l"/>
            <a:r>
              <a:rPr sz="2500" b="1">
                <a:solidFill>
                  <a:srgbClr val="84D282"/>
                </a:solidFill>
                <a:latin typeface="Aptos"/>
              </a:rPr>
              <a:t>DL</a:t>
            </a:r>
          </a:p>
        </p:txBody>
      </p:sp>
      <p:sp>
        <p:nvSpPr>
          <p:cNvPr id="11" name="TextBox 10"/>
          <p:cNvSpPr txBox="1"/>
          <p:nvPr/>
        </p:nvSpPr>
        <p:spPr>
          <a:xfrm>
            <a:off x="914400" y="2834640"/>
            <a:ext cx="7406640" cy="2468880"/>
          </a:xfrm>
          <a:prstGeom prst="rect">
            <a:avLst/>
          </a:prstGeom>
          <a:noFill/>
        </p:spPr>
        <p:txBody>
          <a:bodyPr wrap="square">
            <a:spAutoFit/>
          </a:bodyPr>
          <a:lstStyle/>
          <a:p>
            <a:pPr>
              <a:spcAft>
                <a:spcPts val="800"/>
              </a:spcAft>
              <a:defRPr sz="1500" b="0">
                <a:solidFill>
                  <a:srgbClr val="E1EAF4"/>
                </a:solidFill>
                <a:latin typeface="Aptos"/>
              </a:defRPr>
            </a:pPr>
            <a:r>
              <a:t>• AI is the broad umbrella; ML and DL are nested subsets.</a:t>
            </a:r>
          </a:p>
          <a:p>
            <a:pPr>
              <a:spcAft>
                <a:spcPts val="800"/>
              </a:spcAft>
              <a:defRPr sz="1500" b="0">
                <a:solidFill>
                  <a:srgbClr val="E1EAF4"/>
                </a:solidFill>
                <a:latin typeface="Aptos"/>
              </a:defRPr>
            </a:pPr>
            <a:r>
              <a:t>• LLMs process tokenized context and generate language.</a:t>
            </a:r>
          </a:p>
          <a:p>
            <a:pPr>
              <a:spcAft>
                <a:spcPts val="800"/>
              </a:spcAft>
              <a:defRPr sz="1500" b="0">
                <a:solidFill>
                  <a:srgbClr val="E1EAF4"/>
                </a:solidFill>
                <a:latin typeface="Aptos"/>
              </a:defRPr>
            </a:pPr>
            <a:r>
              <a:t>• Embeddings help represent meaning for similarity and retrieval.</a:t>
            </a:r>
          </a:p>
          <a:p>
            <a:pPr>
              <a:spcAft>
                <a:spcPts val="800"/>
              </a:spcAft>
              <a:defRPr sz="1500" b="0">
                <a:solidFill>
                  <a:srgbClr val="E1EAF4"/>
                </a:solidFill>
                <a:latin typeface="Aptos"/>
              </a:defRPr>
            </a:pPr>
            <a:r>
              <a:t>• Prompt engineering makes tasks, context and output requirements explicit.</a:t>
            </a:r>
          </a:p>
          <a:p>
            <a:pPr>
              <a:spcAft>
                <a:spcPts val="800"/>
              </a:spcAft>
              <a:defRPr sz="1500" b="0">
                <a:solidFill>
                  <a:srgbClr val="E1EAF4"/>
                </a:solidFill>
                <a:latin typeface="Aptos"/>
              </a:defRPr>
            </a:pPr>
            <a:r>
              <a:t>• Good AI use includes testing, verification, human judgment and responsible boundaries.</a:t>
            </a:r>
          </a:p>
        </p:txBody>
      </p:sp>
      <p:sp>
        <p:nvSpPr>
          <p:cNvPr id="12" name="TextBox 11"/>
          <p:cNvSpPr txBox="1"/>
          <p:nvPr/>
        </p:nvSpPr>
        <p:spPr>
          <a:xfrm>
            <a:off x="8138160" y="4892040"/>
            <a:ext cx="2926080" cy="502920"/>
          </a:xfrm>
          <a:prstGeom prst="rect">
            <a:avLst/>
          </a:prstGeom>
          <a:noFill/>
        </p:spPr>
        <p:txBody>
          <a:bodyPr wrap="square" anchor="t">
            <a:spAutoFit/>
          </a:bodyPr>
          <a:lstStyle/>
          <a:p>
            <a:pPr algn="ctr"/>
            <a:r>
              <a:rPr sz="1600" b="1">
                <a:solidFill>
                  <a:srgbClr val="F4A94A"/>
                </a:solidFill>
                <a:latin typeface="Aptos"/>
              </a:rPr>
              <a:t>NEXT → Build with data, Python and ML</a:t>
            </a:r>
          </a:p>
        </p:txBody>
      </p:sp>
      <p:sp>
        <p:nvSpPr>
          <p:cNvPr id="13" name="TextBox 12"/>
          <p:cNvSpPr txBox="1"/>
          <p:nvPr/>
        </p:nvSpPr>
        <p:spPr>
          <a:xfrm>
            <a:off x="11201400" y="6419088"/>
            <a:ext cx="411480" cy="228600"/>
          </a:xfrm>
          <a:prstGeom prst="rect">
            <a:avLst/>
          </a:prstGeom>
          <a:noFill/>
        </p:spPr>
        <p:txBody>
          <a:bodyPr wrap="square" anchor="t">
            <a:spAutoFit/>
          </a:bodyPr>
          <a:lstStyle/>
          <a:p>
            <a:pPr algn="r"/>
            <a:r>
              <a:rPr sz="1000" b="1">
                <a:solidFill>
                  <a:srgbClr val="A4B5C9"/>
                </a:solidFill>
                <a:latin typeface="Aptos"/>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